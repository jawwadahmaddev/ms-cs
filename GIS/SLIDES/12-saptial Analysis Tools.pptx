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69" r:id="rId16"/>
    <p:sldId id="270"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74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4847F-53E8-42D6-91D5-02A343B540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5D05D2-8B11-478F-B6E4-ED8CE39E4E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D47C63-160B-45CF-A4EF-63D1860149A4}"/>
              </a:ext>
            </a:extLst>
          </p:cNvPr>
          <p:cNvSpPr>
            <a:spLocks noGrp="1"/>
          </p:cNvSpPr>
          <p:nvPr>
            <p:ph type="dt" sz="half" idx="10"/>
          </p:nvPr>
        </p:nvSpPr>
        <p:spPr/>
        <p:txBody>
          <a:bodyPr/>
          <a:lstStyle/>
          <a:p>
            <a:fld id="{208D6C01-8CF7-4E3E-9D3B-FF71085D7F5D}" type="datetimeFigureOut">
              <a:rPr lang="en-US" smtClean="0"/>
              <a:t>12/5/2022</a:t>
            </a:fld>
            <a:endParaRPr lang="en-US"/>
          </a:p>
        </p:txBody>
      </p:sp>
      <p:sp>
        <p:nvSpPr>
          <p:cNvPr id="5" name="Footer Placeholder 4">
            <a:extLst>
              <a:ext uri="{FF2B5EF4-FFF2-40B4-BE49-F238E27FC236}">
                <a16:creationId xmlns:a16="http://schemas.microsoft.com/office/drawing/2014/main" id="{F498981B-4E2D-4810-953C-11E35E6E60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8C8EF3-B58B-49AF-84B3-53A796857E08}"/>
              </a:ext>
            </a:extLst>
          </p:cNvPr>
          <p:cNvSpPr>
            <a:spLocks noGrp="1"/>
          </p:cNvSpPr>
          <p:nvPr>
            <p:ph type="sldNum" sz="quarter" idx="12"/>
          </p:nvPr>
        </p:nvSpPr>
        <p:spPr/>
        <p:txBody>
          <a:bodyPr/>
          <a:lstStyle/>
          <a:p>
            <a:fld id="{8AB17DF9-3509-41B2-9CC1-38B4277CF9D5}" type="slidenum">
              <a:rPr lang="en-US" smtClean="0"/>
              <a:t>‹#›</a:t>
            </a:fld>
            <a:endParaRPr lang="en-US"/>
          </a:p>
        </p:txBody>
      </p:sp>
    </p:spTree>
    <p:extLst>
      <p:ext uri="{BB962C8B-B14F-4D97-AF65-F5344CB8AC3E}">
        <p14:creationId xmlns:p14="http://schemas.microsoft.com/office/powerpoint/2010/main" val="4249825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FCAA9-214E-4A4B-A02B-52D6CFD35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528DBD-A372-432A-A2F2-BABD376059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8C0C99-B68B-44FB-BC47-21B6AB7D815D}"/>
              </a:ext>
            </a:extLst>
          </p:cNvPr>
          <p:cNvSpPr>
            <a:spLocks noGrp="1"/>
          </p:cNvSpPr>
          <p:nvPr>
            <p:ph type="dt" sz="half" idx="10"/>
          </p:nvPr>
        </p:nvSpPr>
        <p:spPr/>
        <p:txBody>
          <a:bodyPr/>
          <a:lstStyle/>
          <a:p>
            <a:fld id="{208D6C01-8CF7-4E3E-9D3B-FF71085D7F5D}" type="datetimeFigureOut">
              <a:rPr lang="en-US" smtClean="0"/>
              <a:t>12/5/2022</a:t>
            </a:fld>
            <a:endParaRPr lang="en-US"/>
          </a:p>
        </p:txBody>
      </p:sp>
      <p:sp>
        <p:nvSpPr>
          <p:cNvPr id="5" name="Footer Placeholder 4">
            <a:extLst>
              <a:ext uri="{FF2B5EF4-FFF2-40B4-BE49-F238E27FC236}">
                <a16:creationId xmlns:a16="http://schemas.microsoft.com/office/drawing/2014/main" id="{1FB074DC-5811-431F-8DFF-3928D5E596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6007A7-3A18-46C4-BEB1-DE2F8EBD6BF5}"/>
              </a:ext>
            </a:extLst>
          </p:cNvPr>
          <p:cNvSpPr>
            <a:spLocks noGrp="1"/>
          </p:cNvSpPr>
          <p:nvPr>
            <p:ph type="sldNum" sz="quarter" idx="12"/>
          </p:nvPr>
        </p:nvSpPr>
        <p:spPr/>
        <p:txBody>
          <a:bodyPr/>
          <a:lstStyle/>
          <a:p>
            <a:fld id="{8AB17DF9-3509-41B2-9CC1-38B4277CF9D5}" type="slidenum">
              <a:rPr lang="en-US" smtClean="0"/>
              <a:t>‹#›</a:t>
            </a:fld>
            <a:endParaRPr lang="en-US"/>
          </a:p>
        </p:txBody>
      </p:sp>
    </p:spTree>
    <p:extLst>
      <p:ext uri="{BB962C8B-B14F-4D97-AF65-F5344CB8AC3E}">
        <p14:creationId xmlns:p14="http://schemas.microsoft.com/office/powerpoint/2010/main" val="2008455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54F6E-F9CC-4F6D-9413-9E4F2C447E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B7344E-3F4A-4B9D-A950-665BA60AE8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4C8D19-2C09-4A5D-A067-77D763194F5A}"/>
              </a:ext>
            </a:extLst>
          </p:cNvPr>
          <p:cNvSpPr>
            <a:spLocks noGrp="1"/>
          </p:cNvSpPr>
          <p:nvPr>
            <p:ph type="dt" sz="half" idx="10"/>
          </p:nvPr>
        </p:nvSpPr>
        <p:spPr/>
        <p:txBody>
          <a:bodyPr/>
          <a:lstStyle/>
          <a:p>
            <a:fld id="{208D6C01-8CF7-4E3E-9D3B-FF71085D7F5D}" type="datetimeFigureOut">
              <a:rPr lang="en-US" smtClean="0"/>
              <a:t>12/5/2022</a:t>
            </a:fld>
            <a:endParaRPr lang="en-US"/>
          </a:p>
        </p:txBody>
      </p:sp>
      <p:sp>
        <p:nvSpPr>
          <p:cNvPr id="5" name="Footer Placeholder 4">
            <a:extLst>
              <a:ext uri="{FF2B5EF4-FFF2-40B4-BE49-F238E27FC236}">
                <a16:creationId xmlns:a16="http://schemas.microsoft.com/office/drawing/2014/main" id="{EEB95D63-DBF3-4AEF-842B-61368BF07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776B59-62BD-42CB-8D01-F5535FFF455A}"/>
              </a:ext>
            </a:extLst>
          </p:cNvPr>
          <p:cNvSpPr>
            <a:spLocks noGrp="1"/>
          </p:cNvSpPr>
          <p:nvPr>
            <p:ph type="sldNum" sz="quarter" idx="12"/>
          </p:nvPr>
        </p:nvSpPr>
        <p:spPr/>
        <p:txBody>
          <a:bodyPr/>
          <a:lstStyle/>
          <a:p>
            <a:fld id="{8AB17DF9-3509-41B2-9CC1-38B4277CF9D5}" type="slidenum">
              <a:rPr lang="en-US" smtClean="0"/>
              <a:t>‹#›</a:t>
            </a:fld>
            <a:endParaRPr lang="en-US"/>
          </a:p>
        </p:txBody>
      </p:sp>
    </p:spTree>
    <p:extLst>
      <p:ext uri="{BB962C8B-B14F-4D97-AF65-F5344CB8AC3E}">
        <p14:creationId xmlns:p14="http://schemas.microsoft.com/office/powerpoint/2010/main" val="667499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31529-83FE-4F02-A8B4-5F9A68E91E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99502A-8728-4471-A191-4A72BF8B09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D0FE5F-BEA2-43DF-9DDB-353E8321C3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A62BBA-C121-45A4-BF65-21147903157B}"/>
              </a:ext>
            </a:extLst>
          </p:cNvPr>
          <p:cNvSpPr>
            <a:spLocks noGrp="1"/>
          </p:cNvSpPr>
          <p:nvPr>
            <p:ph type="dt" sz="half" idx="10"/>
          </p:nvPr>
        </p:nvSpPr>
        <p:spPr/>
        <p:txBody>
          <a:bodyPr/>
          <a:lstStyle/>
          <a:p>
            <a:fld id="{208D6C01-8CF7-4E3E-9D3B-FF71085D7F5D}" type="datetimeFigureOut">
              <a:rPr lang="en-US" smtClean="0"/>
              <a:t>12/5/2022</a:t>
            </a:fld>
            <a:endParaRPr lang="en-US"/>
          </a:p>
        </p:txBody>
      </p:sp>
      <p:sp>
        <p:nvSpPr>
          <p:cNvPr id="6" name="Footer Placeholder 5">
            <a:extLst>
              <a:ext uri="{FF2B5EF4-FFF2-40B4-BE49-F238E27FC236}">
                <a16:creationId xmlns:a16="http://schemas.microsoft.com/office/drawing/2014/main" id="{E66549CA-211C-4398-B290-D638EB1F78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1ACB87-FD4F-4FE8-94CB-59AB107AC400}"/>
              </a:ext>
            </a:extLst>
          </p:cNvPr>
          <p:cNvSpPr>
            <a:spLocks noGrp="1"/>
          </p:cNvSpPr>
          <p:nvPr>
            <p:ph type="sldNum" sz="quarter" idx="12"/>
          </p:nvPr>
        </p:nvSpPr>
        <p:spPr/>
        <p:txBody>
          <a:bodyPr/>
          <a:lstStyle/>
          <a:p>
            <a:fld id="{8AB17DF9-3509-41B2-9CC1-38B4277CF9D5}" type="slidenum">
              <a:rPr lang="en-US" smtClean="0"/>
              <a:t>‹#›</a:t>
            </a:fld>
            <a:endParaRPr lang="en-US"/>
          </a:p>
        </p:txBody>
      </p:sp>
    </p:spTree>
    <p:extLst>
      <p:ext uri="{BB962C8B-B14F-4D97-AF65-F5344CB8AC3E}">
        <p14:creationId xmlns:p14="http://schemas.microsoft.com/office/powerpoint/2010/main" val="1139673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D9E26-3BEA-49FC-B6AC-DB52F1AD7F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47AF1B-6D9B-416B-B468-DB4B56785E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052B72-8715-4490-8D07-29D9AF96A4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D5DEA7-6AAD-4DC5-9739-96FBB8E089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4B988A-2CD7-4D77-8CD1-85F34D39BE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942775-B43A-4071-BC11-604AAA6F378D}"/>
              </a:ext>
            </a:extLst>
          </p:cNvPr>
          <p:cNvSpPr>
            <a:spLocks noGrp="1"/>
          </p:cNvSpPr>
          <p:nvPr>
            <p:ph type="dt" sz="half" idx="10"/>
          </p:nvPr>
        </p:nvSpPr>
        <p:spPr/>
        <p:txBody>
          <a:bodyPr/>
          <a:lstStyle/>
          <a:p>
            <a:fld id="{208D6C01-8CF7-4E3E-9D3B-FF71085D7F5D}" type="datetimeFigureOut">
              <a:rPr lang="en-US" smtClean="0"/>
              <a:t>12/5/2022</a:t>
            </a:fld>
            <a:endParaRPr lang="en-US"/>
          </a:p>
        </p:txBody>
      </p:sp>
      <p:sp>
        <p:nvSpPr>
          <p:cNvPr id="8" name="Footer Placeholder 7">
            <a:extLst>
              <a:ext uri="{FF2B5EF4-FFF2-40B4-BE49-F238E27FC236}">
                <a16:creationId xmlns:a16="http://schemas.microsoft.com/office/drawing/2014/main" id="{D9DB14CB-F416-4BCC-93D5-DC2FEA3674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7FC8E76-839D-49CD-B7E1-0FC42356586C}"/>
              </a:ext>
            </a:extLst>
          </p:cNvPr>
          <p:cNvSpPr>
            <a:spLocks noGrp="1"/>
          </p:cNvSpPr>
          <p:nvPr>
            <p:ph type="sldNum" sz="quarter" idx="12"/>
          </p:nvPr>
        </p:nvSpPr>
        <p:spPr/>
        <p:txBody>
          <a:bodyPr/>
          <a:lstStyle/>
          <a:p>
            <a:fld id="{8AB17DF9-3509-41B2-9CC1-38B4277CF9D5}" type="slidenum">
              <a:rPr lang="en-US" smtClean="0"/>
              <a:t>‹#›</a:t>
            </a:fld>
            <a:endParaRPr lang="en-US"/>
          </a:p>
        </p:txBody>
      </p:sp>
    </p:spTree>
    <p:extLst>
      <p:ext uri="{BB962C8B-B14F-4D97-AF65-F5344CB8AC3E}">
        <p14:creationId xmlns:p14="http://schemas.microsoft.com/office/powerpoint/2010/main" val="530561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11F25-53D2-4653-88F2-C2F3BE1CA5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4EAFB9-D8BF-4F30-8D2D-F773866AB6EF}"/>
              </a:ext>
            </a:extLst>
          </p:cNvPr>
          <p:cNvSpPr>
            <a:spLocks noGrp="1"/>
          </p:cNvSpPr>
          <p:nvPr>
            <p:ph type="dt" sz="half" idx="10"/>
          </p:nvPr>
        </p:nvSpPr>
        <p:spPr/>
        <p:txBody>
          <a:bodyPr/>
          <a:lstStyle/>
          <a:p>
            <a:fld id="{208D6C01-8CF7-4E3E-9D3B-FF71085D7F5D}" type="datetimeFigureOut">
              <a:rPr lang="en-US" smtClean="0"/>
              <a:t>12/5/2022</a:t>
            </a:fld>
            <a:endParaRPr lang="en-US"/>
          </a:p>
        </p:txBody>
      </p:sp>
      <p:sp>
        <p:nvSpPr>
          <p:cNvPr id="4" name="Footer Placeholder 3">
            <a:extLst>
              <a:ext uri="{FF2B5EF4-FFF2-40B4-BE49-F238E27FC236}">
                <a16:creationId xmlns:a16="http://schemas.microsoft.com/office/drawing/2014/main" id="{424EB808-5026-453F-84F2-BDB153765A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813BFB-8F1A-44C8-9147-6ED551D2FD1D}"/>
              </a:ext>
            </a:extLst>
          </p:cNvPr>
          <p:cNvSpPr>
            <a:spLocks noGrp="1"/>
          </p:cNvSpPr>
          <p:nvPr>
            <p:ph type="sldNum" sz="quarter" idx="12"/>
          </p:nvPr>
        </p:nvSpPr>
        <p:spPr/>
        <p:txBody>
          <a:bodyPr/>
          <a:lstStyle/>
          <a:p>
            <a:fld id="{8AB17DF9-3509-41B2-9CC1-38B4277CF9D5}" type="slidenum">
              <a:rPr lang="en-US" smtClean="0"/>
              <a:t>‹#›</a:t>
            </a:fld>
            <a:endParaRPr lang="en-US"/>
          </a:p>
        </p:txBody>
      </p:sp>
    </p:spTree>
    <p:extLst>
      <p:ext uri="{BB962C8B-B14F-4D97-AF65-F5344CB8AC3E}">
        <p14:creationId xmlns:p14="http://schemas.microsoft.com/office/powerpoint/2010/main" val="1692343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841756-A69F-4CD5-9C8E-4E36F8CD011B}"/>
              </a:ext>
            </a:extLst>
          </p:cNvPr>
          <p:cNvSpPr>
            <a:spLocks noGrp="1"/>
          </p:cNvSpPr>
          <p:nvPr>
            <p:ph type="dt" sz="half" idx="10"/>
          </p:nvPr>
        </p:nvSpPr>
        <p:spPr/>
        <p:txBody>
          <a:bodyPr/>
          <a:lstStyle/>
          <a:p>
            <a:fld id="{208D6C01-8CF7-4E3E-9D3B-FF71085D7F5D}" type="datetimeFigureOut">
              <a:rPr lang="en-US" smtClean="0"/>
              <a:t>12/5/2022</a:t>
            </a:fld>
            <a:endParaRPr lang="en-US"/>
          </a:p>
        </p:txBody>
      </p:sp>
      <p:sp>
        <p:nvSpPr>
          <p:cNvPr id="3" name="Footer Placeholder 2">
            <a:extLst>
              <a:ext uri="{FF2B5EF4-FFF2-40B4-BE49-F238E27FC236}">
                <a16:creationId xmlns:a16="http://schemas.microsoft.com/office/drawing/2014/main" id="{9C9EE542-E7BD-45FB-8932-C83AD3CA24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63535B-7B4B-43E9-A981-02F3019B2AD5}"/>
              </a:ext>
            </a:extLst>
          </p:cNvPr>
          <p:cNvSpPr>
            <a:spLocks noGrp="1"/>
          </p:cNvSpPr>
          <p:nvPr>
            <p:ph type="sldNum" sz="quarter" idx="12"/>
          </p:nvPr>
        </p:nvSpPr>
        <p:spPr/>
        <p:txBody>
          <a:bodyPr/>
          <a:lstStyle/>
          <a:p>
            <a:fld id="{8AB17DF9-3509-41B2-9CC1-38B4277CF9D5}" type="slidenum">
              <a:rPr lang="en-US" smtClean="0"/>
              <a:t>‹#›</a:t>
            </a:fld>
            <a:endParaRPr lang="en-US"/>
          </a:p>
        </p:txBody>
      </p:sp>
    </p:spTree>
    <p:extLst>
      <p:ext uri="{BB962C8B-B14F-4D97-AF65-F5344CB8AC3E}">
        <p14:creationId xmlns:p14="http://schemas.microsoft.com/office/powerpoint/2010/main" val="3001793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ECC0A-BF9C-4CE0-B022-8441844574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D474D54-79C5-4664-A9D3-5EDD6440EC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D05248-BBA0-484C-ADE7-748F784980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7311DC-A34D-4709-87BE-044FB6A989AD}"/>
              </a:ext>
            </a:extLst>
          </p:cNvPr>
          <p:cNvSpPr>
            <a:spLocks noGrp="1"/>
          </p:cNvSpPr>
          <p:nvPr>
            <p:ph type="dt" sz="half" idx="10"/>
          </p:nvPr>
        </p:nvSpPr>
        <p:spPr/>
        <p:txBody>
          <a:bodyPr/>
          <a:lstStyle/>
          <a:p>
            <a:fld id="{208D6C01-8CF7-4E3E-9D3B-FF71085D7F5D}" type="datetimeFigureOut">
              <a:rPr lang="en-US" smtClean="0"/>
              <a:t>12/5/2022</a:t>
            </a:fld>
            <a:endParaRPr lang="en-US"/>
          </a:p>
        </p:txBody>
      </p:sp>
      <p:sp>
        <p:nvSpPr>
          <p:cNvPr id="6" name="Footer Placeholder 5">
            <a:extLst>
              <a:ext uri="{FF2B5EF4-FFF2-40B4-BE49-F238E27FC236}">
                <a16:creationId xmlns:a16="http://schemas.microsoft.com/office/drawing/2014/main" id="{DFF94C2B-98FC-460D-AD4D-E4516F576E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9DDDDB-9D8D-42D6-AED1-C22928E9CFB3}"/>
              </a:ext>
            </a:extLst>
          </p:cNvPr>
          <p:cNvSpPr>
            <a:spLocks noGrp="1"/>
          </p:cNvSpPr>
          <p:nvPr>
            <p:ph type="sldNum" sz="quarter" idx="12"/>
          </p:nvPr>
        </p:nvSpPr>
        <p:spPr/>
        <p:txBody>
          <a:bodyPr/>
          <a:lstStyle/>
          <a:p>
            <a:fld id="{8AB17DF9-3509-41B2-9CC1-38B4277CF9D5}" type="slidenum">
              <a:rPr lang="en-US" smtClean="0"/>
              <a:t>‹#›</a:t>
            </a:fld>
            <a:endParaRPr lang="en-US"/>
          </a:p>
        </p:txBody>
      </p:sp>
    </p:spTree>
    <p:extLst>
      <p:ext uri="{BB962C8B-B14F-4D97-AF65-F5344CB8AC3E}">
        <p14:creationId xmlns:p14="http://schemas.microsoft.com/office/powerpoint/2010/main" val="616376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551F1-679C-4A99-BDB5-3F81BDBF62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F397B1-436E-4BFA-AABC-A3CE2BBFAF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8E7A14-74A4-469B-8400-E97A914255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975626-D7F8-406E-9B76-B444462DB0D3}"/>
              </a:ext>
            </a:extLst>
          </p:cNvPr>
          <p:cNvSpPr>
            <a:spLocks noGrp="1"/>
          </p:cNvSpPr>
          <p:nvPr>
            <p:ph type="dt" sz="half" idx="10"/>
          </p:nvPr>
        </p:nvSpPr>
        <p:spPr/>
        <p:txBody>
          <a:bodyPr/>
          <a:lstStyle/>
          <a:p>
            <a:fld id="{208D6C01-8CF7-4E3E-9D3B-FF71085D7F5D}" type="datetimeFigureOut">
              <a:rPr lang="en-US" smtClean="0"/>
              <a:t>12/5/2022</a:t>
            </a:fld>
            <a:endParaRPr lang="en-US"/>
          </a:p>
        </p:txBody>
      </p:sp>
      <p:sp>
        <p:nvSpPr>
          <p:cNvPr id="6" name="Footer Placeholder 5">
            <a:extLst>
              <a:ext uri="{FF2B5EF4-FFF2-40B4-BE49-F238E27FC236}">
                <a16:creationId xmlns:a16="http://schemas.microsoft.com/office/drawing/2014/main" id="{95C5584C-089E-4622-816A-6AF49B9635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3A50C9-3909-4DFB-AB6F-9CFBDD8B9060}"/>
              </a:ext>
            </a:extLst>
          </p:cNvPr>
          <p:cNvSpPr>
            <a:spLocks noGrp="1"/>
          </p:cNvSpPr>
          <p:nvPr>
            <p:ph type="sldNum" sz="quarter" idx="12"/>
          </p:nvPr>
        </p:nvSpPr>
        <p:spPr/>
        <p:txBody>
          <a:bodyPr/>
          <a:lstStyle/>
          <a:p>
            <a:fld id="{8AB17DF9-3509-41B2-9CC1-38B4277CF9D5}" type="slidenum">
              <a:rPr lang="en-US" smtClean="0"/>
              <a:t>‹#›</a:t>
            </a:fld>
            <a:endParaRPr lang="en-US"/>
          </a:p>
        </p:txBody>
      </p:sp>
    </p:spTree>
    <p:extLst>
      <p:ext uri="{BB962C8B-B14F-4D97-AF65-F5344CB8AC3E}">
        <p14:creationId xmlns:p14="http://schemas.microsoft.com/office/powerpoint/2010/main" val="3573394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CD15-184D-462F-AC7C-F0D1BE2914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8A89D4-48ED-40C2-B996-E603126130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337D35-3C0A-4403-A35D-43ED6C021FB4}"/>
              </a:ext>
            </a:extLst>
          </p:cNvPr>
          <p:cNvSpPr>
            <a:spLocks noGrp="1"/>
          </p:cNvSpPr>
          <p:nvPr>
            <p:ph type="dt" sz="half" idx="10"/>
          </p:nvPr>
        </p:nvSpPr>
        <p:spPr/>
        <p:txBody>
          <a:bodyPr/>
          <a:lstStyle/>
          <a:p>
            <a:fld id="{208D6C01-8CF7-4E3E-9D3B-FF71085D7F5D}" type="datetimeFigureOut">
              <a:rPr lang="en-US" smtClean="0"/>
              <a:t>12/5/2022</a:t>
            </a:fld>
            <a:endParaRPr lang="en-US"/>
          </a:p>
        </p:txBody>
      </p:sp>
      <p:sp>
        <p:nvSpPr>
          <p:cNvPr id="5" name="Footer Placeholder 4">
            <a:extLst>
              <a:ext uri="{FF2B5EF4-FFF2-40B4-BE49-F238E27FC236}">
                <a16:creationId xmlns:a16="http://schemas.microsoft.com/office/drawing/2014/main" id="{226C4651-3973-461E-B98A-6A61313738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F30FAD-BB88-46AA-9845-619D56F43F47}"/>
              </a:ext>
            </a:extLst>
          </p:cNvPr>
          <p:cNvSpPr>
            <a:spLocks noGrp="1"/>
          </p:cNvSpPr>
          <p:nvPr>
            <p:ph type="sldNum" sz="quarter" idx="12"/>
          </p:nvPr>
        </p:nvSpPr>
        <p:spPr/>
        <p:txBody>
          <a:bodyPr/>
          <a:lstStyle/>
          <a:p>
            <a:fld id="{8AB17DF9-3509-41B2-9CC1-38B4277CF9D5}" type="slidenum">
              <a:rPr lang="en-US" smtClean="0"/>
              <a:t>‹#›</a:t>
            </a:fld>
            <a:endParaRPr lang="en-US"/>
          </a:p>
        </p:txBody>
      </p:sp>
    </p:spTree>
    <p:extLst>
      <p:ext uri="{BB962C8B-B14F-4D97-AF65-F5344CB8AC3E}">
        <p14:creationId xmlns:p14="http://schemas.microsoft.com/office/powerpoint/2010/main" val="1614053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ADBDB1-A476-47A9-BEB4-CCA5DB0483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5B50D1-56AE-42E7-B326-034D336435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498DB3-7FB5-4825-8FC5-321FD58B95DF}"/>
              </a:ext>
            </a:extLst>
          </p:cNvPr>
          <p:cNvSpPr>
            <a:spLocks noGrp="1"/>
          </p:cNvSpPr>
          <p:nvPr>
            <p:ph type="dt" sz="half" idx="10"/>
          </p:nvPr>
        </p:nvSpPr>
        <p:spPr/>
        <p:txBody>
          <a:bodyPr/>
          <a:lstStyle/>
          <a:p>
            <a:fld id="{208D6C01-8CF7-4E3E-9D3B-FF71085D7F5D}" type="datetimeFigureOut">
              <a:rPr lang="en-US" smtClean="0"/>
              <a:t>12/5/2022</a:t>
            </a:fld>
            <a:endParaRPr lang="en-US"/>
          </a:p>
        </p:txBody>
      </p:sp>
      <p:sp>
        <p:nvSpPr>
          <p:cNvPr id="5" name="Footer Placeholder 4">
            <a:extLst>
              <a:ext uri="{FF2B5EF4-FFF2-40B4-BE49-F238E27FC236}">
                <a16:creationId xmlns:a16="http://schemas.microsoft.com/office/drawing/2014/main" id="{0ED675B1-B795-4BC9-840D-91982E54F2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D78A7F-C89D-4506-A7CD-2779B73CABF3}"/>
              </a:ext>
            </a:extLst>
          </p:cNvPr>
          <p:cNvSpPr>
            <a:spLocks noGrp="1"/>
          </p:cNvSpPr>
          <p:nvPr>
            <p:ph type="sldNum" sz="quarter" idx="12"/>
          </p:nvPr>
        </p:nvSpPr>
        <p:spPr/>
        <p:txBody>
          <a:bodyPr/>
          <a:lstStyle/>
          <a:p>
            <a:fld id="{8AB17DF9-3509-41B2-9CC1-38B4277CF9D5}" type="slidenum">
              <a:rPr lang="en-US" smtClean="0"/>
              <a:t>‹#›</a:t>
            </a:fld>
            <a:endParaRPr lang="en-US"/>
          </a:p>
        </p:txBody>
      </p:sp>
    </p:spTree>
    <p:extLst>
      <p:ext uri="{BB962C8B-B14F-4D97-AF65-F5344CB8AC3E}">
        <p14:creationId xmlns:p14="http://schemas.microsoft.com/office/powerpoint/2010/main" val="1575936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F23055-96A3-47EF-A94E-A7FFAE0D05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71C3AC-FCD0-4E9F-B75F-1517B3641A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158C4E-6D53-4624-86F0-1E12889C8A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8D6C01-8CF7-4E3E-9D3B-FF71085D7F5D}" type="datetimeFigureOut">
              <a:rPr lang="en-US" smtClean="0"/>
              <a:t>12/5/2022</a:t>
            </a:fld>
            <a:endParaRPr lang="en-US"/>
          </a:p>
        </p:txBody>
      </p:sp>
      <p:sp>
        <p:nvSpPr>
          <p:cNvPr id="5" name="Footer Placeholder 4">
            <a:extLst>
              <a:ext uri="{FF2B5EF4-FFF2-40B4-BE49-F238E27FC236}">
                <a16:creationId xmlns:a16="http://schemas.microsoft.com/office/drawing/2014/main" id="{672C897E-7DC6-42F3-AD6C-DA840BA72A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0261FC-694B-4182-B7EA-C7FD362489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B17DF9-3509-41B2-9CC1-38B4277CF9D5}" type="slidenum">
              <a:rPr lang="en-US" smtClean="0"/>
              <a:t>‹#›</a:t>
            </a:fld>
            <a:endParaRPr lang="en-US"/>
          </a:p>
        </p:txBody>
      </p:sp>
    </p:spTree>
    <p:extLst>
      <p:ext uri="{BB962C8B-B14F-4D97-AF65-F5344CB8AC3E}">
        <p14:creationId xmlns:p14="http://schemas.microsoft.com/office/powerpoint/2010/main" val="1303062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sgeography.com/buffer-tool-multiple-ring-geodesic-euclidean-round-squar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sgeography.com/spatial-data-types-vector-raster/" TargetMode="External"/><Relationship Id="rId2" Type="http://schemas.openxmlformats.org/officeDocument/2006/relationships/hyperlink" Target="https://gisgeography.com/clip-tool-gis/"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sgeography.com/merge-tool-gi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sgeography.com/dissolve-tool-gi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sgeography.com/intersect-tool-gi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gisgeography.com/union-too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gisgeography.com/erase-tool-gi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sgeography.com/category/gis-analysis/" TargetMode="External"/><Relationship Id="rId2" Type="http://schemas.openxmlformats.org/officeDocument/2006/relationships/hyperlink" Target="https://gisgeography.com/qgis-arcgis-differences/" TargetMode="External"/><Relationship Id="rId1" Type="http://schemas.openxmlformats.org/officeDocument/2006/relationships/slideLayout" Target="../slideLayouts/slideLayout2.xml"/><Relationship Id="rId4" Type="http://schemas.openxmlformats.org/officeDocument/2006/relationships/hyperlink" Target="http://arcg.is/1Bo2sCc"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gisgeography.com/spatial-analysis-periodic-tabl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gisgeography.com/voronoi-diagram-thiessen-polygons/" TargetMode="External"/><Relationship Id="rId3" Type="http://schemas.openxmlformats.org/officeDocument/2006/relationships/hyperlink" Target="https://gisgeography.com/clip-tool-gis/" TargetMode="External"/><Relationship Id="rId7" Type="http://schemas.openxmlformats.org/officeDocument/2006/relationships/hyperlink" Target="https://gisgeography.com/buffer-tool-gis/" TargetMode="External"/><Relationship Id="rId2" Type="http://schemas.openxmlformats.org/officeDocument/2006/relationships/hyperlink" Target="https://gisgeography.com/rasterization-vectorization/" TargetMode="External"/><Relationship Id="rId1" Type="http://schemas.openxmlformats.org/officeDocument/2006/relationships/slideLayout" Target="../slideLayouts/slideLayout2.xml"/><Relationship Id="rId6" Type="http://schemas.openxmlformats.org/officeDocument/2006/relationships/hyperlink" Target="https://gisgeography.com/erase-tool-gis/" TargetMode="External"/><Relationship Id="rId5" Type="http://schemas.openxmlformats.org/officeDocument/2006/relationships/hyperlink" Target="https://gisgeography.com/union-tool/" TargetMode="External"/><Relationship Id="rId4" Type="http://schemas.openxmlformats.org/officeDocument/2006/relationships/hyperlink" Target="https://gisgeography.com/intersect-tool-gis/" TargetMode="External"/><Relationship Id="rId9" Type="http://schemas.openxmlformats.org/officeDocument/2006/relationships/hyperlink" Target="https://gisgeography.com/spatial-joi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sgeography.com/adding-excel-lat-long-coordinates-arcgis/" TargetMode="External"/><Relationship Id="rId2" Type="http://schemas.openxmlformats.org/officeDocument/2006/relationships/hyperlink" Target="https://gisgeography.com/how-to-permanently-reorder-fields-in-arcgis/" TargetMode="External"/><Relationship Id="rId1" Type="http://schemas.openxmlformats.org/officeDocument/2006/relationships/slideLayout" Target="../slideLayouts/slideLayout2.xml"/><Relationship Id="rId6" Type="http://schemas.openxmlformats.org/officeDocument/2006/relationships/hyperlink" Target="https://gisgeography.com/mean-absolute-error-mae-gis/" TargetMode="External"/><Relationship Id="rId5" Type="http://schemas.openxmlformats.org/officeDocument/2006/relationships/hyperlink" Target="https://gisgeography.com/root-mean-square-error-rmse-gis/" TargetMode="External"/><Relationship Id="rId4" Type="http://schemas.openxmlformats.org/officeDocument/2006/relationships/hyperlink" Target="https://gisgeography.com/relate-vs-join-attribute-tables-arcgis/"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gisgeography.com/conflation-edgematching-rubbersheeting/" TargetMode="External"/><Relationship Id="rId2" Type="http://schemas.openxmlformats.org/officeDocument/2006/relationships/hyperlink" Target="https://gisgeography.com/gis-editing-tools/" TargetMode="Externa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hyperlink" Target="https://gisgeography.com/data-driven-pages-mapbooks-arcgis/" TargetMode="External"/><Relationship Id="rId4" Type="http://schemas.openxmlformats.org/officeDocument/2006/relationships/hyperlink" Target="https://gisgeography.com/how-to-create-qgis-atlas-mapbook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23E09-AB5B-46A7-BEE3-3248E97836FE}"/>
              </a:ext>
            </a:extLst>
          </p:cNvPr>
          <p:cNvSpPr>
            <a:spLocks noGrp="1"/>
          </p:cNvSpPr>
          <p:nvPr>
            <p:ph type="ctrTitle"/>
          </p:nvPr>
        </p:nvSpPr>
        <p:spPr>
          <a:xfrm>
            <a:off x="1524000" y="1206230"/>
            <a:ext cx="9144000" cy="3247316"/>
          </a:xfrm>
        </p:spPr>
        <p:txBody>
          <a:bodyPr>
            <a:normAutofit fontScale="90000"/>
          </a:bodyPr>
          <a:lstStyle/>
          <a:p>
            <a:r>
              <a:rPr lang="en-US" b="1" dirty="0"/>
              <a:t>7 Geoprocessing/spatial Analysis  Tools Every GIS Analyst </a:t>
            </a:r>
            <a:br>
              <a:rPr lang="en-US" b="1" dirty="0"/>
            </a:br>
            <a:r>
              <a:rPr lang="en-US" b="1" dirty="0"/>
              <a:t>Should Know</a:t>
            </a:r>
            <a:br>
              <a:rPr lang="en-US" b="1" dirty="0"/>
            </a:br>
            <a:endParaRPr lang="en-US" dirty="0"/>
          </a:p>
        </p:txBody>
      </p:sp>
    </p:spTree>
    <p:extLst>
      <p:ext uri="{BB962C8B-B14F-4D97-AF65-F5344CB8AC3E}">
        <p14:creationId xmlns:p14="http://schemas.microsoft.com/office/powerpoint/2010/main" val="1245689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8DE4E-4B23-40B3-8E1F-39E7CF3486E7}"/>
              </a:ext>
            </a:extLst>
          </p:cNvPr>
          <p:cNvSpPr>
            <a:spLocks noGrp="1"/>
          </p:cNvSpPr>
          <p:nvPr>
            <p:ph type="title"/>
          </p:nvPr>
        </p:nvSpPr>
        <p:spPr/>
        <p:txBody>
          <a:bodyPr/>
          <a:lstStyle/>
          <a:p>
            <a:r>
              <a:rPr lang="en-US" altLang="en-US" b="1" dirty="0">
                <a:solidFill>
                  <a:srgbClr val="000000"/>
                </a:solidFill>
                <a:latin typeface="Arial" panose="020B0604020202020204" pitchFamily="34" charset="0"/>
                <a:ea typeface="Inter"/>
              </a:rPr>
              <a:t>1. The Buffer Tool</a:t>
            </a:r>
            <a:br>
              <a:rPr lang="en-US" altLang="en-US" b="1" dirty="0">
                <a:solidFill>
                  <a:srgbClr val="000000"/>
                </a:solidFill>
                <a:latin typeface="Arial" panose="020B0604020202020204" pitchFamily="34" charset="0"/>
                <a:ea typeface="Inter"/>
              </a:rPr>
            </a:br>
            <a:endParaRPr lang="en-US" dirty="0"/>
          </a:p>
        </p:txBody>
      </p:sp>
      <p:sp>
        <p:nvSpPr>
          <p:cNvPr id="3" name="Content Placeholder 2">
            <a:extLst>
              <a:ext uri="{FF2B5EF4-FFF2-40B4-BE49-F238E27FC236}">
                <a16:creationId xmlns:a16="http://schemas.microsoft.com/office/drawing/2014/main" id="{1BA82F06-E27E-4969-A5C3-D503B2596C8F}"/>
              </a:ext>
            </a:extLst>
          </p:cNvPr>
          <p:cNvSpPr>
            <a:spLocks noGrp="1"/>
          </p:cNvSpPr>
          <p:nvPr>
            <p:ph idx="1"/>
          </p:nvPr>
        </p:nvSpPr>
        <p:spPr>
          <a:xfrm>
            <a:off x="457200" y="1167320"/>
            <a:ext cx="10896600" cy="5573948"/>
          </a:xfrm>
        </p:spPr>
        <p:txBody>
          <a:bodyPr/>
          <a:lstStyle/>
          <a:p>
            <a:pPr marL="0" lvl="0" indent="0" eaLnBrk="0" fontAlgn="base" hangingPunct="0">
              <a:lnSpc>
                <a:spcPct val="100000"/>
              </a:lnSpc>
              <a:spcBef>
                <a:spcPct val="0"/>
              </a:spcBef>
              <a:spcAft>
                <a:spcPct val="0"/>
              </a:spcAft>
              <a:buNone/>
            </a:pPr>
            <a:r>
              <a:rPr lang="en-US" altLang="en-US" dirty="0">
                <a:solidFill>
                  <a:srgbClr val="000000"/>
                </a:solidFill>
                <a:latin typeface="Arial" panose="020B0604020202020204" pitchFamily="34" charset="0"/>
                <a:ea typeface="Inter"/>
              </a:rPr>
              <a:t>Buffers are proximity functions. When you use this geoprocessing tool, it creates a polygon at a set distance surrounding the features.</a:t>
            </a:r>
          </a:p>
          <a:p>
            <a:pPr marL="0" lvl="0" indent="0" eaLnBrk="0" fontAlgn="base" hangingPunct="0">
              <a:lnSpc>
                <a:spcPct val="100000"/>
              </a:lnSpc>
              <a:spcBef>
                <a:spcPct val="0"/>
              </a:spcBef>
              <a:spcAft>
                <a:spcPct val="0"/>
              </a:spcAft>
              <a:buNone/>
            </a:pPr>
            <a:endParaRPr kumimoji="0" lang="en-US" altLang="en-US" sz="1400" b="0" i="0" u="none" strike="noStrike" cap="none" normalizeH="0" baseline="0" dirty="0">
              <a:ln>
                <a:noFill/>
              </a:ln>
              <a:solidFill>
                <a:srgbClr val="000000"/>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dirty="0">
                <a:solidFill>
                  <a:srgbClr val="000000"/>
                </a:solidFill>
                <a:latin typeface="Arial" panose="020B0604020202020204" pitchFamily="34" charset="0"/>
                <a:ea typeface="Inter"/>
              </a:rPr>
              <a:t>For example, </a:t>
            </a:r>
          </a:p>
          <a:p>
            <a:pPr marL="0" lvl="0" indent="0" eaLnBrk="0" fontAlgn="base" hangingPunct="0">
              <a:lnSpc>
                <a:spcPct val="100000"/>
              </a:lnSpc>
              <a:spcBef>
                <a:spcPct val="0"/>
              </a:spcBef>
              <a:spcAft>
                <a:spcPct val="0"/>
              </a:spcAft>
              <a:buNone/>
            </a:pPr>
            <a:endParaRPr lang="en-US" altLang="en-US" dirty="0">
              <a:solidFill>
                <a:srgbClr val="000000"/>
              </a:solidFill>
              <a:latin typeface="Arial" panose="020B0604020202020204" pitchFamily="34" charset="0"/>
              <a:ea typeface="Inter"/>
            </a:endParaRPr>
          </a:p>
          <a:p>
            <a:pPr marL="0" lvl="0" indent="0" eaLnBrk="0" fontAlgn="base" hangingPunct="0">
              <a:lnSpc>
                <a:spcPct val="100000"/>
              </a:lnSpc>
              <a:spcBef>
                <a:spcPct val="0"/>
              </a:spcBef>
              <a:spcAft>
                <a:spcPct val="0"/>
              </a:spcAft>
              <a:buNone/>
            </a:pPr>
            <a:endParaRPr lang="en-US" altLang="en-US" dirty="0">
              <a:solidFill>
                <a:srgbClr val="000000"/>
              </a:solidFill>
              <a:latin typeface="Arial" panose="020B0604020202020204" pitchFamily="34" charset="0"/>
              <a:ea typeface="Inter"/>
            </a:endParaRPr>
          </a:p>
          <a:p>
            <a:pPr marL="0" lvl="0" indent="0" eaLnBrk="0" fontAlgn="base" hangingPunct="0">
              <a:lnSpc>
                <a:spcPct val="100000"/>
              </a:lnSpc>
              <a:spcBef>
                <a:spcPct val="0"/>
              </a:spcBef>
              <a:spcAft>
                <a:spcPct val="0"/>
              </a:spcAft>
              <a:buNone/>
            </a:pPr>
            <a:r>
              <a:rPr lang="en-US" altLang="en-US" dirty="0">
                <a:solidFill>
                  <a:srgbClr val="000000"/>
                </a:solidFill>
                <a:latin typeface="Arial" panose="020B0604020202020204" pitchFamily="34" charset="0"/>
                <a:ea typeface="Inter"/>
              </a:rPr>
              <a:t>a buffer is a polygon or collection of cells</a:t>
            </a:r>
          </a:p>
          <a:p>
            <a:pPr marL="0" lvl="0" indent="0" eaLnBrk="0" fontAlgn="base" hangingPunct="0">
              <a:lnSpc>
                <a:spcPct val="100000"/>
              </a:lnSpc>
              <a:spcBef>
                <a:spcPct val="0"/>
              </a:spcBef>
              <a:spcAft>
                <a:spcPct val="0"/>
              </a:spcAft>
              <a:buNone/>
            </a:pPr>
            <a:r>
              <a:rPr lang="en-US" altLang="en-US" dirty="0">
                <a:solidFill>
                  <a:srgbClr val="000000"/>
                </a:solidFill>
                <a:latin typeface="Arial" panose="020B0604020202020204" pitchFamily="34" charset="0"/>
                <a:ea typeface="Inter"/>
              </a:rPr>
              <a:t> that are within a specified proximity of a set of features.</a:t>
            </a:r>
          </a:p>
          <a:p>
            <a:pPr marL="0" lvl="0" indent="0" eaLnBrk="0" fontAlgn="base" hangingPunct="0">
              <a:lnSpc>
                <a:spcPct val="100000"/>
              </a:lnSpc>
              <a:spcBef>
                <a:spcPct val="0"/>
              </a:spcBef>
              <a:spcAft>
                <a:spcPct val="0"/>
              </a:spcAft>
              <a:buNone/>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dirty="0">
                <a:solidFill>
                  <a:srgbClr val="000000"/>
                </a:solidFill>
                <a:latin typeface="Arial" panose="020B0604020202020204" pitchFamily="34" charset="0"/>
                <a:ea typeface="Inter"/>
              </a:rPr>
              <a:t>The </a:t>
            </a:r>
            <a:r>
              <a:rPr lang="en-US" altLang="en-US" b="1" dirty="0">
                <a:solidFill>
                  <a:srgbClr val="000000"/>
                </a:solidFill>
                <a:latin typeface="Arial" panose="020B0604020202020204" pitchFamily="34" charset="0"/>
                <a:ea typeface="Inter"/>
                <a:hlinkClick r:id="rId2"/>
              </a:rPr>
              <a:t>buffer tool</a:t>
            </a:r>
            <a:r>
              <a:rPr lang="en-US" altLang="en-US" dirty="0">
                <a:solidFill>
                  <a:srgbClr val="000000"/>
                </a:solidFill>
                <a:latin typeface="Arial" panose="020B0604020202020204" pitchFamily="34" charset="0"/>
                <a:ea typeface="Inter"/>
              </a:rPr>
              <a:t> can have fixed and variable distances. </a:t>
            </a:r>
          </a:p>
          <a:p>
            <a:pPr marL="0" lvl="0" indent="0" eaLnBrk="0" fontAlgn="base" hangingPunct="0">
              <a:lnSpc>
                <a:spcPct val="100000"/>
              </a:lnSpc>
              <a:spcBef>
                <a:spcPct val="0"/>
              </a:spcBef>
              <a:spcAft>
                <a:spcPct val="0"/>
              </a:spcAft>
              <a:buNone/>
            </a:pPr>
            <a:r>
              <a:rPr lang="en-US" altLang="en-US" dirty="0">
                <a:solidFill>
                  <a:srgbClr val="000000"/>
                </a:solidFill>
                <a:latin typeface="Arial" panose="020B0604020202020204" pitchFamily="34" charset="0"/>
                <a:ea typeface="Inter"/>
              </a:rPr>
              <a:t>Also, they can be set to geodesic which accounts for the curvature of the Earth.</a:t>
            </a:r>
            <a:endParaRPr kumimoji="0" lang="en-US" altLang="en-US" sz="1400" b="0" i="0" u="none" strike="noStrike" cap="none" normalizeH="0" baseline="0" dirty="0">
              <a:ln>
                <a:noFill/>
              </a:ln>
              <a:solidFill>
                <a:schemeClr val="tx1"/>
              </a:solidFill>
              <a:effectLst/>
              <a:latin typeface="Arial" panose="020B0604020202020204" pitchFamily="34" charset="0"/>
            </a:endParaRPr>
          </a:p>
          <a:p>
            <a:endParaRPr lang="en-US" dirty="0"/>
          </a:p>
        </p:txBody>
      </p:sp>
      <p:pic>
        <p:nvPicPr>
          <p:cNvPr id="1026" name="Picture 2" descr="IDW Search Radius">
            <a:extLst>
              <a:ext uri="{FF2B5EF4-FFF2-40B4-BE49-F238E27FC236}">
                <a16:creationId xmlns:a16="http://schemas.microsoft.com/office/drawing/2014/main" id="{97CD8745-A092-4FD2-9C69-097A1AEFD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5675" y="2159540"/>
            <a:ext cx="4048125" cy="2056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9492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907B6-FA04-47D0-9779-3AFBE16DCA37}"/>
              </a:ext>
            </a:extLst>
          </p:cNvPr>
          <p:cNvSpPr>
            <a:spLocks noGrp="1"/>
          </p:cNvSpPr>
          <p:nvPr>
            <p:ph type="title"/>
          </p:nvPr>
        </p:nvSpPr>
        <p:spPr>
          <a:xfrm>
            <a:off x="0" y="18255"/>
            <a:ext cx="10750685" cy="1325563"/>
          </a:xfrm>
        </p:spPr>
        <p:txBody>
          <a:bodyPr/>
          <a:lstStyle/>
          <a:p>
            <a:r>
              <a:rPr lang="en-US" b="1" dirty="0"/>
              <a:t>2. The Clip Tool</a:t>
            </a:r>
            <a:endParaRPr lang="en-US" dirty="0"/>
          </a:p>
        </p:txBody>
      </p:sp>
      <p:sp>
        <p:nvSpPr>
          <p:cNvPr id="3" name="Content Placeholder 2">
            <a:extLst>
              <a:ext uri="{FF2B5EF4-FFF2-40B4-BE49-F238E27FC236}">
                <a16:creationId xmlns:a16="http://schemas.microsoft.com/office/drawing/2014/main" id="{DBE9497E-8AD9-428F-99BC-383F7CF8B792}"/>
              </a:ext>
            </a:extLst>
          </p:cNvPr>
          <p:cNvSpPr>
            <a:spLocks noGrp="1"/>
          </p:cNvSpPr>
          <p:nvPr>
            <p:ph idx="1"/>
          </p:nvPr>
        </p:nvSpPr>
        <p:spPr>
          <a:xfrm>
            <a:off x="204281" y="1343818"/>
            <a:ext cx="11149519" cy="5358539"/>
          </a:xfrm>
        </p:spPr>
        <p:txBody>
          <a:bodyPr>
            <a:normAutofit/>
          </a:bodyPr>
          <a:lstStyle/>
          <a:p>
            <a:r>
              <a:rPr lang="en-US" dirty="0"/>
              <a:t>The </a:t>
            </a:r>
            <a:r>
              <a:rPr lang="en-US" b="1" dirty="0">
                <a:hlinkClick r:id="rId2"/>
              </a:rPr>
              <a:t>clip tool</a:t>
            </a:r>
            <a:r>
              <a:rPr lang="en-US" dirty="0"/>
              <a:t> is an overlay function that cuts out an input layer to the extent of a defined feature boundary. The result of this tool is a new clipped output layer.</a:t>
            </a:r>
          </a:p>
          <a:p>
            <a:endParaRPr lang="en-US" dirty="0"/>
          </a:p>
          <a:p>
            <a:r>
              <a:rPr lang="en-US" dirty="0"/>
              <a:t>If you can picture a cookie cutter, </a:t>
            </a:r>
          </a:p>
          <a:p>
            <a:pPr marL="0" indent="0">
              <a:buNone/>
            </a:pPr>
            <a:r>
              <a:rPr lang="en-US" dirty="0"/>
              <a:t>this is like using the clip tool. And </a:t>
            </a:r>
          </a:p>
          <a:p>
            <a:pPr marL="0" indent="0">
              <a:buNone/>
            </a:pPr>
            <a:r>
              <a:rPr lang="en-US" dirty="0"/>
              <a:t>carving out </a:t>
            </a:r>
            <a:r>
              <a:rPr lang="en-US" b="1" dirty="0">
                <a:hlinkClick r:id="rId3"/>
              </a:rPr>
              <a:t>vectors and </a:t>
            </a:r>
            <a:r>
              <a:rPr lang="en-US" b="1" dirty="0" err="1">
                <a:hlinkClick r:id="rId3"/>
              </a:rPr>
              <a:t>rasters</a:t>
            </a:r>
            <a:r>
              <a:rPr lang="en-US" dirty="0"/>
              <a:t> is one of </a:t>
            </a:r>
          </a:p>
          <a:p>
            <a:pPr marL="0" indent="0">
              <a:buNone/>
            </a:pPr>
            <a:r>
              <a:rPr lang="en-US" dirty="0"/>
              <a:t>the most common operations in GIS.</a:t>
            </a:r>
          </a:p>
          <a:p>
            <a:pPr marL="0" indent="0">
              <a:buNone/>
            </a:pPr>
            <a:endParaRPr lang="en-US" dirty="0"/>
          </a:p>
          <a:p>
            <a:r>
              <a:rPr lang="en-US" dirty="0"/>
              <a:t>To clip data, you need points, lines, or polygons as input and a polygon as the clipping extent. The preserved data is the result of a clip.</a:t>
            </a:r>
          </a:p>
          <a:p>
            <a:endParaRPr lang="en-US" dirty="0"/>
          </a:p>
        </p:txBody>
      </p:sp>
      <p:pic>
        <p:nvPicPr>
          <p:cNvPr id="2050" name="Picture 2" descr="Clip Tool">
            <a:extLst>
              <a:ext uri="{FF2B5EF4-FFF2-40B4-BE49-F238E27FC236}">
                <a16:creationId xmlns:a16="http://schemas.microsoft.com/office/drawing/2014/main" id="{81473E4A-3E55-47DB-ABB8-121C383F7A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1966" y="2566379"/>
            <a:ext cx="5481768" cy="2947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779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FC302-F196-425B-99F2-D2C3B8724CDA}"/>
              </a:ext>
            </a:extLst>
          </p:cNvPr>
          <p:cNvSpPr>
            <a:spLocks noGrp="1"/>
          </p:cNvSpPr>
          <p:nvPr>
            <p:ph type="title"/>
          </p:nvPr>
        </p:nvSpPr>
        <p:spPr>
          <a:xfrm>
            <a:off x="0" y="18255"/>
            <a:ext cx="10515600" cy="1325563"/>
          </a:xfrm>
        </p:spPr>
        <p:txBody>
          <a:bodyPr/>
          <a:lstStyle/>
          <a:p>
            <a:r>
              <a:rPr lang="en-US" b="1" dirty="0"/>
              <a:t>3. The Merge Tool</a:t>
            </a:r>
            <a:endParaRPr lang="en-US" dirty="0"/>
          </a:p>
        </p:txBody>
      </p:sp>
      <p:sp>
        <p:nvSpPr>
          <p:cNvPr id="3" name="Content Placeholder 2">
            <a:extLst>
              <a:ext uri="{FF2B5EF4-FFF2-40B4-BE49-F238E27FC236}">
                <a16:creationId xmlns:a16="http://schemas.microsoft.com/office/drawing/2014/main" id="{EEEF170F-9370-4EDF-8054-FF47DBD20AB8}"/>
              </a:ext>
            </a:extLst>
          </p:cNvPr>
          <p:cNvSpPr>
            <a:spLocks noGrp="1"/>
          </p:cNvSpPr>
          <p:nvPr>
            <p:ph idx="1"/>
          </p:nvPr>
        </p:nvSpPr>
        <p:spPr>
          <a:xfrm>
            <a:off x="97277" y="1274323"/>
            <a:ext cx="11916383" cy="4902640"/>
          </a:xfrm>
        </p:spPr>
        <p:txBody>
          <a:bodyPr/>
          <a:lstStyle/>
          <a:p>
            <a:r>
              <a:rPr lang="en-US" dirty="0"/>
              <a:t>The </a:t>
            </a:r>
            <a:r>
              <a:rPr lang="en-US" b="1" dirty="0">
                <a:hlinkClick r:id="rId2"/>
              </a:rPr>
              <a:t>merge tool</a:t>
            </a:r>
            <a:r>
              <a:rPr lang="en-US" dirty="0"/>
              <a:t> combines data sets that are the same data type (points, lines, or polygons). When you run the merge tool, the resulting data will be merged into one.</a:t>
            </a:r>
          </a:p>
          <a:p>
            <a:r>
              <a:rPr lang="en-US" dirty="0"/>
              <a:t>Similar to the clip tool, we use the merge tool regularly. For merging, data sets have to be the same type. For example, you can’t merge points and polygons into one data set.</a:t>
            </a:r>
          </a:p>
          <a:p>
            <a:endParaRPr lang="en-US" dirty="0"/>
          </a:p>
        </p:txBody>
      </p:sp>
      <p:pic>
        <p:nvPicPr>
          <p:cNvPr id="3074" name="Picture 2" descr="Merge Tool">
            <a:extLst>
              <a:ext uri="{FF2B5EF4-FFF2-40B4-BE49-F238E27FC236}">
                <a16:creationId xmlns:a16="http://schemas.microsoft.com/office/drawing/2014/main" id="{C6E5AC53-BF65-4C27-9E55-84F83C7098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6755" y="4021576"/>
            <a:ext cx="7270513" cy="280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6531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51B35-D2FE-4B07-94E0-E9199DF7F58F}"/>
              </a:ext>
            </a:extLst>
          </p:cNvPr>
          <p:cNvSpPr>
            <a:spLocks noGrp="1"/>
          </p:cNvSpPr>
          <p:nvPr>
            <p:ph type="title"/>
          </p:nvPr>
        </p:nvSpPr>
        <p:spPr>
          <a:xfrm>
            <a:off x="0" y="0"/>
            <a:ext cx="10515600" cy="1325563"/>
          </a:xfrm>
        </p:spPr>
        <p:txBody>
          <a:bodyPr/>
          <a:lstStyle/>
          <a:p>
            <a:r>
              <a:rPr lang="en-US" b="1" dirty="0"/>
              <a:t>4. The Dissolve Tool</a:t>
            </a:r>
            <a:endParaRPr lang="en-US" dirty="0"/>
          </a:p>
        </p:txBody>
      </p:sp>
      <p:sp>
        <p:nvSpPr>
          <p:cNvPr id="3" name="Content Placeholder 2">
            <a:extLst>
              <a:ext uri="{FF2B5EF4-FFF2-40B4-BE49-F238E27FC236}">
                <a16:creationId xmlns:a16="http://schemas.microsoft.com/office/drawing/2014/main" id="{38497C3E-7C9A-4785-B841-977BFEF07201}"/>
              </a:ext>
            </a:extLst>
          </p:cNvPr>
          <p:cNvSpPr>
            <a:spLocks noGrp="1"/>
          </p:cNvSpPr>
          <p:nvPr>
            <p:ph idx="1"/>
          </p:nvPr>
        </p:nvSpPr>
        <p:spPr>
          <a:xfrm>
            <a:off x="0" y="1325563"/>
            <a:ext cx="12192000" cy="4851400"/>
          </a:xfrm>
        </p:spPr>
        <p:txBody>
          <a:bodyPr/>
          <a:lstStyle/>
          <a:p>
            <a:r>
              <a:rPr lang="en-US" dirty="0"/>
              <a:t>The </a:t>
            </a:r>
            <a:r>
              <a:rPr lang="en-US" b="1" dirty="0">
                <a:hlinkClick r:id="rId2"/>
              </a:rPr>
              <a:t>dissolve tool</a:t>
            </a:r>
            <a:r>
              <a:rPr lang="en-US" dirty="0"/>
              <a:t> unifies boundaries based on common attribute values. In other words, dissolve merges neighboring boundaries if the neighbors have the same attributes.</a:t>
            </a:r>
          </a:p>
          <a:p>
            <a:r>
              <a:rPr lang="en-US" dirty="0"/>
              <a:t>For example, if you want to remove the borders of countries to form a continent, the dissolve tool is the tool to use. But you would need an attribute for each country and the continent it belongs to.</a:t>
            </a:r>
          </a:p>
          <a:p>
            <a:endParaRPr lang="en-US" dirty="0"/>
          </a:p>
        </p:txBody>
      </p:sp>
      <p:pic>
        <p:nvPicPr>
          <p:cNvPr id="4098" name="Picture 2" descr="Dissolve Tool">
            <a:extLst>
              <a:ext uri="{FF2B5EF4-FFF2-40B4-BE49-F238E27FC236}">
                <a16:creationId xmlns:a16="http://schemas.microsoft.com/office/drawing/2014/main" id="{FFA69FB7-C66A-41FC-B191-0BEDEE894E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9306" y="3867589"/>
            <a:ext cx="7982558" cy="2685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726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F4B77-AA46-4F61-AB79-FC45EC846342}"/>
              </a:ext>
            </a:extLst>
          </p:cNvPr>
          <p:cNvSpPr>
            <a:spLocks noGrp="1"/>
          </p:cNvSpPr>
          <p:nvPr>
            <p:ph type="title"/>
          </p:nvPr>
        </p:nvSpPr>
        <p:spPr>
          <a:xfrm>
            <a:off x="0" y="18255"/>
            <a:ext cx="10515600" cy="1325563"/>
          </a:xfrm>
        </p:spPr>
        <p:txBody>
          <a:bodyPr/>
          <a:lstStyle/>
          <a:p>
            <a:r>
              <a:rPr lang="en-US" b="1" dirty="0"/>
              <a:t>5. The Intersect Tool</a:t>
            </a:r>
            <a:endParaRPr lang="en-US" dirty="0"/>
          </a:p>
        </p:txBody>
      </p:sp>
      <p:sp>
        <p:nvSpPr>
          <p:cNvPr id="3" name="Content Placeholder 2">
            <a:extLst>
              <a:ext uri="{FF2B5EF4-FFF2-40B4-BE49-F238E27FC236}">
                <a16:creationId xmlns:a16="http://schemas.microsoft.com/office/drawing/2014/main" id="{ADC171B3-C897-4765-8ACA-EA5B42BB3C21}"/>
              </a:ext>
            </a:extLst>
          </p:cNvPr>
          <p:cNvSpPr>
            <a:spLocks noGrp="1"/>
          </p:cNvSpPr>
          <p:nvPr>
            <p:ph idx="1"/>
          </p:nvPr>
        </p:nvSpPr>
        <p:spPr>
          <a:xfrm>
            <a:off x="0" y="1157591"/>
            <a:ext cx="12192000" cy="4221805"/>
          </a:xfrm>
        </p:spPr>
        <p:txBody>
          <a:bodyPr>
            <a:normAutofit/>
          </a:bodyPr>
          <a:lstStyle/>
          <a:p>
            <a:r>
              <a:rPr lang="en-US" dirty="0"/>
              <a:t>The </a:t>
            </a:r>
            <a:r>
              <a:rPr lang="en-US" b="1" dirty="0">
                <a:hlinkClick r:id="rId2"/>
              </a:rPr>
              <a:t>intersect tool</a:t>
            </a:r>
            <a:r>
              <a:rPr lang="en-US" dirty="0"/>
              <a:t> is very </a:t>
            </a:r>
            <a:r>
              <a:rPr lang="en-US" b="1" dirty="0">
                <a:solidFill>
                  <a:srgbClr val="FF0000"/>
                </a:solidFill>
              </a:rPr>
              <a:t>similar to the clip tool </a:t>
            </a:r>
            <a:r>
              <a:rPr lang="en-US" dirty="0"/>
              <a:t>because the extents of input features define the output. The only </a:t>
            </a:r>
            <a:r>
              <a:rPr lang="en-US" b="1" u="sng" dirty="0"/>
              <a:t>exception is that it preserves attributes from all the data</a:t>
            </a:r>
            <a:r>
              <a:rPr lang="en-US" dirty="0"/>
              <a:t> sets that overlap each other in the output.</a:t>
            </a:r>
          </a:p>
          <a:p>
            <a:r>
              <a:rPr lang="en-US" dirty="0"/>
              <a:t>The intersect tool performs a geometric overlap. All features that overlap in all layers will be part of the output feature class – attributes preserved.</a:t>
            </a:r>
          </a:p>
          <a:p>
            <a:r>
              <a:rPr lang="en-US" dirty="0"/>
              <a:t>Add multiple inputs. The tool accepts different data types (points, lines, and polygons). When features overlap each other, they will be in the output. The intersect tool preserves the attribute values in both input layers.</a:t>
            </a:r>
          </a:p>
          <a:p>
            <a:pPr marL="0" indent="0">
              <a:buNone/>
            </a:pPr>
            <a:endParaRPr lang="en-US" dirty="0"/>
          </a:p>
        </p:txBody>
      </p:sp>
      <p:pic>
        <p:nvPicPr>
          <p:cNvPr id="5122" name="Picture 2" descr="Intersect Tool">
            <a:extLst>
              <a:ext uri="{FF2B5EF4-FFF2-40B4-BE49-F238E27FC236}">
                <a16:creationId xmlns:a16="http://schemas.microsoft.com/office/drawing/2014/main" id="{24496E26-209E-41AA-8B1B-6F8C2968F4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5729" y="4505107"/>
            <a:ext cx="6353784" cy="2334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7284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F7F30-220E-4487-A752-2AC97CA4F992}"/>
              </a:ext>
            </a:extLst>
          </p:cNvPr>
          <p:cNvSpPr>
            <a:spLocks noGrp="1"/>
          </p:cNvSpPr>
          <p:nvPr>
            <p:ph type="title"/>
          </p:nvPr>
        </p:nvSpPr>
        <p:spPr>
          <a:xfrm>
            <a:off x="0" y="0"/>
            <a:ext cx="10515600" cy="1325563"/>
          </a:xfrm>
        </p:spPr>
        <p:txBody>
          <a:bodyPr/>
          <a:lstStyle/>
          <a:p>
            <a:r>
              <a:rPr lang="en-US" b="1" dirty="0"/>
              <a:t>6. The Union Tool</a:t>
            </a:r>
            <a:endParaRPr lang="en-US" dirty="0"/>
          </a:p>
        </p:txBody>
      </p:sp>
      <p:sp>
        <p:nvSpPr>
          <p:cNvPr id="3" name="Content Placeholder 2">
            <a:extLst>
              <a:ext uri="{FF2B5EF4-FFF2-40B4-BE49-F238E27FC236}">
                <a16:creationId xmlns:a16="http://schemas.microsoft.com/office/drawing/2014/main" id="{0143D06B-8569-414A-9674-D1209D27A639}"/>
              </a:ext>
            </a:extLst>
          </p:cNvPr>
          <p:cNvSpPr>
            <a:spLocks noGrp="1"/>
          </p:cNvSpPr>
          <p:nvPr>
            <p:ph idx="1"/>
          </p:nvPr>
        </p:nvSpPr>
        <p:spPr>
          <a:xfrm>
            <a:off x="0" y="1115506"/>
            <a:ext cx="12192000" cy="3437039"/>
          </a:xfrm>
        </p:spPr>
        <p:txBody>
          <a:bodyPr/>
          <a:lstStyle/>
          <a:p>
            <a:r>
              <a:rPr lang="en-US" dirty="0"/>
              <a:t>The </a:t>
            </a:r>
            <a:r>
              <a:rPr lang="en-US" b="1" dirty="0">
                <a:hlinkClick r:id="rId2"/>
              </a:rPr>
              <a:t>union tool</a:t>
            </a:r>
            <a:r>
              <a:rPr lang="en-US" dirty="0"/>
              <a:t>  gets a bad reputation because it creates a lot of features. The union tool maintains all input feature boundaries and attributes in the output feature class.</a:t>
            </a:r>
          </a:p>
          <a:p>
            <a:r>
              <a:rPr lang="en-US" dirty="0"/>
              <a:t>After running this geoprocessing tool, it does get a bit messy especially when there are more overlaps. But </a:t>
            </a:r>
            <a:r>
              <a:rPr lang="en-US" b="1" dirty="0"/>
              <a:t>it’s really not so bad</a:t>
            </a:r>
            <a:r>
              <a:rPr lang="en-US" dirty="0"/>
              <a:t>. The Union tool spatially combines two data layers. It preserves features from both layers to the same extent.</a:t>
            </a:r>
          </a:p>
          <a:p>
            <a:endParaRPr lang="en-US" dirty="0"/>
          </a:p>
        </p:txBody>
      </p:sp>
      <p:pic>
        <p:nvPicPr>
          <p:cNvPr id="6148" name="Picture 4" descr="Union Tool Feature Count">
            <a:extLst>
              <a:ext uri="{FF2B5EF4-FFF2-40B4-BE49-F238E27FC236}">
                <a16:creationId xmlns:a16="http://schemas.microsoft.com/office/drawing/2014/main" id="{C9026D8E-2EC7-4576-926A-74B2947377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390" y="3892990"/>
            <a:ext cx="7728699" cy="2887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987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D98A7-D674-4554-AAA3-B071815B5001}"/>
              </a:ext>
            </a:extLst>
          </p:cNvPr>
          <p:cNvSpPr>
            <a:spLocks noGrp="1"/>
          </p:cNvSpPr>
          <p:nvPr>
            <p:ph type="title"/>
          </p:nvPr>
        </p:nvSpPr>
        <p:spPr>
          <a:xfrm>
            <a:off x="0" y="18255"/>
            <a:ext cx="10515600" cy="1325563"/>
          </a:xfrm>
        </p:spPr>
        <p:txBody>
          <a:bodyPr/>
          <a:lstStyle/>
          <a:p>
            <a:r>
              <a:rPr lang="en-US" b="1" dirty="0"/>
              <a:t>7. The Erase (Difference) Tool</a:t>
            </a:r>
            <a:endParaRPr lang="en-US" dirty="0"/>
          </a:p>
        </p:txBody>
      </p:sp>
      <p:sp>
        <p:nvSpPr>
          <p:cNvPr id="3" name="Content Placeholder 2">
            <a:extLst>
              <a:ext uri="{FF2B5EF4-FFF2-40B4-BE49-F238E27FC236}">
                <a16:creationId xmlns:a16="http://schemas.microsoft.com/office/drawing/2014/main" id="{71B46EC0-E52F-4545-8B68-9A1C55B65014}"/>
              </a:ext>
            </a:extLst>
          </p:cNvPr>
          <p:cNvSpPr>
            <a:spLocks noGrp="1"/>
          </p:cNvSpPr>
          <p:nvPr>
            <p:ph idx="1"/>
          </p:nvPr>
        </p:nvSpPr>
        <p:spPr>
          <a:xfrm>
            <a:off x="0" y="1225685"/>
            <a:ext cx="12110936" cy="4951278"/>
          </a:xfrm>
        </p:spPr>
        <p:txBody>
          <a:bodyPr/>
          <a:lstStyle/>
          <a:p>
            <a:r>
              <a:rPr lang="en-US" dirty="0"/>
              <a:t>I like the </a:t>
            </a:r>
            <a:r>
              <a:rPr lang="en-US" b="1" dirty="0">
                <a:hlinkClick r:id="rId2"/>
              </a:rPr>
              <a:t>erase tool</a:t>
            </a:r>
            <a:r>
              <a:rPr lang="en-US" dirty="0"/>
              <a:t> because it’s always helpful to erase things! The input layer is what will be erased. The erase feature determines what to erase. Simple as that.</a:t>
            </a:r>
          </a:p>
          <a:p>
            <a:r>
              <a:rPr lang="en-US" dirty="0"/>
              <a:t>The Erase Tool removes features that overlap the erase features. This geoprocessing tool maintains portions of input features falling outside the erase features extent. The result is a new feature with the erase feature extent removed.</a:t>
            </a:r>
          </a:p>
          <a:p>
            <a:endParaRPr lang="en-US" dirty="0"/>
          </a:p>
        </p:txBody>
      </p:sp>
      <p:pic>
        <p:nvPicPr>
          <p:cNvPr id="7170" name="Picture 2" descr="Erase Tool 3D">
            <a:extLst>
              <a:ext uri="{FF2B5EF4-FFF2-40B4-BE49-F238E27FC236}">
                <a16:creationId xmlns:a16="http://schemas.microsoft.com/office/drawing/2014/main" id="{C673678F-627B-47D2-B012-A4337E66B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9655" y="3574744"/>
            <a:ext cx="9092356" cy="294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518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2B6FA-ACE1-4E86-B7AC-1037244BA49F}"/>
              </a:ext>
            </a:extLst>
          </p:cNvPr>
          <p:cNvSpPr>
            <a:spLocks noGrp="1"/>
          </p:cNvSpPr>
          <p:nvPr>
            <p:ph type="title"/>
          </p:nvPr>
        </p:nvSpPr>
        <p:spPr>
          <a:xfrm>
            <a:off x="721468" y="2062264"/>
            <a:ext cx="10515600" cy="2468901"/>
          </a:xfrm>
        </p:spPr>
        <p:txBody>
          <a:bodyPr>
            <a:normAutofit fontScale="90000"/>
          </a:bodyPr>
          <a:lstStyle/>
          <a:p>
            <a:r>
              <a:rPr lang="en-US" b="1" dirty="0"/>
              <a:t>You’re Ready to Take the Geoprocessing Training Wheels Off,</a:t>
            </a:r>
            <a:br>
              <a:rPr lang="en-US" b="1" dirty="0"/>
            </a:br>
            <a:br>
              <a:rPr lang="en-US" b="1" dirty="0"/>
            </a:br>
            <a:r>
              <a:rPr lang="en-US" b="1" dirty="0"/>
              <a:t>We’ve sifted through the big 7 geoprocessing tools</a:t>
            </a:r>
            <a:r>
              <a:rPr lang="en-US" dirty="0"/>
              <a:t>.</a:t>
            </a:r>
            <a:br>
              <a:rPr lang="en-US" dirty="0"/>
            </a:br>
            <a:endParaRPr lang="en-US" dirty="0"/>
          </a:p>
        </p:txBody>
      </p:sp>
    </p:spTree>
    <p:extLst>
      <p:ext uri="{BB962C8B-B14F-4D97-AF65-F5344CB8AC3E}">
        <p14:creationId xmlns:p14="http://schemas.microsoft.com/office/powerpoint/2010/main" val="2040600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E135B6-5CC5-432D-84F5-FFB554823F6C}"/>
              </a:ext>
            </a:extLst>
          </p:cNvPr>
          <p:cNvSpPr>
            <a:spLocks noGrp="1"/>
          </p:cNvSpPr>
          <p:nvPr>
            <p:ph idx="1"/>
          </p:nvPr>
        </p:nvSpPr>
        <p:spPr>
          <a:xfrm>
            <a:off x="496111" y="836579"/>
            <a:ext cx="11439727" cy="5778230"/>
          </a:xfrm>
        </p:spPr>
        <p:txBody>
          <a:bodyPr/>
          <a:lstStyle/>
          <a:p>
            <a:pPr>
              <a:lnSpc>
                <a:spcPct val="150000"/>
              </a:lnSpc>
            </a:pPr>
            <a:r>
              <a:rPr lang="en-US" dirty="0"/>
              <a:t>These are so common that </a:t>
            </a:r>
            <a:r>
              <a:rPr lang="en-US" b="1" dirty="0">
                <a:hlinkClick r:id="rId2"/>
              </a:rPr>
              <a:t>ArcGIS and QGIS</a:t>
            </a:r>
            <a:r>
              <a:rPr lang="en-US" dirty="0"/>
              <a:t> have added them to drop-down menus for easy access.</a:t>
            </a:r>
          </a:p>
          <a:p>
            <a:pPr>
              <a:lnSpc>
                <a:spcPct val="150000"/>
              </a:lnSpc>
            </a:pPr>
            <a:r>
              <a:rPr lang="en-US" dirty="0"/>
              <a:t>When you learn these 7 geoprocessing tools, you develop a good baseline of GIS skills. On top of that, you are one step closer to becoming a GIS guru.</a:t>
            </a:r>
          </a:p>
          <a:p>
            <a:pPr>
              <a:lnSpc>
                <a:spcPct val="150000"/>
              </a:lnSpc>
            </a:pPr>
            <a:r>
              <a:rPr lang="en-US" dirty="0"/>
              <a:t>But in reality, there are thousands of geoprocessing tools. Our </a:t>
            </a:r>
            <a:r>
              <a:rPr lang="en-US" b="1" dirty="0">
                <a:hlinkClick r:id="rId3"/>
              </a:rPr>
              <a:t>GIS analysis section</a:t>
            </a:r>
            <a:r>
              <a:rPr lang="en-US" dirty="0"/>
              <a:t> is a good place to start. Also, you check out </a:t>
            </a:r>
            <a:r>
              <a:rPr lang="en-US" b="1" dirty="0" err="1">
                <a:hlinkClick r:id="rId4"/>
              </a:rPr>
              <a:t>Esri’s</a:t>
            </a:r>
            <a:r>
              <a:rPr lang="en-US" b="1" dirty="0">
                <a:hlinkClick r:id="rId4"/>
              </a:rPr>
              <a:t> Spatial Analysis Map</a:t>
            </a:r>
            <a:r>
              <a:rPr lang="en-US" dirty="0"/>
              <a:t> for more real-world examples of GIS Processing.</a:t>
            </a:r>
          </a:p>
          <a:p>
            <a:pPr>
              <a:lnSpc>
                <a:spcPct val="150000"/>
              </a:lnSpc>
            </a:pPr>
            <a:endParaRPr lang="en-US" dirty="0"/>
          </a:p>
        </p:txBody>
      </p:sp>
    </p:spTree>
    <p:extLst>
      <p:ext uri="{BB962C8B-B14F-4D97-AF65-F5344CB8AC3E}">
        <p14:creationId xmlns:p14="http://schemas.microsoft.com/office/powerpoint/2010/main" val="646701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BB702-13C6-4635-A7AB-4D3BB87B7AD1}"/>
              </a:ext>
            </a:extLst>
          </p:cNvPr>
          <p:cNvSpPr>
            <a:spLocks noGrp="1"/>
          </p:cNvSpPr>
          <p:nvPr>
            <p:ph type="title"/>
          </p:nvPr>
        </p:nvSpPr>
        <p:spPr>
          <a:xfrm>
            <a:off x="324255" y="1391055"/>
            <a:ext cx="11867745" cy="3375498"/>
          </a:xfrm>
        </p:spPr>
        <p:txBody>
          <a:bodyPr>
            <a:normAutofit/>
          </a:bodyPr>
          <a:lstStyle/>
          <a:p>
            <a:r>
              <a:rPr lang="en-US" dirty="0"/>
              <a:t>If you want a thorough outline of geospatial analysis, then make sure to check out our </a:t>
            </a:r>
            <a:r>
              <a:rPr lang="en-US" b="1" dirty="0">
                <a:hlinkClick r:id="rId2"/>
              </a:rPr>
              <a:t>Periodic Table for Spatial Analysis</a:t>
            </a:r>
            <a:r>
              <a:rPr lang="en-US" dirty="0"/>
              <a:t>.</a:t>
            </a:r>
          </a:p>
        </p:txBody>
      </p:sp>
    </p:spTree>
    <p:extLst>
      <p:ext uri="{BB962C8B-B14F-4D97-AF65-F5344CB8AC3E}">
        <p14:creationId xmlns:p14="http://schemas.microsoft.com/office/powerpoint/2010/main" val="86800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patial Analysis Periodic Table">
            <a:extLst>
              <a:ext uri="{FF2B5EF4-FFF2-40B4-BE49-F238E27FC236}">
                <a16:creationId xmlns:a16="http://schemas.microsoft.com/office/drawing/2014/main" id="{AE32A293-3D79-4E98-9113-1CEB6F9D32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915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6480-4AC7-494C-9FEA-B03345BBFEB3}"/>
              </a:ext>
            </a:extLst>
          </p:cNvPr>
          <p:cNvSpPr>
            <a:spLocks noGrp="1"/>
          </p:cNvSpPr>
          <p:nvPr>
            <p:ph type="title"/>
          </p:nvPr>
        </p:nvSpPr>
        <p:spPr>
          <a:xfrm>
            <a:off x="0" y="18255"/>
            <a:ext cx="11838562" cy="1325563"/>
          </a:xfrm>
        </p:spPr>
        <p:txBody>
          <a:bodyPr>
            <a:normAutofit/>
          </a:bodyPr>
          <a:lstStyle/>
          <a:p>
            <a:r>
              <a:rPr lang="en-US" b="1" dirty="0"/>
              <a:t>Introducing: The Periodic Table for Spatial Analysis</a:t>
            </a:r>
            <a:endParaRPr lang="en-US" dirty="0"/>
          </a:p>
        </p:txBody>
      </p:sp>
      <p:sp>
        <p:nvSpPr>
          <p:cNvPr id="3" name="Content Placeholder 2">
            <a:extLst>
              <a:ext uri="{FF2B5EF4-FFF2-40B4-BE49-F238E27FC236}">
                <a16:creationId xmlns:a16="http://schemas.microsoft.com/office/drawing/2014/main" id="{B30ADF73-91F8-49F8-BFB1-3CC7D3F97C25}"/>
              </a:ext>
            </a:extLst>
          </p:cNvPr>
          <p:cNvSpPr>
            <a:spLocks noGrp="1"/>
          </p:cNvSpPr>
          <p:nvPr>
            <p:ph idx="1"/>
          </p:nvPr>
        </p:nvSpPr>
        <p:spPr>
          <a:xfrm>
            <a:off x="59987" y="1791290"/>
            <a:ext cx="12072026" cy="4833145"/>
          </a:xfrm>
        </p:spPr>
        <p:txBody>
          <a:bodyPr/>
          <a:lstStyle/>
          <a:p>
            <a:r>
              <a:rPr lang="en-US" dirty="0"/>
              <a:t>Spatial analysis may seem like </a:t>
            </a:r>
            <a:r>
              <a:rPr lang="en-US" b="1" dirty="0"/>
              <a:t>alchemy</a:t>
            </a:r>
            <a:r>
              <a:rPr lang="en-US" dirty="0"/>
              <a:t> to the inexperienced. But there is a </a:t>
            </a:r>
            <a:r>
              <a:rPr lang="en-US" b="1" dirty="0"/>
              <a:t>science</a:t>
            </a:r>
            <a:r>
              <a:rPr lang="en-US" dirty="0"/>
              <a:t> to it. By using spatial analysis, we can find patterns, quantify area, and predict outcomes with </a:t>
            </a:r>
            <a:r>
              <a:rPr lang="en-US" b="1" dirty="0"/>
              <a:t>geography</a:t>
            </a:r>
            <a:r>
              <a:rPr lang="en-US" dirty="0"/>
              <a:t> being the common link of it all.</a:t>
            </a:r>
          </a:p>
          <a:p>
            <a:r>
              <a:rPr lang="en-US" dirty="0"/>
              <a:t>Each element in the Periodic Table for Spatial Analysis contains a set of spatial analysis tools. We’ve grouped common tools by color with vector analysis tools on the left and raster analysis on the right.</a:t>
            </a:r>
          </a:p>
          <a:p>
            <a:endParaRPr lang="en-US" dirty="0"/>
          </a:p>
        </p:txBody>
      </p:sp>
    </p:spTree>
    <p:extLst>
      <p:ext uri="{BB962C8B-B14F-4D97-AF65-F5344CB8AC3E}">
        <p14:creationId xmlns:p14="http://schemas.microsoft.com/office/powerpoint/2010/main" val="1075232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9B27968-67C1-4337-84BF-5EC9F4B68B6E}"/>
              </a:ext>
            </a:extLst>
          </p:cNvPr>
          <p:cNvSpPr>
            <a:spLocks noGrp="1"/>
          </p:cNvSpPr>
          <p:nvPr>
            <p:ph type="title"/>
          </p:nvPr>
        </p:nvSpPr>
        <p:spPr>
          <a:xfrm>
            <a:off x="711740" y="1464351"/>
            <a:ext cx="10515600" cy="1325563"/>
          </a:xfrm>
        </p:spPr>
        <p:txBody>
          <a:bodyPr>
            <a:normAutofit/>
          </a:bodyPr>
          <a:lstStyle/>
          <a:p>
            <a:r>
              <a:rPr lang="en-US" sz="3600" b="1" dirty="0"/>
              <a:t>Vector Analysis/Conversion</a:t>
            </a:r>
            <a:endParaRPr lang="en-US" sz="3600" dirty="0"/>
          </a:p>
        </p:txBody>
      </p:sp>
      <p:pic>
        <p:nvPicPr>
          <p:cNvPr id="9218" name="Picture 2" descr="Spatial Join">
            <a:extLst>
              <a:ext uri="{FF2B5EF4-FFF2-40B4-BE49-F238E27FC236}">
                <a16:creationId xmlns:a16="http://schemas.microsoft.com/office/drawing/2014/main" id="{D5D1AFD9-AA5D-459D-B386-64C7F97749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0748" y="64869"/>
            <a:ext cx="3711251" cy="2916524"/>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Voronoi Diagram Thiessen Polygons">
            <a:extLst>
              <a:ext uri="{FF2B5EF4-FFF2-40B4-BE49-F238E27FC236}">
                <a16:creationId xmlns:a16="http://schemas.microsoft.com/office/drawing/2014/main" id="{BC76D756-1A70-42DA-B1D2-9D8B4CCA4A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5138" y="2736548"/>
            <a:ext cx="3626955" cy="2261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769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3E4B9-4BEE-4AAB-86AD-594F23C9A7A2}"/>
              </a:ext>
            </a:extLst>
          </p:cNvPr>
          <p:cNvSpPr>
            <a:spLocks noGrp="1"/>
          </p:cNvSpPr>
          <p:nvPr>
            <p:ph type="title"/>
          </p:nvPr>
        </p:nvSpPr>
        <p:spPr>
          <a:xfrm>
            <a:off x="0" y="18255"/>
            <a:ext cx="10515600" cy="779413"/>
          </a:xfrm>
        </p:spPr>
        <p:txBody>
          <a:bodyPr>
            <a:normAutofit/>
          </a:bodyPr>
          <a:lstStyle/>
          <a:p>
            <a:r>
              <a:rPr lang="en-US" sz="3600" b="1" dirty="0"/>
              <a:t>Vector Analysis/Conversion</a:t>
            </a:r>
            <a:endParaRPr lang="en-US" sz="3600" dirty="0"/>
          </a:p>
        </p:txBody>
      </p:sp>
      <p:sp>
        <p:nvSpPr>
          <p:cNvPr id="3" name="Content Placeholder 2">
            <a:extLst>
              <a:ext uri="{FF2B5EF4-FFF2-40B4-BE49-F238E27FC236}">
                <a16:creationId xmlns:a16="http://schemas.microsoft.com/office/drawing/2014/main" id="{7E6956B9-F0F4-4991-B59C-22D77B458AAE}"/>
              </a:ext>
            </a:extLst>
          </p:cNvPr>
          <p:cNvSpPr>
            <a:spLocks noGrp="1"/>
          </p:cNvSpPr>
          <p:nvPr>
            <p:ph idx="1"/>
          </p:nvPr>
        </p:nvSpPr>
        <p:spPr>
          <a:xfrm>
            <a:off x="0" y="904672"/>
            <a:ext cx="12192000" cy="5935073"/>
          </a:xfrm>
        </p:spPr>
        <p:txBody>
          <a:bodyPr>
            <a:normAutofit/>
          </a:bodyPr>
          <a:lstStyle/>
          <a:p>
            <a:r>
              <a:rPr lang="en-US" b="1" dirty="0"/>
              <a:t>1. Vector Conversion [VC]</a:t>
            </a:r>
            <a:r>
              <a:rPr lang="en-US" dirty="0"/>
              <a:t> – Converts file formats for points, lines, and polygons and alters data models from vector to raster or vice versa. (Feature to raster, </a:t>
            </a:r>
            <a:r>
              <a:rPr lang="en-US" b="1" dirty="0">
                <a:hlinkClick r:id="rId2"/>
              </a:rPr>
              <a:t>rasterization vs vectorization</a:t>
            </a:r>
            <a:r>
              <a:rPr lang="en-US" dirty="0"/>
              <a:t>)</a:t>
            </a:r>
            <a:br>
              <a:rPr lang="en-US" dirty="0"/>
            </a:br>
            <a:r>
              <a:rPr lang="en-US" b="1" dirty="0"/>
              <a:t>2. Extract [EX]</a:t>
            </a:r>
            <a:r>
              <a:rPr lang="en-US" dirty="0"/>
              <a:t> – Creates a subset of features by clipping, selecting, and splitting vector features. (</a:t>
            </a:r>
            <a:r>
              <a:rPr lang="en-US" b="1" dirty="0">
                <a:hlinkClick r:id="rId3"/>
              </a:rPr>
              <a:t>Clip</a:t>
            </a:r>
            <a:r>
              <a:rPr lang="en-US" dirty="0"/>
              <a:t>, select, and split)</a:t>
            </a:r>
            <a:br>
              <a:rPr lang="en-US" dirty="0"/>
            </a:br>
            <a:r>
              <a:rPr lang="en-US" b="1" dirty="0"/>
              <a:t>3. Overlay [OV]</a:t>
            </a:r>
            <a:r>
              <a:rPr lang="en-US" dirty="0"/>
              <a:t> – Overlays 2 or more vector layers and outputs layers based on overlapping features. (</a:t>
            </a:r>
            <a:r>
              <a:rPr lang="en-US" b="1" dirty="0">
                <a:hlinkClick r:id="rId4"/>
              </a:rPr>
              <a:t>Intersect</a:t>
            </a:r>
            <a:r>
              <a:rPr lang="en-US" dirty="0"/>
              <a:t>, </a:t>
            </a:r>
            <a:r>
              <a:rPr lang="en-US" b="1" dirty="0">
                <a:hlinkClick r:id="rId5"/>
              </a:rPr>
              <a:t>union</a:t>
            </a:r>
            <a:r>
              <a:rPr lang="en-US" dirty="0"/>
              <a:t>, </a:t>
            </a:r>
            <a:r>
              <a:rPr lang="en-US" b="1" dirty="0">
                <a:hlinkClick r:id="rId6"/>
              </a:rPr>
              <a:t>erase tool</a:t>
            </a:r>
            <a:r>
              <a:rPr lang="en-US" dirty="0"/>
              <a:t>)</a:t>
            </a:r>
            <a:br>
              <a:rPr lang="en-US" dirty="0"/>
            </a:br>
            <a:r>
              <a:rPr lang="en-US" b="1" dirty="0"/>
              <a:t>4. Proximity [PX]</a:t>
            </a:r>
            <a:r>
              <a:rPr lang="en-US" dirty="0"/>
              <a:t> – Generates output based on distances or proximity functions. (</a:t>
            </a:r>
            <a:r>
              <a:rPr lang="en-US" b="1" dirty="0">
                <a:hlinkClick r:id="rId7"/>
              </a:rPr>
              <a:t>Buffer</a:t>
            </a:r>
            <a:r>
              <a:rPr lang="en-US" dirty="0"/>
              <a:t>, </a:t>
            </a:r>
            <a:r>
              <a:rPr lang="en-US" b="1" dirty="0">
                <a:hlinkClick r:id="rId8"/>
              </a:rPr>
              <a:t>Voronoi diagrams</a:t>
            </a:r>
            <a:r>
              <a:rPr lang="en-US" dirty="0"/>
              <a:t>, and near functions)</a:t>
            </a:r>
            <a:br>
              <a:rPr lang="en-US" dirty="0"/>
            </a:br>
            <a:r>
              <a:rPr lang="en-US" b="1" dirty="0"/>
              <a:t>5. Spatial Join [SJ]</a:t>
            </a:r>
            <a:r>
              <a:rPr lang="en-US" dirty="0"/>
              <a:t> – Joins attributes from a separate layer based on distance or spatial relationship. (1-M </a:t>
            </a:r>
            <a:r>
              <a:rPr lang="en-US" b="1" dirty="0">
                <a:hlinkClick r:id="rId9"/>
              </a:rPr>
              <a:t>Spatial join</a:t>
            </a:r>
            <a:r>
              <a:rPr lang="en-US" dirty="0"/>
              <a:t> “Contains”, 1-1 Touches)</a:t>
            </a:r>
            <a:br>
              <a:rPr lang="en-US" dirty="0"/>
            </a:br>
            <a:r>
              <a:rPr lang="en-US" b="1" dirty="0"/>
              <a:t>6. Plot Diagrams [PD]</a:t>
            </a:r>
            <a:r>
              <a:rPr lang="en-US" dirty="0"/>
              <a:t> – Builds a graph or diagram based on a set of attributes and geographical locations. (Scatter plot, histograms, bar plots)</a:t>
            </a:r>
            <a:br>
              <a:rPr lang="en-US" dirty="0"/>
            </a:br>
            <a:r>
              <a:rPr lang="en-US" b="1" dirty="0"/>
              <a:t>7. Geometry Shape [GS]</a:t>
            </a:r>
            <a:r>
              <a:rPr lang="en-US" dirty="0"/>
              <a:t> – Computes the geometric shape of an object. (Compactness, perimeter/area ratio, rectangular fit).</a:t>
            </a:r>
          </a:p>
        </p:txBody>
      </p:sp>
    </p:spTree>
    <p:extLst>
      <p:ext uri="{BB962C8B-B14F-4D97-AF65-F5344CB8AC3E}">
        <p14:creationId xmlns:p14="http://schemas.microsoft.com/office/powerpoint/2010/main" val="2937880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9DDF7-3D53-404B-8177-A28193EFEBFA}"/>
              </a:ext>
            </a:extLst>
          </p:cNvPr>
          <p:cNvSpPr>
            <a:spLocks noGrp="1"/>
          </p:cNvSpPr>
          <p:nvPr>
            <p:ph type="title"/>
          </p:nvPr>
        </p:nvSpPr>
        <p:spPr>
          <a:xfrm>
            <a:off x="3951051" y="2378751"/>
            <a:ext cx="4940030" cy="1325563"/>
          </a:xfrm>
        </p:spPr>
        <p:txBody>
          <a:bodyPr/>
          <a:lstStyle/>
          <a:p>
            <a:r>
              <a:rPr lang="en-US" b="1" dirty="0"/>
              <a:t>Tables</a:t>
            </a:r>
            <a:endParaRPr lang="en-US" dirty="0"/>
          </a:p>
        </p:txBody>
      </p:sp>
    </p:spTree>
    <p:extLst>
      <p:ext uri="{BB962C8B-B14F-4D97-AF65-F5344CB8AC3E}">
        <p14:creationId xmlns:p14="http://schemas.microsoft.com/office/powerpoint/2010/main" val="655701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09749-86D1-498E-A3ED-A6A66D408ABB}"/>
              </a:ext>
            </a:extLst>
          </p:cNvPr>
          <p:cNvSpPr>
            <a:spLocks noGrp="1"/>
          </p:cNvSpPr>
          <p:nvPr>
            <p:ph idx="1"/>
          </p:nvPr>
        </p:nvSpPr>
        <p:spPr>
          <a:xfrm>
            <a:off x="155643" y="87548"/>
            <a:ext cx="11955293" cy="6770451"/>
          </a:xfrm>
        </p:spPr>
        <p:txBody>
          <a:bodyPr>
            <a:normAutofit fontScale="92500" lnSpcReduction="10000"/>
          </a:bodyPr>
          <a:lstStyle/>
          <a:p>
            <a:pPr marL="0" indent="0">
              <a:buNone/>
            </a:pPr>
            <a:r>
              <a:rPr lang="en-US" b="1" dirty="0"/>
              <a:t>8. Table Tools [TB]</a:t>
            </a:r>
            <a:r>
              <a:rPr lang="en-US" dirty="0"/>
              <a:t> – Performs table functions for storing attribute data (Add field, create domains, </a:t>
            </a:r>
            <a:r>
              <a:rPr lang="en-US" b="1" dirty="0">
                <a:hlinkClick r:id="rId2"/>
              </a:rPr>
              <a:t>reorder fields</a:t>
            </a:r>
            <a:r>
              <a:rPr lang="en-US" dirty="0"/>
              <a:t>)</a:t>
            </a:r>
          </a:p>
          <a:p>
            <a:pPr marL="0" indent="0">
              <a:buNone/>
            </a:pPr>
            <a:br>
              <a:rPr lang="en-US" dirty="0"/>
            </a:br>
            <a:r>
              <a:rPr lang="en-US" b="1" dirty="0"/>
              <a:t>9. Add XY Coordinates [XY]</a:t>
            </a:r>
            <a:r>
              <a:rPr lang="en-US" dirty="0"/>
              <a:t> – Converts a table of XY coordinates (latitude/longitude) into a layer with a defined coordinate system. (</a:t>
            </a:r>
            <a:r>
              <a:rPr lang="en-US" b="1" dirty="0">
                <a:hlinkClick r:id="rId3"/>
              </a:rPr>
              <a:t>Add </a:t>
            </a:r>
            <a:r>
              <a:rPr lang="en-US" b="1" dirty="0" err="1">
                <a:hlinkClick r:id="rId3"/>
              </a:rPr>
              <a:t>lat</a:t>
            </a:r>
            <a:r>
              <a:rPr lang="en-US" b="1" dirty="0">
                <a:hlinkClick r:id="rId3"/>
              </a:rPr>
              <a:t>/long coordinates</a:t>
            </a:r>
            <a:r>
              <a:rPr lang="en-US" dirty="0"/>
              <a:t>)</a:t>
            </a:r>
          </a:p>
          <a:p>
            <a:pPr marL="0" indent="0">
              <a:buNone/>
            </a:pPr>
            <a:br>
              <a:rPr lang="en-US" dirty="0"/>
            </a:br>
            <a:r>
              <a:rPr lang="en-US" b="1" dirty="0"/>
              <a:t>10. Calculate Geometry [CG]</a:t>
            </a:r>
            <a:r>
              <a:rPr lang="en-US" dirty="0"/>
              <a:t> – Computes the length of the geometric measurements in the attribute table of vector features. (Calculate length/area)</a:t>
            </a:r>
          </a:p>
          <a:p>
            <a:pPr marL="0" indent="0">
              <a:buNone/>
            </a:pPr>
            <a:br>
              <a:rPr lang="en-US" dirty="0"/>
            </a:br>
            <a:r>
              <a:rPr lang="en-US" b="1" dirty="0"/>
              <a:t>11. Join Table [JT]</a:t>
            </a:r>
            <a:r>
              <a:rPr lang="en-US" dirty="0"/>
              <a:t> – Appends the attribute columns from one table into another table based on matching record keys. (1:1, 1:M, M:N)</a:t>
            </a:r>
          </a:p>
          <a:p>
            <a:pPr marL="0" indent="0">
              <a:buNone/>
            </a:pPr>
            <a:br>
              <a:rPr lang="en-US" dirty="0"/>
            </a:br>
            <a:r>
              <a:rPr lang="en-US" b="1" dirty="0"/>
              <a:t>12. Relate [RL]</a:t>
            </a:r>
            <a:r>
              <a:rPr lang="en-US" dirty="0"/>
              <a:t> – Generates a temporary table that displays matching records that associate with one or more matching records. (</a:t>
            </a:r>
            <a:r>
              <a:rPr lang="en-US" b="1" dirty="0">
                <a:hlinkClick r:id="rId4"/>
              </a:rPr>
              <a:t>Relate vs Join</a:t>
            </a:r>
            <a:r>
              <a:rPr lang="en-US" dirty="0"/>
              <a:t>)</a:t>
            </a:r>
          </a:p>
          <a:p>
            <a:pPr marL="0" indent="0">
              <a:buNone/>
            </a:pPr>
            <a:br>
              <a:rPr lang="en-US" dirty="0"/>
            </a:br>
            <a:r>
              <a:rPr lang="en-US" b="1" dirty="0"/>
              <a:t>13. Statistics [ST]</a:t>
            </a:r>
            <a:r>
              <a:rPr lang="en-US" dirty="0"/>
              <a:t> – Calculates statistics based on a numerical field in a table. (</a:t>
            </a:r>
            <a:r>
              <a:rPr lang="en-US" b="1" dirty="0">
                <a:hlinkClick r:id="rId5"/>
              </a:rPr>
              <a:t>RMSE</a:t>
            </a:r>
            <a:r>
              <a:rPr lang="en-US" dirty="0"/>
              <a:t>, </a:t>
            </a:r>
            <a:r>
              <a:rPr lang="en-US" b="1" dirty="0">
                <a:hlinkClick r:id="rId6"/>
              </a:rPr>
              <a:t>MAE</a:t>
            </a:r>
            <a:r>
              <a:rPr lang="en-US" dirty="0"/>
              <a:t>, sum, mean, count, standard deviation).</a:t>
            </a:r>
          </a:p>
        </p:txBody>
      </p:sp>
    </p:spTree>
    <p:extLst>
      <p:ext uri="{BB962C8B-B14F-4D97-AF65-F5344CB8AC3E}">
        <p14:creationId xmlns:p14="http://schemas.microsoft.com/office/powerpoint/2010/main" val="1512624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A8B04-ABD8-4D98-AD48-4B0F9E7537DF}"/>
              </a:ext>
            </a:extLst>
          </p:cNvPr>
          <p:cNvSpPr>
            <a:spLocks noGrp="1"/>
          </p:cNvSpPr>
          <p:nvPr>
            <p:ph type="title"/>
          </p:nvPr>
        </p:nvSpPr>
        <p:spPr/>
        <p:txBody>
          <a:bodyPr/>
          <a:lstStyle/>
          <a:p>
            <a:r>
              <a:rPr lang="en-US" altLang="en-US" b="1" dirty="0">
                <a:solidFill>
                  <a:srgbClr val="000000"/>
                </a:solidFill>
                <a:latin typeface="Arial" panose="020B0604020202020204" pitchFamily="34" charset="0"/>
                <a:ea typeface="Inter"/>
              </a:rPr>
              <a:t>Editing/Cartography</a:t>
            </a:r>
            <a:br>
              <a:rPr lang="en-US" altLang="en-US" b="1" dirty="0">
                <a:solidFill>
                  <a:srgbClr val="000000"/>
                </a:solidFill>
                <a:latin typeface="Arial" panose="020B0604020202020204" pitchFamily="34" charset="0"/>
                <a:ea typeface="Inter"/>
              </a:rPr>
            </a:br>
            <a:endParaRPr lang="en-US" dirty="0"/>
          </a:p>
        </p:txBody>
      </p:sp>
      <p:sp>
        <p:nvSpPr>
          <p:cNvPr id="3" name="Content Placeholder 2">
            <a:extLst>
              <a:ext uri="{FF2B5EF4-FFF2-40B4-BE49-F238E27FC236}">
                <a16:creationId xmlns:a16="http://schemas.microsoft.com/office/drawing/2014/main" id="{BA49253F-D6C3-4350-9932-266F228E1E36}"/>
              </a:ext>
            </a:extLst>
          </p:cNvPr>
          <p:cNvSpPr>
            <a:spLocks noGrp="1"/>
          </p:cNvSpPr>
          <p:nvPr>
            <p:ph idx="1"/>
          </p:nvPr>
        </p:nvSpPr>
        <p:spPr>
          <a:xfrm>
            <a:off x="-1" y="1690688"/>
            <a:ext cx="12192001" cy="5167312"/>
          </a:xfrm>
        </p:spPr>
        <p:txBody>
          <a:bodyPr>
            <a:normAutofit/>
          </a:bodyPr>
          <a:lstStyle/>
          <a:p>
            <a:pPr marL="0" indent="0">
              <a:buNone/>
            </a:pPr>
            <a:r>
              <a:rPr lang="en-US" altLang="en-US" b="1" dirty="0">
                <a:solidFill>
                  <a:srgbClr val="000000"/>
                </a:solidFill>
                <a:latin typeface="Arial" panose="020B0604020202020204" pitchFamily="34" charset="0"/>
                <a:ea typeface="Inter"/>
              </a:rPr>
              <a:t>14. Editing [ED]</a:t>
            </a:r>
            <a:r>
              <a:rPr lang="en-US" altLang="en-US" dirty="0">
                <a:solidFill>
                  <a:srgbClr val="000000"/>
                </a:solidFill>
                <a:latin typeface="Arial" panose="020B0604020202020204" pitchFamily="34" charset="0"/>
                <a:ea typeface="Inter"/>
              </a:rPr>
              <a:t> – Performs an editing function using the vertices and geometry in one or more layers. (</a:t>
            </a:r>
            <a:r>
              <a:rPr lang="en-US" altLang="en-US" b="1" dirty="0">
                <a:solidFill>
                  <a:srgbClr val="000000"/>
                </a:solidFill>
                <a:latin typeface="Arial" panose="020B0604020202020204" pitchFamily="34" charset="0"/>
                <a:ea typeface="Inter"/>
                <a:hlinkClick r:id="rId2"/>
              </a:rPr>
              <a:t>Editing tools</a:t>
            </a:r>
            <a:r>
              <a:rPr lang="en-US" altLang="en-US" dirty="0">
                <a:solidFill>
                  <a:srgbClr val="000000"/>
                </a:solidFill>
                <a:latin typeface="Arial" panose="020B0604020202020204" pitchFamily="34" charset="0"/>
                <a:ea typeface="Inter"/>
              </a:rPr>
              <a:t>, densify, trim, snap, and extend)</a:t>
            </a:r>
            <a:br>
              <a:rPr lang="en-US" altLang="en-US" dirty="0">
                <a:solidFill>
                  <a:srgbClr val="000000"/>
                </a:solidFill>
                <a:latin typeface="Arial" panose="020B0604020202020204" pitchFamily="34" charset="0"/>
                <a:ea typeface="Inter"/>
              </a:rPr>
            </a:br>
            <a:r>
              <a:rPr lang="en-US" altLang="en-US" b="1" dirty="0">
                <a:solidFill>
                  <a:srgbClr val="000000"/>
                </a:solidFill>
                <a:latin typeface="Arial" panose="020B0604020202020204" pitchFamily="34" charset="0"/>
                <a:ea typeface="Inter"/>
              </a:rPr>
              <a:t>15. Conflation [CF]</a:t>
            </a:r>
            <a:r>
              <a:rPr lang="en-US" altLang="en-US" dirty="0">
                <a:solidFill>
                  <a:srgbClr val="000000"/>
                </a:solidFill>
                <a:latin typeface="Arial" panose="020B0604020202020204" pitchFamily="34" charset="0"/>
                <a:ea typeface="Inter"/>
              </a:rPr>
              <a:t> – Resolves conflicts between two layers that display the same features with mismatching geometries. (Edge-matching, rubber sheeting, </a:t>
            </a:r>
            <a:r>
              <a:rPr lang="en-US" altLang="en-US" b="1" dirty="0">
                <a:solidFill>
                  <a:srgbClr val="000000"/>
                </a:solidFill>
                <a:latin typeface="Arial" panose="020B0604020202020204" pitchFamily="34" charset="0"/>
                <a:ea typeface="Inter"/>
                <a:hlinkClick r:id="rId3"/>
              </a:rPr>
              <a:t>conflation</a:t>
            </a:r>
            <a:r>
              <a:rPr lang="en-US" altLang="en-US" dirty="0">
                <a:solidFill>
                  <a:srgbClr val="000000"/>
                </a:solidFill>
                <a:latin typeface="Arial" panose="020B0604020202020204" pitchFamily="34" charset="0"/>
                <a:ea typeface="Inter"/>
              </a:rPr>
              <a:t>)</a:t>
            </a:r>
            <a:br>
              <a:rPr lang="en-US" altLang="en-US" dirty="0">
                <a:solidFill>
                  <a:srgbClr val="000000"/>
                </a:solidFill>
                <a:latin typeface="Arial" panose="020B0604020202020204" pitchFamily="34" charset="0"/>
                <a:ea typeface="Inter"/>
              </a:rPr>
            </a:br>
            <a:r>
              <a:rPr lang="en-US" altLang="en-US" b="1" dirty="0">
                <a:solidFill>
                  <a:srgbClr val="000000"/>
                </a:solidFill>
                <a:latin typeface="Arial" panose="020B0604020202020204" pitchFamily="34" charset="0"/>
                <a:ea typeface="Inter"/>
              </a:rPr>
              <a:t>16. Grid Index [GI]</a:t>
            </a:r>
            <a:r>
              <a:rPr lang="en-US" altLang="en-US" dirty="0">
                <a:solidFill>
                  <a:srgbClr val="000000"/>
                </a:solidFill>
                <a:latin typeface="Arial" panose="020B0604020202020204" pitchFamily="34" charset="0"/>
                <a:ea typeface="Inter"/>
              </a:rPr>
              <a:t> – Produces a set of consecutive rectangular map sheets that follow a linear feature for </a:t>
            </a:r>
            <a:r>
              <a:rPr lang="en-US" altLang="en-US" dirty="0" err="1">
                <a:solidFill>
                  <a:srgbClr val="000000"/>
                </a:solidFill>
                <a:latin typeface="Arial" panose="020B0604020202020204" pitchFamily="34" charset="0"/>
                <a:ea typeface="Inter"/>
              </a:rPr>
              <a:t>mapbook</a:t>
            </a:r>
            <a:r>
              <a:rPr lang="en-US" altLang="en-US" dirty="0">
                <a:solidFill>
                  <a:srgbClr val="000000"/>
                </a:solidFill>
                <a:latin typeface="Arial" panose="020B0604020202020204" pitchFamily="34" charset="0"/>
                <a:ea typeface="Inter"/>
              </a:rPr>
              <a:t> production. (Strip Map, fishnet, tessellation, </a:t>
            </a:r>
            <a:r>
              <a:rPr lang="en-US" altLang="en-US" b="1" dirty="0">
                <a:solidFill>
                  <a:srgbClr val="000000"/>
                </a:solidFill>
                <a:latin typeface="Arial" panose="020B0604020202020204" pitchFamily="34" charset="0"/>
                <a:ea typeface="Inter"/>
                <a:hlinkClick r:id="rId4"/>
              </a:rPr>
              <a:t>QGIS Atlas</a:t>
            </a:r>
            <a:r>
              <a:rPr lang="en-US" altLang="en-US" dirty="0">
                <a:solidFill>
                  <a:srgbClr val="000000"/>
                </a:solidFill>
                <a:latin typeface="Arial" panose="020B0604020202020204" pitchFamily="34" charset="0"/>
                <a:ea typeface="Inter"/>
              </a:rPr>
              <a:t>, </a:t>
            </a:r>
            <a:r>
              <a:rPr lang="en-US" altLang="en-US" b="1" dirty="0">
                <a:solidFill>
                  <a:srgbClr val="000000"/>
                </a:solidFill>
                <a:latin typeface="Arial" panose="020B0604020202020204" pitchFamily="34" charset="0"/>
                <a:ea typeface="Inter"/>
                <a:hlinkClick r:id="rId5"/>
              </a:rPr>
              <a:t>data driven pages</a:t>
            </a:r>
            <a:r>
              <a:rPr lang="en-US" altLang="en-US" dirty="0">
                <a:solidFill>
                  <a:srgbClr val="000000"/>
                </a:solidFill>
                <a:latin typeface="Arial" panose="020B0604020202020204" pitchFamily="34" charset="0"/>
                <a:ea typeface="Inter"/>
              </a:rPr>
              <a:t>)</a:t>
            </a:r>
            <a:br>
              <a:rPr lang="en-US" altLang="en-US" dirty="0">
                <a:solidFill>
                  <a:srgbClr val="000000"/>
                </a:solidFill>
                <a:latin typeface="Arial" panose="020B0604020202020204" pitchFamily="34" charset="0"/>
                <a:ea typeface="Inter"/>
              </a:rPr>
            </a:br>
            <a:r>
              <a:rPr lang="en-US" altLang="en-US" b="1" dirty="0">
                <a:solidFill>
                  <a:srgbClr val="000000"/>
                </a:solidFill>
                <a:latin typeface="Arial" panose="020B0604020202020204" pitchFamily="34" charset="0"/>
                <a:ea typeface="Inter"/>
              </a:rPr>
              <a:t>17. Cartographic [CA]</a:t>
            </a:r>
            <a:r>
              <a:rPr lang="en-US" altLang="en-US" dirty="0">
                <a:solidFill>
                  <a:srgbClr val="000000"/>
                </a:solidFill>
                <a:latin typeface="Arial" panose="020B0604020202020204" pitchFamily="34" charset="0"/>
                <a:ea typeface="Inter"/>
              </a:rPr>
              <a:t> – Enhances or generalizes features in a dataset for cartographic display and aesthetic </a:t>
            </a:r>
            <a:endParaRPr lang="en-US" dirty="0"/>
          </a:p>
        </p:txBody>
      </p:sp>
      <p:pic>
        <p:nvPicPr>
          <p:cNvPr id="11266" name="Picture 2" descr="Editing Generalize">
            <a:extLst>
              <a:ext uri="{FF2B5EF4-FFF2-40B4-BE49-F238E27FC236}">
                <a16:creationId xmlns:a16="http://schemas.microsoft.com/office/drawing/2014/main" id="{EDA4F76F-3F3A-4569-947E-5705593865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11045" y="64007"/>
            <a:ext cx="2645541" cy="1414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8491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1405</Words>
  <Application>Microsoft Office PowerPoint</Application>
  <PresentationFormat>Widescreen</PresentationFormat>
  <Paragraphs>58</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7 Geoprocessing/spatial Analysis  Tools Every GIS Analyst  Should Know </vt:lpstr>
      <vt:lpstr>1. The Buffer Tool </vt:lpstr>
      <vt:lpstr>2. The Clip Tool</vt:lpstr>
      <vt:lpstr>3. The Merge Tool</vt:lpstr>
      <vt:lpstr>4. The Dissolve Tool</vt:lpstr>
      <vt:lpstr>5. The Intersect Tool</vt:lpstr>
      <vt:lpstr>6. The Union Tool</vt:lpstr>
      <vt:lpstr>7. The Erase (Difference) Tool</vt:lpstr>
      <vt:lpstr>You’re Ready to Take the Geoprocessing Training Wheels Off,  We’ve sifted through the big 7 geoprocessing tools. </vt:lpstr>
      <vt:lpstr>PowerPoint Presentation</vt:lpstr>
      <vt:lpstr>If you want a thorough outline of geospatial analysis, then make sure to check out our Periodic Table for Spatial Analysis.</vt:lpstr>
      <vt:lpstr>PowerPoint Presentation</vt:lpstr>
      <vt:lpstr>Introducing: The Periodic Table for Spatial Analysis</vt:lpstr>
      <vt:lpstr>Vector Analysis/Conversion</vt:lpstr>
      <vt:lpstr>Vector Analysis/Conversion</vt:lpstr>
      <vt:lpstr>Tables</vt:lpstr>
      <vt:lpstr>PowerPoint Presentation</vt:lpstr>
      <vt:lpstr>Editing/Cartography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Geoprocessing/spatial Analysis  Tools Every GIS Analyst  Should Know </dc:title>
  <dc:creator>Ahmad Khan</dc:creator>
  <cp:lastModifiedBy>Ahmad Khan</cp:lastModifiedBy>
  <cp:revision>2</cp:revision>
  <dcterms:created xsi:type="dcterms:W3CDTF">2022-12-05T07:57:46Z</dcterms:created>
  <dcterms:modified xsi:type="dcterms:W3CDTF">2022-12-05T14:27:47Z</dcterms:modified>
</cp:coreProperties>
</file>