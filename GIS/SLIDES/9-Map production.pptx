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7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8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3A50-7221-4438-A0A4-04E6E24DC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67B5B-C36F-45F8-B9EC-3E25CE67A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6006E-D991-4E2E-B8B2-0F388FBDB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702E9-3EAB-4A2B-AB32-567350803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48FDF-05E2-499F-AC3A-B790D63FB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C9DF-650E-48B9-B7FE-5B3862D9F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D32A2-31B1-440D-A1B6-9FB084D03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460E1-BFFC-4741-9C7E-734A3129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FADD-3C64-450D-ABF6-97768919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F2CAE-581D-4855-B60C-D4BC29FC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5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CD5C-9A99-4AE7-9CC8-F8D2CED54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B9D78-2D70-42E8-A63A-0CF77AD0A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310FF-FD67-44F7-BAE5-D29BD9ABB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42D1A-FB76-4FD7-9AF1-747A7979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6D591-DE1F-4DA3-9EFD-7A1C824D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2A96-E0BC-4BEC-A960-EECD90B3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579C4-F5B3-47FD-895F-3E93C703B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97D53-F39F-4CD4-879F-787E88E2E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F0053-711D-4895-9C42-03BAB7562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0F763-9F31-4A11-9124-22B06C27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0EA71-BD31-4E5A-82BB-6CCE70C4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B1AFB-74C1-4A7C-AFB4-82320E6A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D965D-0B3C-45EB-B458-8D2B255C3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9D2FAF-AB2F-43DB-ADEA-9EE47F2D42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BCEAB-F521-4537-97E2-D6C6A3BD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A33E82-425E-4F86-AB5D-9FAB3130F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D6A40-11B6-4FFD-B439-BB03B818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762E6-C928-4BCB-9CB2-FDCAB2D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B416A-DCB5-4D3E-BDFB-1C7E4980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34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958D-3912-4375-845D-84F5C8AE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86D90-16E0-43AF-A6A0-55F41014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50DA7-9EAA-49C5-87F2-1B719B4E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4A826-B909-4987-AC1D-7CEA14F8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45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3124EE-B5B7-4CD2-ADDD-E4AA03E7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B687C-EE4E-4666-AC08-54B48970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E317A-5AAF-48E5-9DF2-B09CA06D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B96F-36E9-41E2-BDFE-FF29BD68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C7A7C-0ECE-440C-99D3-64260951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CE1AD-C973-4312-ABA8-5D88C94D2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FB25A-A7AE-41BA-81B7-8C50628F6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0DF9F-1D90-4395-9795-4187781D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3CE43-2576-4B83-BCDE-E61B9666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8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46A3-26B2-40E1-AC1D-B97DC0984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97BBA9-0850-409A-B0E7-761CBB4ED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B9E35-ECD1-42D6-817B-B3C2AAE95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32779-40B1-4557-AFFD-9D031D55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4C237-B915-4E03-BF99-8F93F82F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4EAFBE-F4F5-4074-BD19-6D80F878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9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1CA95-C383-4E03-91F7-50E6DB6E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24724F-EEF7-4AD1-B4CA-BB5B328C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8FE3D-DEB2-4556-9330-3F9403ED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E18D6-E8A9-48F7-ADD9-952B589D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D1547-6F83-4307-8A74-01FFC76B9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14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6EE0B-D257-44F8-AFE5-86EA97AFF8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0D972-CFB1-49D8-A193-2AFB080AD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45636-03EE-41E8-B385-6749BF8A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2FF5A-C654-4E44-B7EF-4FA47F76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65355-3DE2-423C-9538-28AF84DA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50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83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98682" y="2138923"/>
            <a:ext cx="4947611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11/15/2022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36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27EDD-9677-42D9-9DFF-992052D9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3509E-ECE9-46EF-AF19-2D44CBF00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67D07-100E-4378-97D2-1CC8255D0D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98AA8-7C34-44C0-A296-4F0103249023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D69EC-27EE-4346-BB44-2D5E026BF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2683C-567A-40E5-86C1-48D2D27BA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A08F7-E358-4807-B30F-9C9BEDB50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5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gis.org/3.22/en/docs/gentle_gis_introduction/vector_attribute_data.html#gentle-gis-attributes" TargetMode="External"/><Relationship Id="rId2" Type="http://schemas.openxmlformats.org/officeDocument/2006/relationships/hyperlink" Target="https://docs.qgis.org/3.22/en/docs/gentle_gis_introduction/vector_data.html#gentle-gis-vector-data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cale_(map)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0096" y="1773325"/>
            <a:ext cx="4876432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1206">
              <a:lnSpc>
                <a:spcPct val="100000"/>
              </a:lnSpc>
            </a:pPr>
            <a:r>
              <a:rPr lang="en-US" sz="4800" b="1" dirty="0"/>
              <a:t>Map production </a:t>
            </a:r>
            <a:endParaRPr sz="4800" b="1" spc="-4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1B9341A-FA7E-457C-BE16-56F180BA5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085754"/>
              </p:ext>
            </p:extLst>
          </p:nvPr>
        </p:nvGraphicFramePr>
        <p:xfrm>
          <a:off x="719847" y="3467894"/>
          <a:ext cx="10633953" cy="1341120"/>
        </p:xfrm>
        <a:graphic>
          <a:graphicData uri="http://schemas.openxmlformats.org/drawingml/2006/table">
            <a:tbl>
              <a:tblPr/>
              <a:tblGrid>
                <a:gridCol w="1729698">
                  <a:extLst>
                    <a:ext uri="{9D8B030D-6E8A-4147-A177-3AD203B41FA5}">
                      <a16:colId xmlns:a16="http://schemas.microsoft.com/office/drawing/2014/main" val="32842561"/>
                    </a:ext>
                  </a:extLst>
                </a:gridCol>
                <a:gridCol w="8904255">
                  <a:extLst>
                    <a:ext uri="{9D8B030D-6E8A-4147-A177-3AD203B41FA5}">
                      <a16:colId xmlns:a16="http://schemas.microsoft.com/office/drawing/2014/main" val="10037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400">
                          <a:effectLst/>
                        </a:rPr>
                        <a:t>Objectives: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400">
                          <a:effectLst/>
                        </a:rPr>
                        <a:t>Understanding of map production for spatial data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101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ctr"/>
                      <a:r>
                        <a:rPr lang="en-US" sz="2400">
                          <a:effectLst/>
                        </a:rPr>
                        <a:t>Keywords: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2400" dirty="0">
                          <a:effectLst/>
                        </a:rPr>
                        <a:t>Map production, map layout, scale bar, north arrow, legend, map body, map unit</a:t>
                      </a:r>
                    </a:p>
                  </a:txBody>
                  <a:tcPr marL="121920" marR="121920" marT="60960" marB="60960" anchor="ctr">
                    <a:lnL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1E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4596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2375" y="1203775"/>
            <a:ext cx="11780195" cy="49460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/>
            <a:r>
              <a:rPr sz="2824" spc="-4" dirty="0">
                <a:latin typeface="Arial"/>
                <a:cs typeface="Arial"/>
              </a:rPr>
              <a:t>The </a:t>
            </a:r>
            <a:r>
              <a:rPr sz="2824" spc="-9" dirty="0">
                <a:latin typeface="Arial"/>
                <a:cs typeface="Arial"/>
              </a:rPr>
              <a:t>science </a:t>
            </a:r>
            <a:r>
              <a:rPr sz="2824" spc="-4" dirty="0">
                <a:latin typeface="Arial"/>
                <a:cs typeface="Arial"/>
              </a:rPr>
              <a:t>and art of </a:t>
            </a:r>
            <a:r>
              <a:rPr sz="3200" b="1" spc="-4" dirty="0">
                <a:latin typeface="Arial"/>
                <a:cs typeface="Arial"/>
              </a:rPr>
              <a:t>map </a:t>
            </a:r>
            <a:r>
              <a:rPr sz="3200" b="1" spc="-9" dirty="0">
                <a:latin typeface="Arial"/>
                <a:cs typeface="Arial"/>
              </a:rPr>
              <a:t>making </a:t>
            </a:r>
            <a:r>
              <a:rPr sz="2824" spc="-9" dirty="0">
                <a:latin typeface="Arial"/>
                <a:cs typeface="Arial"/>
              </a:rPr>
              <a:t>techniques together </a:t>
            </a:r>
            <a:r>
              <a:rPr sz="2824" spc="-4" dirty="0">
                <a:latin typeface="Arial"/>
                <a:cs typeface="Arial"/>
              </a:rPr>
              <a:t>with their</a:t>
            </a:r>
            <a:r>
              <a:rPr sz="2824" spc="4" dirty="0">
                <a:latin typeface="Arial"/>
                <a:cs typeface="Arial"/>
              </a:rPr>
              <a:t> </a:t>
            </a:r>
            <a:r>
              <a:rPr sz="2824" spc="-9" dirty="0">
                <a:latin typeface="Arial"/>
                <a:cs typeface="Arial"/>
              </a:rPr>
              <a:t>study.</a:t>
            </a:r>
            <a:endParaRPr sz="2824" dirty="0">
              <a:latin typeface="Arial"/>
              <a:cs typeface="Arial"/>
            </a:endParaRPr>
          </a:p>
          <a:p>
            <a:pPr>
              <a:spcBef>
                <a:spcPts val="4"/>
              </a:spcBef>
            </a:pPr>
            <a:endParaRPr lang="en-US" sz="3221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r>
              <a:rPr lang="en-US" sz="3221" dirty="0">
                <a:latin typeface="Times New Roman"/>
                <a:cs typeface="Times New Roman"/>
              </a:rPr>
              <a:t>Types of cartography:</a:t>
            </a:r>
          </a:p>
          <a:p>
            <a:pPr>
              <a:spcBef>
                <a:spcPts val="4"/>
              </a:spcBef>
            </a:pPr>
            <a:endParaRPr sz="3221" dirty="0">
              <a:latin typeface="Times New Roman"/>
              <a:cs typeface="Times New Roman"/>
            </a:endParaRPr>
          </a:p>
          <a:p>
            <a:pPr marL="716654" indent="-201717">
              <a:buChar char="•"/>
              <a:tabLst>
                <a:tab pos="717215" algn="l"/>
              </a:tabLst>
            </a:pPr>
            <a:r>
              <a:rPr sz="2824" spc="-9" dirty="0">
                <a:latin typeface="Arial"/>
                <a:cs typeface="Arial"/>
              </a:rPr>
              <a:t>Maps</a:t>
            </a:r>
            <a:endParaRPr sz="2824" dirty="0">
              <a:latin typeface="Arial"/>
              <a:cs typeface="Arial"/>
            </a:endParaRPr>
          </a:p>
          <a:p>
            <a:pPr marL="716654" indent="-201717">
              <a:spcBef>
                <a:spcPts val="671"/>
              </a:spcBef>
              <a:buChar char="•"/>
              <a:tabLst>
                <a:tab pos="717215" algn="l"/>
              </a:tabLst>
            </a:pPr>
            <a:r>
              <a:rPr sz="2824" spc="-9" dirty="0">
                <a:latin typeface="Arial"/>
                <a:cs typeface="Arial"/>
              </a:rPr>
              <a:t>Plans</a:t>
            </a:r>
            <a:endParaRPr sz="2824" dirty="0">
              <a:latin typeface="Arial"/>
              <a:cs typeface="Arial"/>
            </a:endParaRPr>
          </a:p>
          <a:p>
            <a:pPr marL="716654" indent="-201717">
              <a:spcBef>
                <a:spcPts val="671"/>
              </a:spcBef>
              <a:buChar char="•"/>
              <a:tabLst>
                <a:tab pos="717215" algn="l"/>
              </a:tabLst>
            </a:pPr>
            <a:r>
              <a:rPr sz="2824" spc="-9" dirty="0">
                <a:latin typeface="Arial"/>
                <a:cs typeface="Arial"/>
              </a:rPr>
              <a:t>Charts</a:t>
            </a:r>
            <a:endParaRPr sz="2824" dirty="0">
              <a:latin typeface="Arial"/>
              <a:cs typeface="Arial"/>
            </a:endParaRPr>
          </a:p>
          <a:p>
            <a:pPr marL="717215" indent="-202277">
              <a:spcBef>
                <a:spcPts val="666"/>
              </a:spcBef>
              <a:buChar char="•"/>
              <a:tabLst>
                <a:tab pos="717215" algn="l"/>
              </a:tabLst>
            </a:pPr>
            <a:r>
              <a:rPr sz="2824" spc="-4" dirty="0">
                <a:latin typeface="Arial"/>
                <a:cs typeface="Arial"/>
              </a:rPr>
              <a:t>Three </a:t>
            </a:r>
            <a:r>
              <a:rPr sz="2824" spc="-9" dirty="0">
                <a:latin typeface="Arial"/>
                <a:cs typeface="Arial"/>
              </a:rPr>
              <a:t>dimensional</a:t>
            </a:r>
            <a:r>
              <a:rPr sz="2824" spc="-31" dirty="0">
                <a:latin typeface="Arial"/>
                <a:cs typeface="Arial"/>
              </a:rPr>
              <a:t> </a:t>
            </a:r>
            <a:r>
              <a:rPr sz="2824" spc="-9" dirty="0">
                <a:latin typeface="Arial"/>
                <a:cs typeface="Arial"/>
              </a:rPr>
              <a:t>models</a:t>
            </a:r>
            <a:endParaRPr sz="2824" dirty="0">
              <a:latin typeface="Arial"/>
              <a:cs typeface="Arial"/>
            </a:endParaRPr>
          </a:p>
          <a:p>
            <a:pPr marL="716654" indent="-201717">
              <a:spcBef>
                <a:spcPts val="671"/>
              </a:spcBef>
              <a:buChar char="•"/>
              <a:tabLst>
                <a:tab pos="717215" algn="l"/>
              </a:tabLst>
            </a:pPr>
            <a:r>
              <a:rPr sz="2824" spc="-9" dirty="0">
                <a:latin typeface="Arial"/>
                <a:cs typeface="Arial"/>
              </a:rPr>
              <a:t>Globes</a:t>
            </a:r>
            <a:endParaRPr sz="2824" dirty="0">
              <a:latin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9632F3-DBBB-44F8-9BEF-37362077A6DA}"/>
              </a:ext>
            </a:extLst>
          </p:cNvPr>
          <p:cNvSpPr/>
          <p:nvPr/>
        </p:nvSpPr>
        <p:spPr>
          <a:xfrm>
            <a:off x="0" y="73116"/>
            <a:ext cx="362701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spc="-4" dirty="0"/>
              <a:t>Cartography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4E61-ED35-4E57-92A9-3E21F8E6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dirty="0"/>
              <a:t>Map production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13A88-C4D4-4C4B-A8B0-1EA459C2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285" y="1507786"/>
            <a:ext cx="11546732" cy="5068111"/>
          </a:xfrm>
        </p:spPr>
        <p:txBody>
          <a:bodyPr/>
          <a:lstStyle/>
          <a:p>
            <a:r>
              <a:rPr lang="en-US" dirty="0"/>
              <a:t>is the process of arranging map elements on a sheet of paper in a way that, even without many words, the average person can understand what it is all about. </a:t>
            </a:r>
          </a:p>
          <a:p>
            <a:r>
              <a:rPr lang="en-US" dirty="0"/>
              <a:t>Maps are usually produced for presentations and reports where the audience or reader is a politician, citizen or a learner with no professional background in GIS. </a:t>
            </a:r>
          </a:p>
          <a:p>
            <a:r>
              <a:rPr lang="en-US" dirty="0"/>
              <a:t>Because of this, a map has to be effective in communicating spatial information.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8D269-8FD4-45E6-829C-79689948F8EA}"/>
              </a:ext>
            </a:extLst>
          </p:cNvPr>
          <p:cNvSpPr/>
          <p:nvPr/>
        </p:nvSpPr>
        <p:spPr>
          <a:xfrm>
            <a:off x="593387" y="5625299"/>
            <a:ext cx="1022377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11206" marR="4483"/>
            <a:r>
              <a:rPr lang="en-US" spc="-4" dirty="0">
                <a:latin typeface="Arial"/>
                <a:cs typeface="Arial"/>
              </a:rPr>
              <a:t>The </a:t>
            </a:r>
            <a:r>
              <a:rPr lang="en-US" spc="-9" dirty="0">
                <a:latin typeface="Arial"/>
                <a:cs typeface="Arial"/>
              </a:rPr>
              <a:t>science </a:t>
            </a:r>
            <a:r>
              <a:rPr lang="en-US" spc="-4" dirty="0">
                <a:latin typeface="Arial"/>
                <a:cs typeface="Arial"/>
              </a:rPr>
              <a:t>and art of </a:t>
            </a:r>
            <a:r>
              <a:rPr lang="en-US" b="1" spc="-4" dirty="0">
                <a:latin typeface="Arial"/>
                <a:cs typeface="Arial"/>
              </a:rPr>
              <a:t>map </a:t>
            </a:r>
            <a:r>
              <a:rPr lang="en-US" b="1" spc="-9" dirty="0">
                <a:latin typeface="Arial"/>
                <a:cs typeface="Arial"/>
              </a:rPr>
              <a:t>making </a:t>
            </a:r>
            <a:r>
              <a:rPr lang="en-US" spc="-9" dirty="0">
                <a:latin typeface="Arial"/>
                <a:cs typeface="Arial"/>
              </a:rPr>
              <a:t>techniques together </a:t>
            </a:r>
            <a:r>
              <a:rPr lang="en-US" spc="-4" dirty="0">
                <a:latin typeface="Arial"/>
                <a:cs typeface="Arial"/>
              </a:rPr>
              <a:t>with their</a:t>
            </a:r>
            <a:r>
              <a:rPr lang="en-US" spc="4" dirty="0">
                <a:latin typeface="Arial"/>
                <a:cs typeface="Arial"/>
              </a:rPr>
              <a:t> </a:t>
            </a:r>
            <a:r>
              <a:rPr lang="en-US" spc="-9" dirty="0">
                <a:latin typeface="Arial"/>
                <a:cs typeface="Arial"/>
              </a:rPr>
              <a:t>study is known as Cartography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738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62648" y="544749"/>
            <a:ext cx="11147898" cy="58544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0981" marR="4483" indent="-457200">
              <a:lnSpc>
                <a:spcPts val="3044"/>
              </a:lnSpc>
              <a:buFont typeface="Wingdings" panose="05000000000000000000" pitchFamily="2" charset="2"/>
              <a:buChar char="ü"/>
            </a:pPr>
            <a:r>
              <a:rPr sz="2400" spc="-4" dirty="0">
                <a:latin typeface="Arial"/>
                <a:cs typeface="Arial"/>
              </a:rPr>
              <a:t>A </a:t>
            </a:r>
            <a:r>
              <a:rPr sz="2400" spc="-9" dirty="0">
                <a:latin typeface="Arial"/>
                <a:cs typeface="Arial"/>
              </a:rPr>
              <a:t>representation </a:t>
            </a:r>
            <a:r>
              <a:rPr sz="2400" spc="-4" dirty="0">
                <a:latin typeface="Arial"/>
                <a:cs typeface="Arial"/>
              </a:rPr>
              <a:t>of a </a:t>
            </a:r>
            <a:r>
              <a:rPr sz="2400" spc="-9" dirty="0">
                <a:latin typeface="Arial"/>
                <a:cs typeface="Arial"/>
              </a:rPr>
              <a:t>small </a:t>
            </a:r>
            <a:r>
              <a:rPr sz="2400" spc="-4" dirty="0">
                <a:latin typeface="Arial"/>
                <a:cs typeface="Arial"/>
              </a:rPr>
              <a:t>or a </a:t>
            </a:r>
            <a:r>
              <a:rPr sz="2400" spc="-9" dirty="0">
                <a:latin typeface="Arial"/>
                <a:cs typeface="Arial"/>
              </a:rPr>
              <a:t>large area  </a:t>
            </a:r>
            <a:r>
              <a:rPr sz="2400" spc="-4" dirty="0">
                <a:latin typeface="Arial"/>
                <a:cs typeface="Arial"/>
              </a:rPr>
              <a:t>of the </a:t>
            </a:r>
            <a:r>
              <a:rPr sz="2400" spc="-9" dirty="0">
                <a:latin typeface="Arial"/>
                <a:cs typeface="Arial"/>
              </a:rPr>
              <a:t>earth </a:t>
            </a:r>
            <a:r>
              <a:rPr sz="2400" spc="-4" dirty="0">
                <a:latin typeface="Arial"/>
                <a:cs typeface="Arial"/>
              </a:rPr>
              <a:t>on a flat </a:t>
            </a:r>
            <a:r>
              <a:rPr sz="2400" spc="-9" dirty="0">
                <a:latin typeface="Arial"/>
                <a:cs typeface="Arial"/>
              </a:rPr>
              <a:t>piece </a:t>
            </a:r>
            <a:r>
              <a:rPr sz="2400" spc="-4" dirty="0">
                <a:latin typeface="Arial"/>
                <a:cs typeface="Arial"/>
              </a:rPr>
              <a:t>of</a:t>
            </a:r>
            <a:r>
              <a:rPr sz="2400" spc="-9" dirty="0">
                <a:latin typeface="Arial"/>
                <a:cs typeface="Arial"/>
              </a:rPr>
              <a:t> paper.</a:t>
            </a:r>
            <a:r>
              <a:rPr lang="en-US" sz="1400" dirty="0"/>
              <a:t> </a:t>
            </a:r>
          </a:p>
          <a:p>
            <a:pPr marL="313781" marR="4483">
              <a:lnSpc>
                <a:spcPts val="3044"/>
              </a:lnSpc>
            </a:pPr>
            <a:endParaRPr lang="en-US" sz="1400" dirty="0"/>
          </a:p>
          <a:p>
            <a:pPr marL="58738" marR="4483">
              <a:lnSpc>
                <a:spcPts val="3044"/>
              </a:lnSpc>
            </a:pPr>
            <a:r>
              <a:rPr lang="en-US" sz="2400" b="1" spc="-4" dirty="0">
                <a:latin typeface="Arial"/>
                <a:cs typeface="Arial"/>
              </a:rPr>
              <a:t>Common elements of a map are the </a:t>
            </a:r>
            <a:endParaRPr sz="2400" b="1" spc="-4" dirty="0">
              <a:latin typeface="Arial"/>
              <a:cs typeface="Arial"/>
            </a:endParaRPr>
          </a:p>
          <a:p>
            <a:pPr marL="313781" indent="-302575">
              <a:spcBef>
                <a:spcPts val="287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4" dirty="0">
                <a:latin typeface="Arial"/>
                <a:cs typeface="Arial"/>
              </a:rPr>
              <a:t>Title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4" dirty="0">
                <a:latin typeface="Arial"/>
                <a:cs typeface="Arial"/>
              </a:rPr>
              <a:t>Map</a:t>
            </a:r>
            <a:r>
              <a:rPr lang="en-US" sz="2824" spc="-4" dirty="0">
                <a:latin typeface="Arial"/>
                <a:cs typeface="Arial"/>
              </a:rPr>
              <a:t> body, 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4" dirty="0">
                <a:latin typeface="Arial"/>
                <a:cs typeface="Arial"/>
              </a:rPr>
              <a:t>North</a:t>
            </a:r>
            <a:r>
              <a:rPr sz="2824" spc="-75" dirty="0">
                <a:latin typeface="Arial"/>
                <a:cs typeface="Arial"/>
              </a:rPr>
              <a:t> </a:t>
            </a:r>
            <a:r>
              <a:rPr sz="2824" spc="-9" dirty="0">
                <a:latin typeface="Arial"/>
                <a:cs typeface="Arial"/>
              </a:rPr>
              <a:t>arrow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9" dirty="0">
                <a:latin typeface="Arial"/>
                <a:cs typeface="Arial"/>
              </a:rPr>
              <a:t>Projection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9" dirty="0">
                <a:latin typeface="Arial"/>
                <a:cs typeface="Arial"/>
              </a:rPr>
              <a:t>Scale</a:t>
            </a:r>
            <a:r>
              <a:rPr lang="en-US" sz="2824" spc="-9" dirty="0">
                <a:latin typeface="Arial"/>
                <a:cs typeface="Arial"/>
              </a:rPr>
              <a:t> Bar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9" dirty="0">
                <a:latin typeface="Arial"/>
                <a:cs typeface="Arial"/>
              </a:rPr>
              <a:t>Legend</a:t>
            </a:r>
            <a:endParaRPr sz="2824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r>
              <a:rPr sz="2824" spc="-4" dirty="0">
                <a:latin typeface="Arial"/>
                <a:cs typeface="Arial"/>
              </a:rPr>
              <a:t>Source</a:t>
            </a:r>
            <a:r>
              <a:rPr sz="2824" spc="-62" dirty="0">
                <a:latin typeface="Arial"/>
                <a:cs typeface="Arial"/>
              </a:rPr>
              <a:t> </a:t>
            </a:r>
            <a:r>
              <a:rPr sz="2824" spc="-9" dirty="0">
                <a:latin typeface="Arial"/>
                <a:cs typeface="Arial"/>
              </a:rPr>
              <a:t>statement</a:t>
            </a:r>
            <a:r>
              <a:rPr lang="en-US" sz="2824" spc="-9" dirty="0">
                <a:latin typeface="Arial"/>
                <a:cs typeface="Arial"/>
              </a:rPr>
              <a:t> (Acknowledgment)</a:t>
            </a:r>
          </a:p>
          <a:p>
            <a:pPr marL="313221" indent="-302015">
              <a:spcBef>
                <a:spcPts val="326"/>
              </a:spcBef>
              <a:buFontTx/>
              <a:buChar char="•"/>
              <a:tabLst>
                <a:tab pos="313221" algn="l"/>
                <a:tab pos="313781" algn="l"/>
              </a:tabLst>
            </a:pPr>
            <a:r>
              <a:rPr lang="en-US" sz="3200" dirty="0"/>
              <a:t>Map border </a:t>
            </a:r>
            <a:endParaRPr lang="en-US" sz="4800" dirty="0">
              <a:latin typeface="Arial"/>
              <a:cs typeface="Arial"/>
            </a:endParaRPr>
          </a:p>
          <a:p>
            <a:pPr marL="313221" indent="-302015">
              <a:spcBef>
                <a:spcPts val="326"/>
              </a:spcBef>
              <a:buChar char="•"/>
              <a:tabLst>
                <a:tab pos="313221" algn="l"/>
                <a:tab pos="313781" algn="l"/>
              </a:tabLst>
            </a:pPr>
            <a:endParaRPr sz="2824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F7FEEA8-585C-4294-9BD6-C33745F16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9148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8681" y="402070"/>
            <a:ext cx="9278471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878944">
              <a:lnSpc>
                <a:spcPct val="100000"/>
              </a:lnSpc>
            </a:pPr>
            <a:r>
              <a:rPr sz="4800" b="1" spc="-4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6876" y="1803887"/>
            <a:ext cx="10778247" cy="4455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781" marR="4483">
              <a:lnSpc>
                <a:spcPct val="109800"/>
              </a:lnSpc>
            </a:pPr>
            <a:r>
              <a:rPr sz="3200" spc="-9" dirty="0">
                <a:latin typeface="Arial"/>
                <a:cs typeface="Arial"/>
              </a:rPr>
              <a:t>Ratio between </a:t>
            </a:r>
            <a:r>
              <a:rPr sz="3200" spc="-4" dirty="0">
                <a:latin typeface="Arial"/>
                <a:cs typeface="Arial"/>
              </a:rPr>
              <a:t>map </a:t>
            </a:r>
            <a:r>
              <a:rPr sz="3200" spc="-9" dirty="0">
                <a:latin typeface="Arial"/>
                <a:cs typeface="Arial"/>
              </a:rPr>
              <a:t>distance </a:t>
            </a:r>
            <a:r>
              <a:rPr sz="3200" spc="-4" dirty="0">
                <a:latin typeface="Arial"/>
                <a:cs typeface="Arial"/>
              </a:rPr>
              <a:t>and </a:t>
            </a:r>
            <a:r>
              <a:rPr sz="3200" spc="-9" dirty="0">
                <a:latin typeface="Arial"/>
                <a:cs typeface="Arial"/>
              </a:rPr>
              <a:t>ground  distance </a:t>
            </a:r>
            <a:r>
              <a:rPr sz="3200" spc="-4" dirty="0">
                <a:latin typeface="Arial"/>
                <a:cs typeface="Arial"/>
              </a:rPr>
              <a:t>is </a:t>
            </a:r>
            <a:r>
              <a:rPr sz="3200" spc="-9" dirty="0">
                <a:latin typeface="Arial"/>
                <a:cs typeface="Arial"/>
              </a:rPr>
              <a:t>termed </a:t>
            </a:r>
            <a:r>
              <a:rPr sz="3200" spc="-4" dirty="0">
                <a:latin typeface="Arial"/>
                <a:cs typeface="Arial"/>
              </a:rPr>
              <a:t>as map </a:t>
            </a:r>
            <a:r>
              <a:rPr sz="3200" spc="-9" dirty="0">
                <a:latin typeface="Arial"/>
                <a:cs typeface="Arial"/>
              </a:rPr>
              <a:t>scale </a:t>
            </a:r>
            <a:endParaRPr lang="en-US" sz="3200" spc="-9" dirty="0">
              <a:latin typeface="Arial"/>
              <a:cs typeface="Arial"/>
            </a:endParaRPr>
          </a:p>
          <a:p>
            <a:pPr marL="313781" marR="4483">
              <a:lnSpc>
                <a:spcPct val="109800"/>
              </a:lnSpc>
            </a:pPr>
            <a:endParaRPr lang="en-US" sz="3200" spc="-9" dirty="0">
              <a:latin typeface="Arial"/>
              <a:cs typeface="Arial"/>
            </a:endParaRPr>
          </a:p>
          <a:p>
            <a:pPr marL="313781" marR="4483">
              <a:lnSpc>
                <a:spcPct val="109800"/>
              </a:lnSpc>
            </a:pPr>
            <a:r>
              <a:rPr sz="3200" b="1" u="heavy" spc="-9" dirty="0">
                <a:latin typeface="Arial"/>
                <a:cs typeface="Arial"/>
              </a:rPr>
              <a:t>Expression </a:t>
            </a:r>
            <a:r>
              <a:rPr sz="3200" b="1" u="heavy" spc="-4" dirty="0">
                <a:latin typeface="Arial"/>
                <a:cs typeface="Arial"/>
              </a:rPr>
              <a:t>of</a:t>
            </a:r>
            <a:r>
              <a:rPr sz="3200" b="1" u="heavy" spc="-31" dirty="0">
                <a:latin typeface="Arial"/>
                <a:cs typeface="Arial"/>
              </a:rPr>
              <a:t> </a:t>
            </a:r>
            <a:r>
              <a:rPr sz="3200" b="1" u="heavy" spc="-9" dirty="0">
                <a:latin typeface="Arial"/>
                <a:cs typeface="Arial"/>
              </a:rPr>
              <a:t>Scale</a:t>
            </a:r>
            <a:endParaRPr lang="en-US" sz="3200" b="1" u="heavy" spc="-9" dirty="0">
              <a:latin typeface="Arial"/>
              <a:cs typeface="Arial"/>
            </a:endParaRPr>
          </a:p>
          <a:p>
            <a:pPr marL="313781" marR="4483">
              <a:lnSpc>
                <a:spcPct val="109800"/>
              </a:lnSpc>
            </a:pPr>
            <a:endParaRPr sz="3200" dirty="0">
              <a:latin typeface="Arial"/>
              <a:cs typeface="Arial"/>
            </a:endParaRPr>
          </a:p>
          <a:p>
            <a:pPr marL="313221" indent="-302015">
              <a:spcBef>
                <a:spcPts val="671"/>
              </a:spcBef>
              <a:buChar char="•"/>
              <a:tabLst>
                <a:tab pos="313221" algn="l"/>
                <a:tab pos="313781" algn="l"/>
              </a:tabLst>
            </a:pPr>
            <a:r>
              <a:rPr sz="3200" spc="-4" dirty="0">
                <a:latin typeface="Arial"/>
                <a:cs typeface="Arial"/>
              </a:rPr>
              <a:t>Statement of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9" dirty="0">
                <a:latin typeface="Arial"/>
                <a:cs typeface="Arial"/>
              </a:rPr>
              <a:t>Scale</a:t>
            </a:r>
            <a:endParaRPr sz="3200" dirty="0">
              <a:latin typeface="Arial"/>
              <a:cs typeface="Arial"/>
            </a:endParaRPr>
          </a:p>
          <a:p>
            <a:pPr marL="313221" indent="-302015">
              <a:spcBef>
                <a:spcPts val="671"/>
              </a:spcBef>
              <a:buChar char="•"/>
              <a:tabLst>
                <a:tab pos="313221" algn="l"/>
                <a:tab pos="313781" algn="l"/>
              </a:tabLst>
            </a:pPr>
            <a:r>
              <a:rPr sz="3200" spc="-9" dirty="0">
                <a:latin typeface="Arial"/>
                <a:cs typeface="Arial"/>
              </a:rPr>
              <a:t>Representative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9" dirty="0">
                <a:latin typeface="Arial"/>
                <a:cs typeface="Arial"/>
              </a:rPr>
              <a:t>Fraction</a:t>
            </a:r>
            <a:endParaRPr sz="3200" dirty="0">
              <a:latin typeface="Arial"/>
              <a:cs typeface="Arial"/>
            </a:endParaRPr>
          </a:p>
          <a:p>
            <a:pPr marL="313221" indent="-302015">
              <a:spcBef>
                <a:spcPts val="666"/>
              </a:spcBef>
              <a:buChar char="•"/>
              <a:tabLst>
                <a:tab pos="313221" algn="l"/>
                <a:tab pos="313781" algn="l"/>
              </a:tabLst>
            </a:pPr>
            <a:r>
              <a:rPr sz="3200" spc="-9" dirty="0">
                <a:latin typeface="Arial"/>
                <a:cs typeface="Arial"/>
              </a:rPr>
              <a:t>Linear</a:t>
            </a:r>
            <a:r>
              <a:rPr sz="3200" spc="-53" dirty="0">
                <a:latin typeface="Arial"/>
                <a:cs typeface="Arial"/>
              </a:rPr>
              <a:t> </a:t>
            </a:r>
            <a:r>
              <a:rPr sz="3200" spc="-9" dirty="0">
                <a:latin typeface="Arial"/>
                <a:cs typeface="Arial"/>
              </a:rPr>
              <a:t>Scale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608208"/>
            <a:ext cx="9278471" cy="59753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081986">
              <a:lnSpc>
                <a:spcPct val="100000"/>
              </a:lnSpc>
            </a:pPr>
            <a:r>
              <a:rPr spc="-4" dirty="0"/>
              <a:t>Units of</a:t>
            </a:r>
            <a:r>
              <a:rPr spc="-18" dirty="0"/>
              <a:t> </a:t>
            </a:r>
            <a:r>
              <a:rPr spc="-4" dirty="0"/>
              <a:t>measurement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85452" y="2138923"/>
          <a:ext cx="3563471" cy="39937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3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808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12 inches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Foot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75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3 Feet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Yard</a:t>
                      </a: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09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220 Yards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Furlong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08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1760 Furlongs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Mile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754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63360 Inches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Mile</a:t>
                      </a: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21276" y="3147452"/>
          <a:ext cx="3294529" cy="24473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4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489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100 cms = 1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Meter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28575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908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1000 Meters = 1</a:t>
                      </a:r>
                      <a:r>
                        <a:rPr sz="25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Km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12700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56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500" dirty="0">
                          <a:latin typeface="Arial"/>
                          <a:cs typeface="Arial"/>
                        </a:rPr>
                        <a:t>100,000 cms = 1</a:t>
                      </a:r>
                      <a:r>
                        <a:rPr sz="25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500" dirty="0">
                          <a:latin typeface="Arial"/>
                          <a:cs typeface="Arial"/>
                        </a:rPr>
                        <a:t>km</a:t>
                      </a:r>
                      <a:endParaRPr sz="2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10101"/>
                      </a:solidFill>
                      <a:prstDash val="solid"/>
                    </a:lnL>
                    <a:lnR w="28575">
                      <a:solidFill>
                        <a:srgbClr val="010101"/>
                      </a:solidFill>
                      <a:prstDash val="solid"/>
                    </a:lnR>
                    <a:lnT w="12700">
                      <a:solidFill>
                        <a:srgbClr val="010101"/>
                      </a:solidFill>
                      <a:prstDash val="solid"/>
                    </a:lnT>
                    <a:lnB w="28575">
                      <a:solidFill>
                        <a:srgbClr val="01010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73325" y="1648608"/>
            <a:ext cx="1634938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spc="-4" dirty="0">
                <a:latin typeface="Arial"/>
                <a:cs typeface="Arial"/>
              </a:rPr>
              <a:t>Non-Metric</a:t>
            </a:r>
            <a:r>
              <a:rPr sz="1588" b="1" spc="-93" dirty="0">
                <a:latin typeface="Arial"/>
                <a:cs typeface="Arial"/>
              </a:rPr>
              <a:t> </a:t>
            </a:r>
            <a:r>
              <a:rPr sz="1588" b="1" spc="-4" dirty="0">
                <a:latin typeface="Arial"/>
                <a:cs typeface="Arial"/>
              </a:rPr>
              <a:t>Units</a:t>
            </a:r>
            <a:endParaRPr sz="15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07443" y="2724362"/>
            <a:ext cx="1176618" cy="2443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1588" b="1" dirty="0">
                <a:latin typeface="Arial"/>
                <a:cs typeface="Arial"/>
              </a:rPr>
              <a:t>Metric</a:t>
            </a:r>
            <a:r>
              <a:rPr sz="1588" b="1" spc="-97" dirty="0">
                <a:latin typeface="Arial"/>
                <a:cs typeface="Arial"/>
              </a:rPr>
              <a:t> </a:t>
            </a:r>
            <a:r>
              <a:rPr sz="1588" b="1" dirty="0">
                <a:latin typeface="Arial"/>
                <a:cs typeface="Arial"/>
              </a:rPr>
              <a:t>Units</a:t>
            </a:r>
            <a:endParaRPr sz="1588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8422"/>
            <a:ext cx="9278471" cy="6771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315641">
              <a:lnSpc>
                <a:spcPct val="100000"/>
              </a:lnSpc>
            </a:pPr>
            <a:r>
              <a:rPr spc="-4" dirty="0"/>
              <a:t>Expression of</a:t>
            </a:r>
            <a:r>
              <a:rPr spc="-22" dirty="0"/>
              <a:t> </a:t>
            </a:r>
            <a:r>
              <a:rPr spc="-4" dirty="0"/>
              <a:t>Scale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53311" y="1610846"/>
            <a:ext cx="10723219" cy="3782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3">
              <a:lnSpc>
                <a:spcPct val="100000"/>
              </a:lnSpc>
            </a:pPr>
            <a:r>
              <a:rPr sz="2824" u="heavy" spc="-9" dirty="0"/>
              <a:t>Statement </a:t>
            </a:r>
            <a:r>
              <a:rPr sz="2824" u="heavy" spc="-4" dirty="0"/>
              <a:t>of</a:t>
            </a:r>
            <a:r>
              <a:rPr sz="2824" u="heavy" spc="-35" dirty="0"/>
              <a:t> </a:t>
            </a:r>
            <a:r>
              <a:rPr sz="2824" u="heavy" spc="-9" dirty="0"/>
              <a:t>Scale</a:t>
            </a:r>
            <a:endParaRPr sz="2824" dirty="0"/>
          </a:p>
          <a:p>
            <a:pPr marL="1966749" indent="0">
              <a:lnSpc>
                <a:spcPct val="100000"/>
              </a:lnSpc>
              <a:spcBef>
                <a:spcPts val="671"/>
              </a:spcBef>
              <a:buNone/>
            </a:pPr>
            <a:r>
              <a:rPr lang="en-US" sz="2824" spc="-4" dirty="0"/>
              <a:t>	</a:t>
            </a:r>
            <a:r>
              <a:rPr sz="2824" spc="-4" dirty="0"/>
              <a:t>3 </a:t>
            </a:r>
            <a:r>
              <a:rPr sz="2824" spc="-9" dirty="0"/>
              <a:t>Inches </a:t>
            </a:r>
            <a:r>
              <a:rPr sz="2824" spc="-4" dirty="0"/>
              <a:t>= 1</a:t>
            </a:r>
            <a:r>
              <a:rPr sz="2824" spc="-44" dirty="0"/>
              <a:t> </a:t>
            </a:r>
            <a:r>
              <a:rPr sz="2824" spc="-9" dirty="0"/>
              <a:t>Mile</a:t>
            </a:r>
            <a:endParaRPr sz="2824" dirty="0"/>
          </a:p>
          <a:p>
            <a:pPr marL="5043" marR="2024451" indent="0">
              <a:lnSpc>
                <a:spcPts val="4059"/>
              </a:lnSpc>
              <a:spcBef>
                <a:spcPts val="243"/>
              </a:spcBef>
              <a:buNone/>
            </a:pPr>
            <a:r>
              <a:rPr lang="en-US" sz="2824" spc="-4" dirty="0"/>
              <a:t>			</a:t>
            </a:r>
            <a:r>
              <a:rPr sz="2824" spc="-4" dirty="0"/>
              <a:t>1 cm = 1</a:t>
            </a:r>
            <a:r>
              <a:rPr sz="2824" spc="-71" dirty="0"/>
              <a:t> </a:t>
            </a:r>
            <a:r>
              <a:rPr sz="2824" spc="-4" dirty="0"/>
              <a:t>Km  </a:t>
            </a:r>
            <a:endParaRPr lang="en-US" sz="2824" spc="-4" dirty="0"/>
          </a:p>
          <a:p>
            <a:pPr marL="5043" marR="2024451" indent="0">
              <a:lnSpc>
                <a:spcPts val="4059"/>
              </a:lnSpc>
              <a:spcBef>
                <a:spcPts val="243"/>
              </a:spcBef>
              <a:buNone/>
            </a:pPr>
            <a:endParaRPr lang="en-US" sz="2824" spc="-4" dirty="0"/>
          </a:p>
          <a:p>
            <a:pPr marL="5043" marR="2024451" indent="0">
              <a:lnSpc>
                <a:spcPts val="4059"/>
              </a:lnSpc>
              <a:spcBef>
                <a:spcPts val="243"/>
              </a:spcBef>
              <a:buNone/>
            </a:pPr>
            <a:r>
              <a:rPr sz="2824" u="heavy" spc="-9" dirty="0"/>
              <a:t>Representative</a:t>
            </a:r>
            <a:r>
              <a:rPr sz="2824" u="heavy" spc="-13" dirty="0"/>
              <a:t> </a:t>
            </a:r>
            <a:r>
              <a:rPr sz="2824" u="heavy" spc="-9" dirty="0"/>
              <a:t>Fraction</a:t>
            </a:r>
            <a:endParaRPr lang="en-US" sz="2824" u="heavy" spc="-9" dirty="0"/>
          </a:p>
          <a:p>
            <a:pPr marL="5043" marR="2024451" indent="0">
              <a:lnSpc>
                <a:spcPts val="4059"/>
              </a:lnSpc>
              <a:spcBef>
                <a:spcPts val="243"/>
              </a:spcBef>
              <a:buNone/>
            </a:pPr>
            <a:endParaRPr sz="2824" dirty="0"/>
          </a:p>
          <a:p>
            <a:pPr marL="522782" marR="4483" indent="0">
              <a:lnSpc>
                <a:spcPts val="4059"/>
              </a:lnSpc>
              <a:buNone/>
            </a:pPr>
            <a:r>
              <a:rPr lang="en-US" sz="2824" spc="-4" dirty="0"/>
              <a:t>		</a:t>
            </a:r>
            <a:r>
              <a:rPr sz="2824" spc="-4" dirty="0"/>
              <a:t>R.F = Map </a:t>
            </a:r>
            <a:r>
              <a:rPr sz="2824" spc="-9" dirty="0"/>
              <a:t>Distance/ Ground Distance  1/63360</a:t>
            </a:r>
            <a:endParaRPr sz="282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8422"/>
            <a:ext cx="9278471" cy="6771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315641">
              <a:lnSpc>
                <a:spcPct val="100000"/>
              </a:lnSpc>
            </a:pPr>
            <a:r>
              <a:rPr spc="-4" dirty="0"/>
              <a:t>Expression of</a:t>
            </a:r>
            <a:r>
              <a:rPr spc="-22" dirty="0"/>
              <a:t> </a:t>
            </a:r>
            <a:r>
              <a:rPr spc="-4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68208" y="1846056"/>
            <a:ext cx="6514540" cy="3928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885"/>
            <a:r>
              <a:rPr sz="2824" u="heavy" spc="-4" dirty="0">
                <a:latin typeface="Arial"/>
                <a:cs typeface="Arial"/>
              </a:rPr>
              <a:t>1 inch = 4</a:t>
            </a:r>
            <a:r>
              <a:rPr sz="2824" u="heavy" spc="-71" dirty="0">
                <a:latin typeface="Arial"/>
                <a:cs typeface="Arial"/>
              </a:rPr>
              <a:t> </a:t>
            </a:r>
            <a:r>
              <a:rPr sz="2824" u="heavy" spc="-9" dirty="0">
                <a:latin typeface="Arial"/>
                <a:cs typeface="Arial"/>
              </a:rPr>
              <a:t>miles</a:t>
            </a:r>
            <a:endParaRPr sz="2824">
              <a:latin typeface="Arial"/>
              <a:cs typeface="Arial"/>
            </a:endParaRPr>
          </a:p>
          <a:p>
            <a:pPr marL="1893895">
              <a:spcBef>
                <a:spcPts val="2466"/>
              </a:spcBef>
            </a:pPr>
            <a:r>
              <a:rPr sz="1765" spc="-4" dirty="0">
                <a:latin typeface="Arial"/>
                <a:cs typeface="Arial"/>
              </a:rPr>
              <a:t>1 mile = </a:t>
            </a:r>
            <a:r>
              <a:rPr sz="1765" spc="-9" dirty="0">
                <a:latin typeface="Arial"/>
                <a:cs typeface="Arial"/>
              </a:rPr>
              <a:t>63360</a:t>
            </a:r>
            <a:r>
              <a:rPr sz="1765" spc="-66" dirty="0">
                <a:latin typeface="Arial"/>
                <a:cs typeface="Arial"/>
              </a:rPr>
              <a:t> </a:t>
            </a:r>
            <a:r>
              <a:rPr sz="1765" spc="-4" dirty="0">
                <a:latin typeface="Arial"/>
                <a:cs typeface="Arial"/>
              </a:rPr>
              <a:t>inches</a:t>
            </a:r>
            <a:endParaRPr sz="1765">
              <a:latin typeface="Arial"/>
              <a:cs typeface="Arial"/>
            </a:endParaRPr>
          </a:p>
          <a:p>
            <a:pPr marL="1893895">
              <a:spcBef>
                <a:spcPts val="1059"/>
              </a:spcBef>
            </a:pPr>
            <a:r>
              <a:rPr sz="1765" spc="-4" dirty="0">
                <a:latin typeface="Arial"/>
                <a:cs typeface="Arial"/>
              </a:rPr>
              <a:t>4 </a:t>
            </a:r>
            <a:r>
              <a:rPr sz="1765" spc="-9" dirty="0">
                <a:latin typeface="Arial"/>
                <a:cs typeface="Arial"/>
              </a:rPr>
              <a:t>miles= 63360 </a:t>
            </a:r>
            <a:r>
              <a:rPr sz="1765" spc="-4" dirty="0">
                <a:latin typeface="Arial"/>
                <a:cs typeface="Arial"/>
              </a:rPr>
              <a:t>* 4 = </a:t>
            </a:r>
            <a:r>
              <a:rPr sz="1765" spc="-9" dirty="0">
                <a:latin typeface="Arial"/>
                <a:cs typeface="Arial"/>
              </a:rPr>
              <a:t>253440</a:t>
            </a:r>
            <a:r>
              <a:rPr sz="1765" spc="35" dirty="0">
                <a:latin typeface="Arial"/>
                <a:cs typeface="Arial"/>
              </a:rPr>
              <a:t> </a:t>
            </a:r>
            <a:r>
              <a:rPr sz="1765" spc="-9" dirty="0">
                <a:latin typeface="Arial"/>
                <a:cs typeface="Arial"/>
              </a:rPr>
              <a:t>inches</a:t>
            </a:r>
            <a:endParaRPr sz="1765">
              <a:latin typeface="Arial"/>
              <a:cs typeface="Arial"/>
            </a:endParaRPr>
          </a:p>
          <a:p>
            <a:pPr marL="1893895">
              <a:spcBef>
                <a:spcPts val="1059"/>
              </a:spcBef>
            </a:pPr>
            <a:r>
              <a:rPr sz="1765" spc="-4" dirty="0">
                <a:latin typeface="Arial"/>
                <a:cs typeface="Arial"/>
              </a:rPr>
              <a:t>R.F. = 1 /</a:t>
            </a:r>
            <a:r>
              <a:rPr sz="1765" spc="-71" dirty="0">
                <a:latin typeface="Arial"/>
                <a:cs typeface="Arial"/>
              </a:rPr>
              <a:t> </a:t>
            </a:r>
            <a:r>
              <a:rPr sz="1765" spc="-9" dirty="0">
                <a:latin typeface="Arial"/>
                <a:cs typeface="Arial"/>
              </a:rPr>
              <a:t>253440</a:t>
            </a:r>
            <a:endParaRPr sz="1765">
              <a:latin typeface="Arial"/>
              <a:cs typeface="Arial"/>
            </a:endParaRPr>
          </a:p>
          <a:p>
            <a:pPr marL="11206">
              <a:spcBef>
                <a:spcPts val="1553"/>
              </a:spcBef>
            </a:pPr>
            <a:r>
              <a:rPr sz="2824" u="heavy" spc="-9" dirty="0">
                <a:latin typeface="Arial"/>
                <a:cs typeface="Arial"/>
              </a:rPr>
              <a:t>1/250,000</a:t>
            </a:r>
            <a:r>
              <a:rPr sz="2824" u="heavy" spc="-35" dirty="0">
                <a:latin typeface="Arial"/>
                <a:cs typeface="Arial"/>
              </a:rPr>
              <a:t> </a:t>
            </a:r>
            <a:r>
              <a:rPr sz="2824" u="heavy" spc="-9" dirty="0">
                <a:latin typeface="Arial"/>
                <a:cs typeface="Arial"/>
              </a:rPr>
              <a:t>(miles)</a:t>
            </a:r>
            <a:endParaRPr sz="2824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3">
              <a:latin typeface="Times New Roman"/>
              <a:cs typeface="Times New Roman"/>
            </a:endParaRPr>
          </a:p>
          <a:p>
            <a:pPr marL="1961134"/>
            <a:r>
              <a:rPr sz="1765" spc="-9" dirty="0">
                <a:latin typeface="Arial"/>
                <a:cs typeface="Arial"/>
              </a:rPr>
              <a:t>63360 </a:t>
            </a:r>
            <a:r>
              <a:rPr sz="1765" spc="-4" dirty="0">
                <a:latin typeface="Arial"/>
                <a:cs typeface="Arial"/>
              </a:rPr>
              <a:t>inches = 1</a:t>
            </a:r>
            <a:r>
              <a:rPr sz="1765" spc="-31" dirty="0">
                <a:latin typeface="Arial"/>
                <a:cs typeface="Arial"/>
              </a:rPr>
              <a:t> </a:t>
            </a:r>
            <a:r>
              <a:rPr sz="1765" spc="-9" dirty="0">
                <a:latin typeface="Arial"/>
                <a:cs typeface="Arial"/>
              </a:rPr>
              <a:t>mile</a:t>
            </a:r>
            <a:endParaRPr sz="1765">
              <a:latin typeface="Arial"/>
              <a:cs typeface="Arial"/>
            </a:endParaRPr>
          </a:p>
          <a:p>
            <a:pPr marL="1961134" marR="4483">
              <a:lnSpc>
                <a:spcPct val="150000"/>
              </a:lnSpc>
            </a:pPr>
            <a:r>
              <a:rPr sz="1765" spc="-9" dirty="0">
                <a:latin typeface="Arial"/>
                <a:cs typeface="Arial"/>
              </a:rPr>
              <a:t>250,000 inches </a:t>
            </a:r>
            <a:r>
              <a:rPr sz="1765" spc="-4" dirty="0">
                <a:latin typeface="Arial"/>
                <a:cs typeface="Arial"/>
              </a:rPr>
              <a:t>= 250,000/63360 = 3.95 </a:t>
            </a:r>
            <a:r>
              <a:rPr sz="1765" spc="-9" dirty="0">
                <a:latin typeface="Arial"/>
                <a:cs typeface="Arial"/>
              </a:rPr>
              <a:t>miles  </a:t>
            </a:r>
            <a:r>
              <a:rPr sz="1765" spc="-4" dirty="0">
                <a:latin typeface="Arial"/>
                <a:cs typeface="Arial"/>
              </a:rPr>
              <a:t>1 inch = 3.95</a:t>
            </a:r>
            <a:r>
              <a:rPr sz="1765" spc="-71" dirty="0">
                <a:latin typeface="Arial"/>
                <a:cs typeface="Arial"/>
              </a:rPr>
              <a:t> </a:t>
            </a:r>
            <a:r>
              <a:rPr sz="1765" spc="-9" dirty="0">
                <a:latin typeface="Arial"/>
                <a:cs typeface="Arial"/>
              </a:rPr>
              <a:t>miles</a:t>
            </a:r>
            <a:endParaRPr sz="176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8059" y="568422"/>
            <a:ext cx="9278471" cy="67710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315641">
              <a:lnSpc>
                <a:spcPct val="100000"/>
              </a:lnSpc>
            </a:pPr>
            <a:r>
              <a:rPr spc="-4" dirty="0"/>
              <a:t>Expression of</a:t>
            </a:r>
            <a:r>
              <a:rPr spc="-22" dirty="0"/>
              <a:t> </a:t>
            </a:r>
            <a:r>
              <a:rPr spc="-4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5443" y="1846056"/>
            <a:ext cx="2012576" cy="4346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/>
            <a:r>
              <a:rPr sz="2824" u="heavy" spc="-9" dirty="0">
                <a:latin typeface="Arial"/>
                <a:cs typeface="Arial"/>
              </a:rPr>
              <a:t>Linear</a:t>
            </a:r>
            <a:r>
              <a:rPr sz="2824" u="heavy" spc="-53" dirty="0">
                <a:latin typeface="Arial"/>
                <a:cs typeface="Arial"/>
              </a:rPr>
              <a:t> </a:t>
            </a:r>
            <a:r>
              <a:rPr sz="2824" u="heavy" spc="-9" dirty="0">
                <a:latin typeface="Arial"/>
                <a:cs typeface="Arial"/>
              </a:rPr>
              <a:t>Scale</a:t>
            </a:r>
            <a:endParaRPr sz="2824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0081" y="4044999"/>
            <a:ext cx="2989868" cy="8663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>
              <a:lnSpc>
                <a:spcPct val="150000"/>
              </a:lnSpc>
            </a:pPr>
            <a:r>
              <a:rPr sz="2000" spc="-4" dirty="0">
                <a:latin typeface="Arial"/>
                <a:cs typeface="Arial"/>
              </a:rPr>
              <a:t>1 inch = 100</a:t>
            </a:r>
            <a:r>
              <a:rPr sz="2000" spc="-66" dirty="0">
                <a:latin typeface="Arial"/>
                <a:cs typeface="Arial"/>
              </a:rPr>
              <a:t> </a:t>
            </a:r>
            <a:r>
              <a:rPr sz="2000" spc="-9" dirty="0">
                <a:latin typeface="Arial"/>
                <a:cs typeface="Arial"/>
              </a:rPr>
              <a:t>miles  </a:t>
            </a:r>
            <a:r>
              <a:rPr sz="2000" spc="-4" dirty="0">
                <a:latin typeface="Arial"/>
                <a:cs typeface="Arial"/>
              </a:rPr>
              <a:t>1/6336000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03898" y="5513295"/>
            <a:ext cx="7937770" cy="404409"/>
          </a:xfrm>
          <a:prstGeom prst="rect">
            <a:avLst/>
          </a:prstGeom>
          <a:ln w="38100">
            <a:solidFill>
              <a:srgbClr val="010101"/>
            </a:solidFill>
          </a:ln>
        </p:spPr>
        <p:txBody>
          <a:bodyPr vert="horz" wrap="square" lIns="0" tIns="34738" rIns="0" bIns="0" rtlCol="0">
            <a:spAutoFit/>
          </a:bodyPr>
          <a:lstStyle/>
          <a:p>
            <a:pPr marL="81247">
              <a:spcBef>
                <a:spcPts val="274"/>
              </a:spcBef>
            </a:pPr>
            <a:r>
              <a:rPr sz="2400" spc="-4" dirty="0">
                <a:latin typeface="Arial"/>
                <a:cs typeface="Arial"/>
              </a:rPr>
              <a:t>Express 1 </a:t>
            </a:r>
            <a:r>
              <a:rPr sz="2400" dirty="0">
                <a:latin typeface="Arial"/>
                <a:cs typeface="Arial"/>
              </a:rPr>
              <a:t>/ </a:t>
            </a:r>
            <a:r>
              <a:rPr sz="2400" spc="-4" dirty="0">
                <a:latin typeface="Arial"/>
                <a:cs typeface="Arial"/>
              </a:rPr>
              <a:t>1,000,000 by a plain scale to show</a:t>
            </a:r>
            <a:r>
              <a:rPr sz="2400" spc="-22" dirty="0">
                <a:latin typeface="Arial"/>
                <a:cs typeface="Arial"/>
              </a:rPr>
              <a:t> </a:t>
            </a:r>
            <a:r>
              <a:rPr sz="2400" spc="-9" dirty="0">
                <a:latin typeface="Arial"/>
                <a:cs typeface="Arial"/>
              </a:rPr>
              <a:t>kilometers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731" y="2713225"/>
            <a:ext cx="5041975" cy="121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6764" y="328580"/>
            <a:ext cx="9278471" cy="92333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672567">
              <a:lnSpc>
                <a:spcPct val="100000"/>
              </a:lnSpc>
            </a:pPr>
            <a:r>
              <a:rPr sz="6000" b="1" spc="-4" dirty="0"/>
              <a:t>Classes of</a:t>
            </a:r>
            <a:r>
              <a:rPr sz="6000" b="1" spc="-35" dirty="0"/>
              <a:t> </a:t>
            </a:r>
            <a:r>
              <a:rPr sz="6000" b="1" spc="-4" dirty="0"/>
              <a:t>Maps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5443" y="1846056"/>
            <a:ext cx="7503502" cy="3508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21" indent="-302015">
              <a:buChar char="•"/>
              <a:tabLst>
                <a:tab pos="313221" algn="l"/>
                <a:tab pos="313781" algn="l"/>
              </a:tabLst>
            </a:pPr>
            <a:r>
              <a:rPr sz="4000" spc="-9" dirty="0">
                <a:latin typeface="Arial"/>
                <a:cs typeface="Arial"/>
              </a:rPr>
              <a:t>Scale</a:t>
            </a:r>
            <a:endParaRPr sz="4000" dirty="0">
              <a:latin typeface="Arial"/>
              <a:cs typeface="Arial"/>
            </a:endParaRPr>
          </a:p>
          <a:p>
            <a:pPr>
              <a:spcBef>
                <a:spcPts val="9"/>
              </a:spcBef>
              <a:buFont typeface="Arial"/>
              <a:buChar char="•"/>
            </a:pPr>
            <a:endParaRPr sz="5400" dirty="0">
              <a:latin typeface="Times New Roman"/>
              <a:cs typeface="Times New Roman"/>
            </a:endParaRPr>
          </a:p>
          <a:p>
            <a:pPr marL="313221" indent="-302015">
              <a:buChar char="•"/>
              <a:tabLst>
                <a:tab pos="313221" algn="l"/>
                <a:tab pos="313781" algn="l"/>
              </a:tabLst>
            </a:pPr>
            <a:r>
              <a:rPr sz="4000" spc="-9" dirty="0">
                <a:latin typeface="Arial"/>
                <a:cs typeface="Arial"/>
              </a:rPr>
              <a:t>Communication objectives</a:t>
            </a:r>
            <a:endParaRPr sz="4000" dirty="0">
              <a:latin typeface="Arial"/>
              <a:cs typeface="Arial"/>
            </a:endParaRPr>
          </a:p>
          <a:p>
            <a:pPr>
              <a:spcBef>
                <a:spcPts val="13"/>
              </a:spcBef>
              <a:buFont typeface="Arial"/>
              <a:buChar char="•"/>
            </a:pPr>
            <a:endParaRPr sz="5400" dirty="0">
              <a:latin typeface="Times New Roman"/>
              <a:cs typeface="Times New Roman"/>
            </a:endParaRPr>
          </a:p>
          <a:p>
            <a:pPr marL="313221" indent="-302015">
              <a:buChar char="•"/>
              <a:tabLst>
                <a:tab pos="313221" algn="l"/>
                <a:tab pos="313781" algn="l"/>
              </a:tabLst>
            </a:pPr>
            <a:r>
              <a:rPr sz="4000" spc="-4" dirty="0">
                <a:latin typeface="Arial"/>
                <a:cs typeface="Arial"/>
              </a:rPr>
              <a:t>Subject </a:t>
            </a:r>
            <a:r>
              <a:rPr sz="4000" spc="-9" dirty="0">
                <a:latin typeface="Arial"/>
                <a:cs typeface="Arial"/>
              </a:rPr>
              <a:t>matter </a:t>
            </a:r>
            <a:r>
              <a:rPr sz="4000" spc="-4" dirty="0">
                <a:latin typeface="Arial"/>
                <a:cs typeface="Arial"/>
              </a:rPr>
              <a:t>and</a:t>
            </a:r>
            <a:r>
              <a:rPr sz="4000" spc="-35" dirty="0">
                <a:latin typeface="Arial"/>
                <a:cs typeface="Arial"/>
              </a:rPr>
              <a:t> </a:t>
            </a:r>
            <a:r>
              <a:rPr sz="4000" spc="-9" dirty="0">
                <a:latin typeface="Arial"/>
                <a:cs typeface="Arial"/>
              </a:rPr>
              <a:t>function</a:t>
            </a:r>
            <a:endParaRPr sz="4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2879" y="210456"/>
            <a:ext cx="9278471" cy="8309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878944">
              <a:lnSpc>
                <a:spcPct val="100000"/>
              </a:lnSpc>
            </a:pPr>
            <a:r>
              <a:rPr sz="5400" b="1" spc="-4" dirty="0"/>
              <a:t>Scale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1753" y="1860400"/>
            <a:ext cx="11245175" cy="43716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 marR="4483">
              <a:lnSpc>
                <a:spcPts val="3044"/>
              </a:lnSpc>
            </a:pPr>
            <a:r>
              <a:rPr sz="2824" u="heavy" spc="-9" dirty="0">
                <a:latin typeface="Arial"/>
                <a:cs typeface="Arial"/>
              </a:rPr>
              <a:t>Small scale </a:t>
            </a:r>
            <a:r>
              <a:rPr sz="2824" u="heavy" spc="-4" dirty="0">
                <a:latin typeface="Arial"/>
                <a:cs typeface="Arial"/>
              </a:rPr>
              <a:t>map </a:t>
            </a:r>
            <a:endParaRPr lang="en-US" sz="2824" u="heavy" spc="-4" dirty="0">
              <a:latin typeface="Arial"/>
              <a:cs typeface="Arial"/>
            </a:endParaRPr>
          </a:p>
          <a:p>
            <a:pPr marL="11206" marR="4483">
              <a:lnSpc>
                <a:spcPts val="3044"/>
              </a:lnSpc>
            </a:pPr>
            <a:r>
              <a:rPr lang="en-US" sz="2824" spc="-4" dirty="0">
                <a:latin typeface="Arial"/>
                <a:cs typeface="Arial"/>
              </a:rPr>
              <a:t>	</a:t>
            </a:r>
            <a:r>
              <a:rPr sz="2824" spc="-9" dirty="0">
                <a:latin typeface="Arial"/>
                <a:cs typeface="Arial"/>
              </a:rPr>
              <a:t>represents larger area on  </a:t>
            </a:r>
            <a:r>
              <a:rPr sz="2824" spc="-4" dirty="0">
                <a:latin typeface="Arial"/>
                <a:cs typeface="Arial"/>
              </a:rPr>
              <a:t>a </a:t>
            </a:r>
            <a:r>
              <a:rPr sz="2824" spc="-9" dirty="0">
                <a:latin typeface="Arial"/>
                <a:cs typeface="Arial"/>
              </a:rPr>
              <a:t>small </a:t>
            </a:r>
            <a:r>
              <a:rPr sz="2824" spc="-4" dirty="0">
                <a:latin typeface="Arial"/>
                <a:cs typeface="Arial"/>
              </a:rPr>
              <a:t>map </a:t>
            </a:r>
            <a:r>
              <a:rPr sz="2824" spc="-9" dirty="0">
                <a:latin typeface="Arial"/>
                <a:cs typeface="Arial"/>
              </a:rPr>
              <a:t>area </a:t>
            </a:r>
            <a:r>
              <a:rPr sz="2824" spc="-4" dirty="0">
                <a:latin typeface="Arial"/>
                <a:cs typeface="Arial"/>
              </a:rPr>
              <a:t>with less </a:t>
            </a:r>
            <a:r>
              <a:rPr sz="2824" spc="-9" dirty="0">
                <a:latin typeface="Arial"/>
                <a:cs typeface="Arial"/>
              </a:rPr>
              <a:t>details, e.g.,  </a:t>
            </a:r>
            <a:r>
              <a:rPr lang="en-US" sz="2824" spc="-4" dirty="0">
                <a:latin typeface="Arial"/>
                <a:cs typeface="Arial"/>
              </a:rPr>
              <a:t>World</a:t>
            </a:r>
            <a:r>
              <a:rPr sz="2824" spc="-62" dirty="0">
                <a:latin typeface="Arial"/>
                <a:cs typeface="Arial"/>
              </a:rPr>
              <a:t> </a:t>
            </a:r>
            <a:r>
              <a:rPr sz="2824" spc="-4" dirty="0">
                <a:latin typeface="Arial"/>
                <a:cs typeface="Arial"/>
              </a:rPr>
              <a:t>maps.</a:t>
            </a:r>
            <a:endParaRPr lang="en-US" sz="2824" spc="-4" dirty="0">
              <a:latin typeface="Arial"/>
              <a:cs typeface="Arial"/>
            </a:endParaRPr>
          </a:p>
          <a:p>
            <a:pPr marL="11206" marR="4483">
              <a:lnSpc>
                <a:spcPts val="3044"/>
              </a:lnSpc>
            </a:pPr>
            <a:endParaRPr sz="2824" dirty="0">
              <a:latin typeface="Arial"/>
              <a:cs typeface="Arial"/>
            </a:endParaRPr>
          </a:p>
          <a:p>
            <a:pPr marL="716654" indent="-201156">
              <a:spcBef>
                <a:spcPts val="199"/>
              </a:spcBef>
              <a:buChar char="•"/>
              <a:tabLst>
                <a:tab pos="717215" algn="l"/>
              </a:tabLst>
            </a:pPr>
            <a:r>
              <a:rPr sz="2118" spc="-4" dirty="0">
                <a:latin typeface="Arial"/>
                <a:cs typeface="Arial"/>
              </a:rPr>
              <a:t>Small scale map </a:t>
            </a:r>
            <a:r>
              <a:rPr sz="2118" dirty="0">
                <a:latin typeface="Arial"/>
                <a:cs typeface="Arial"/>
              </a:rPr>
              <a:t>( 1:</a:t>
            </a:r>
            <a:r>
              <a:rPr sz="2118" spc="13" dirty="0">
                <a:latin typeface="Arial"/>
                <a:cs typeface="Arial"/>
              </a:rPr>
              <a:t> </a:t>
            </a:r>
            <a:r>
              <a:rPr sz="2118" spc="-4" dirty="0">
                <a:latin typeface="Arial"/>
                <a:cs typeface="Arial"/>
              </a:rPr>
              <a:t>500,000)</a:t>
            </a:r>
            <a:endParaRPr sz="2118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118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Font typeface="Arial"/>
              <a:buChar char="•"/>
            </a:pPr>
            <a:endParaRPr sz="1721" dirty="0">
              <a:latin typeface="Times New Roman"/>
              <a:cs typeface="Times New Roman"/>
            </a:endParaRPr>
          </a:p>
          <a:p>
            <a:pPr marL="11206" marR="43705">
              <a:lnSpc>
                <a:spcPts val="3044"/>
              </a:lnSpc>
            </a:pPr>
            <a:r>
              <a:rPr lang="en-US" sz="2824" u="heavy" spc="-9" dirty="0">
                <a:latin typeface="Arial"/>
                <a:cs typeface="Arial"/>
              </a:rPr>
              <a:t>L</a:t>
            </a:r>
            <a:r>
              <a:rPr sz="2824" u="heavy" spc="-9" dirty="0">
                <a:latin typeface="Arial"/>
                <a:cs typeface="Arial"/>
              </a:rPr>
              <a:t>arge scale </a:t>
            </a:r>
            <a:r>
              <a:rPr sz="2824" u="heavy" spc="-4" dirty="0">
                <a:latin typeface="Arial"/>
                <a:cs typeface="Arial"/>
              </a:rPr>
              <a:t>map </a:t>
            </a:r>
            <a:endParaRPr lang="en-US" sz="2824" u="heavy" spc="-4" dirty="0">
              <a:latin typeface="Arial"/>
              <a:cs typeface="Arial"/>
            </a:endParaRPr>
          </a:p>
          <a:p>
            <a:pPr marL="11206" marR="43705">
              <a:lnSpc>
                <a:spcPts val="3044"/>
              </a:lnSpc>
            </a:pPr>
            <a:r>
              <a:rPr lang="en-US" sz="2824" spc="-4" dirty="0">
                <a:latin typeface="Arial"/>
                <a:cs typeface="Arial"/>
              </a:rPr>
              <a:t>	</a:t>
            </a:r>
            <a:r>
              <a:rPr sz="2824" spc="-9" dirty="0">
                <a:latin typeface="Arial"/>
                <a:cs typeface="Arial"/>
              </a:rPr>
              <a:t>represents smaller area,  </a:t>
            </a:r>
            <a:r>
              <a:rPr sz="2824" spc="-4" dirty="0">
                <a:latin typeface="Arial"/>
                <a:cs typeface="Arial"/>
              </a:rPr>
              <a:t>with </a:t>
            </a:r>
            <a:r>
              <a:rPr sz="2824" spc="-9" dirty="0">
                <a:latin typeface="Arial"/>
                <a:cs typeface="Arial"/>
              </a:rPr>
              <a:t>detail </a:t>
            </a:r>
            <a:r>
              <a:rPr sz="2824" spc="-4" dirty="0">
                <a:latin typeface="Arial"/>
                <a:cs typeface="Arial"/>
              </a:rPr>
              <a:t>data </a:t>
            </a:r>
            <a:r>
              <a:rPr sz="2824" spc="-9" dirty="0">
                <a:latin typeface="Arial"/>
                <a:cs typeface="Arial"/>
              </a:rPr>
              <a:t>represented </a:t>
            </a:r>
            <a:r>
              <a:rPr sz="2824" spc="-4" dirty="0">
                <a:latin typeface="Arial"/>
                <a:cs typeface="Arial"/>
              </a:rPr>
              <a:t>on a </a:t>
            </a:r>
            <a:r>
              <a:rPr sz="2824" spc="-9" dirty="0">
                <a:latin typeface="Arial"/>
                <a:cs typeface="Arial"/>
              </a:rPr>
              <a:t>relatively  large </a:t>
            </a:r>
            <a:r>
              <a:rPr sz="2824" spc="-4" dirty="0">
                <a:latin typeface="Arial"/>
                <a:cs typeface="Arial"/>
              </a:rPr>
              <a:t>map </a:t>
            </a:r>
            <a:r>
              <a:rPr sz="2824" spc="-9" dirty="0">
                <a:latin typeface="Arial"/>
                <a:cs typeface="Arial"/>
              </a:rPr>
              <a:t>area,e.g., Topographic</a:t>
            </a:r>
            <a:r>
              <a:rPr sz="2824" spc="31" dirty="0">
                <a:latin typeface="Arial"/>
                <a:cs typeface="Arial"/>
              </a:rPr>
              <a:t> </a:t>
            </a:r>
            <a:r>
              <a:rPr sz="2824" spc="-9" dirty="0">
                <a:latin typeface="Arial"/>
                <a:cs typeface="Arial"/>
              </a:rPr>
              <a:t>maps</a:t>
            </a:r>
            <a:endParaRPr lang="en-US" sz="2824" spc="-9" dirty="0">
              <a:latin typeface="Arial"/>
              <a:cs typeface="Arial"/>
            </a:endParaRPr>
          </a:p>
          <a:p>
            <a:pPr marL="11206" marR="43705">
              <a:lnSpc>
                <a:spcPts val="3044"/>
              </a:lnSpc>
            </a:pPr>
            <a:endParaRPr sz="2824" dirty="0">
              <a:latin typeface="Arial"/>
              <a:cs typeface="Arial"/>
            </a:endParaRPr>
          </a:p>
          <a:p>
            <a:pPr marL="716654" indent="-201156">
              <a:spcBef>
                <a:spcPts val="194"/>
              </a:spcBef>
              <a:buChar char="•"/>
              <a:tabLst>
                <a:tab pos="717215" algn="l"/>
              </a:tabLst>
            </a:pPr>
            <a:r>
              <a:rPr sz="2118" spc="-4" dirty="0">
                <a:latin typeface="Arial"/>
                <a:cs typeface="Arial"/>
              </a:rPr>
              <a:t>Large scale map</a:t>
            </a:r>
            <a:r>
              <a:rPr sz="2118" spc="13" dirty="0">
                <a:latin typeface="Arial"/>
                <a:cs typeface="Arial"/>
              </a:rPr>
              <a:t> </a:t>
            </a:r>
            <a:r>
              <a:rPr sz="2118" spc="-4" dirty="0">
                <a:latin typeface="Arial"/>
                <a:cs typeface="Arial"/>
              </a:rPr>
              <a:t>(1:50,000)</a:t>
            </a:r>
            <a:endParaRPr sz="211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9574" y="163287"/>
            <a:ext cx="9278471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576573">
              <a:lnSpc>
                <a:spcPct val="100000"/>
              </a:lnSpc>
            </a:pPr>
            <a:r>
              <a:rPr sz="4800" b="1" spc="-4" dirty="0"/>
              <a:t>Communicative</a:t>
            </a:r>
            <a:r>
              <a:rPr sz="4800" b="1" spc="-18" dirty="0"/>
              <a:t> </a:t>
            </a:r>
            <a:r>
              <a:rPr sz="4800" b="1" spc="-4" dirty="0"/>
              <a:t>Objectives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0" y="1463441"/>
            <a:ext cx="11819106" cy="4714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1909" marR="4483" indent="0" algn="just">
              <a:lnSpc>
                <a:spcPct val="100000"/>
              </a:lnSpc>
              <a:buNone/>
              <a:tabLst>
                <a:tab pos="1013626" algn="l"/>
              </a:tabLst>
            </a:pPr>
            <a:r>
              <a:rPr sz="3200" b="1" dirty="0">
                <a:latin typeface="Arial"/>
                <a:cs typeface="Arial"/>
              </a:rPr>
              <a:t>General reference maps </a:t>
            </a:r>
            <a:r>
              <a:rPr sz="3200" dirty="0"/>
              <a:t>show the</a:t>
            </a:r>
            <a:r>
              <a:rPr sz="3200" spc="-154" dirty="0"/>
              <a:t> </a:t>
            </a:r>
            <a:r>
              <a:rPr sz="3200" dirty="0"/>
              <a:t>location  of variety of different features. They supply  a </a:t>
            </a:r>
            <a:r>
              <a:rPr sz="3200" b="1" dirty="0"/>
              <a:t>general image of the earth </a:t>
            </a:r>
            <a:r>
              <a:rPr sz="3200" dirty="0"/>
              <a:t>surface and  are also termed as base</a:t>
            </a:r>
            <a:r>
              <a:rPr sz="3200" spc="-75" dirty="0"/>
              <a:t> </a:t>
            </a:r>
            <a:r>
              <a:rPr sz="3200" dirty="0"/>
              <a:t>maps</a:t>
            </a:r>
            <a:r>
              <a:rPr lang="en-US" sz="3200" dirty="0"/>
              <a:t>.</a:t>
            </a:r>
          </a:p>
          <a:p>
            <a:pPr marL="811909" marR="4483" indent="0" algn="just">
              <a:lnSpc>
                <a:spcPct val="100000"/>
              </a:lnSpc>
              <a:buNone/>
              <a:tabLst>
                <a:tab pos="1013626" algn="l"/>
              </a:tabLst>
            </a:pPr>
            <a:endParaRPr sz="3200" dirty="0"/>
          </a:p>
          <a:p>
            <a:pPr marL="1013626" marR="28016" indent="-201717" algn="just">
              <a:lnSpc>
                <a:spcPct val="100000"/>
              </a:lnSpc>
              <a:spcBef>
                <a:spcPts val="596"/>
              </a:spcBef>
              <a:buFont typeface="Arial"/>
              <a:buChar char="•"/>
              <a:tabLst>
                <a:tab pos="1013626" algn="l"/>
              </a:tabLst>
            </a:pPr>
            <a:r>
              <a:rPr sz="3200" b="1" dirty="0">
                <a:latin typeface="Arial"/>
                <a:cs typeface="Arial"/>
              </a:rPr>
              <a:t>Thematic maps </a:t>
            </a:r>
            <a:r>
              <a:rPr sz="3200" dirty="0"/>
              <a:t>represent </a:t>
            </a:r>
            <a:r>
              <a:rPr sz="3200" b="1" dirty="0"/>
              <a:t>distribution of  one particular attribute</a:t>
            </a:r>
            <a:r>
              <a:rPr sz="3200" dirty="0"/>
              <a:t> or the relationship among several and instead of focusing on  representation of location these maps  mainly focus on illustrating </a:t>
            </a:r>
            <a:r>
              <a:rPr lang="en-US" sz="3200" dirty="0"/>
              <a:t>structures. </a:t>
            </a:r>
          </a:p>
          <a:p>
            <a:pPr marL="1013626" marR="28016" indent="-201717" algn="just">
              <a:lnSpc>
                <a:spcPct val="100000"/>
              </a:lnSpc>
              <a:spcBef>
                <a:spcPts val="596"/>
              </a:spcBef>
              <a:buFont typeface="Arial"/>
              <a:buChar char="•"/>
              <a:tabLst>
                <a:tab pos="1013626" algn="l"/>
              </a:tabLst>
            </a:pPr>
            <a:r>
              <a:rPr lang="en-US" sz="3200" dirty="0"/>
              <a:t>Thematic</a:t>
            </a:r>
            <a:r>
              <a:rPr sz="3200" dirty="0"/>
              <a:t> maps tended to be of small</a:t>
            </a:r>
            <a:r>
              <a:rPr sz="3200" spc="-66" dirty="0"/>
              <a:t> </a:t>
            </a:r>
            <a:r>
              <a:rPr sz="3200" dirty="0"/>
              <a:t>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9225" y="518189"/>
            <a:ext cx="9278471" cy="73866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286886">
              <a:lnSpc>
                <a:spcPct val="100000"/>
              </a:lnSpc>
            </a:pPr>
            <a:r>
              <a:rPr sz="4800" b="1" spc="-4" dirty="0"/>
              <a:t>Subject Matter and</a:t>
            </a:r>
            <a:r>
              <a:rPr sz="4800" b="1" spc="13" dirty="0"/>
              <a:t> </a:t>
            </a:r>
            <a:r>
              <a:rPr sz="4800" b="1" spc="-4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9255" y="2050336"/>
            <a:ext cx="6579374" cy="37728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3221" indent="-302015">
              <a:buChar char="•"/>
              <a:tabLst>
                <a:tab pos="313221" algn="l"/>
                <a:tab pos="313781" algn="l"/>
              </a:tabLst>
            </a:pPr>
            <a:r>
              <a:rPr sz="3600" spc="-9" dirty="0">
                <a:latin typeface="Arial"/>
                <a:cs typeface="Arial"/>
              </a:rPr>
              <a:t>Cadastral</a:t>
            </a:r>
            <a:r>
              <a:rPr sz="3600" spc="-44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  <a:p>
            <a:pPr marL="313221" indent="-302015">
              <a:spcBef>
                <a:spcPts val="671"/>
              </a:spcBef>
              <a:buChar char="•"/>
              <a:tabLst>
                <a:tab pos="313221" algn="l"/>
                <a:tab pos="313781" algn="l"/>
              </a:tabLst>
            </a:pPr>
            <a:r>
              <a:rPr sz="3600" spc="-9" dirty="0">
                <a:latin typeface="Arial"/>
                <a:cs typeface="Arial"/>
              </a:rPr>
              <a:t>Topographical</a:t>
            </a:r>
            <a:r>
              <a:rPr sz="3600" spc="-31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  <a:p>
            <a:pPr marL="313221" indent="-302015">
              <a:spcBef>
                <a:spcPts val="666"/>
              </a:spcBef>
              <a:buChar char="•"/>
              <a:tabLst>
                <a:tab pos="313221" algn="l"/>
                <a:tab pos="313781" algn="l"/>
              </a:tabLst>
            </a:pPr>
            <a:r>
              <a:rPr sz="3600" spc="-4" dirty="0">
                <a:latin typeface="Arial"/>
                <a:cs typeface="Arial"/>
              </a:rPr>
              <a:t>Soil</a:t>
            </a:r>
            <a:r>
              <a:rPr sz="3600" spc="-71" dirty="0">
                <a:latin typeface="Arial"/>
                <a:cs typeface="Arial"/>
              </a:rPr>
              <a:t> </a:t>
            </a:r>
            <a:r>
              <a:rPr sz="3600" spc="-4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  <a:p>
            <a:pPr marL="313221" indent="-302015">
              <a:spcBef>
                <a:spcPts val="671"/>
              </a:spcBef>
              <a:buChar char="•"/>
              <a:tabLst>
                <a:tab pos="313221" algn="l"/>
                <a:tab pos="313781" algn="l"/>
              </a:tabLst>
            </a:pPr>
            <a:r>
              <a:rPr sz="3600" spc="-9" dirty="0">
                <a:latin typeface="Arial"/>
                <a:cs typeface="Arial"/>
              </a:rPr>
              <a:t>Weather</a:t>
            </a:r>
            <a:r>
              <a:rPr sz="3600" spc="-53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  <a:p>
            <a:pPr marL="313221" indent="-302015">
              <a:spcBef>
                <a:spcPts val="671"/>
              </a:spcBef>
              <a:buChar char="•"/>
              <a:tabLst>
                <a:tab pos="313221" algn="l"/>
                <a:tab pos="313781" algn="l"/>
              </a:tabLst>
            </a:pPr>
            <a:r>
              <a:rPr sz="3600" spc="-9" dirty="0">
                <a:latin typeface="Arial"/>
                <a:cs typeface="Arial"/>
              </a:rPr>
              <a:t>Population</a:t>
            </a:r>
            <a:r>
              <a:rPr sz="3600" spc="-40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  <a:p>
            <a:pPr marL="313221" indent="-302015">
              <a:spcBef>
                <a:spcPts val="666"/>
              </a:spcBef>
              <a:buChar char="•"/>
              <a:tabLst>
                <a:tab pos="313221" algn="l"/>
                <a:tab pos="313781" algn="l"/>
              </a:tabLst>
            </a:pPr>
            <a:r>
              <a:rPr sz="3600" spc="-4" dirty="0">
                <a:latin typeface="Arial"/>
                <a:cs typeface="Arial"/>
              </a:rPr>
              <a:t>Political</a:t>
            </a:r>
            <a:r>
              <a:rPr sz="3600" spc="-84" dirty="0">
                <a:latin typeface="Arial"/>
                <a:cs typeface="Arial"/>
              </a:rPr>
              <a:t> </a:t>
            </a:r>
            <a:r>
              <a:rPr sz="3600" spc="-9" dirty="0">
                <a:latin typeface="Arial"/>
                <a:cs typeface="Arial"/>
              </a:rPr>
              <a:t>maps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918C-6AFC-4277-B17C-92D44D50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Common problems / things to be aware of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4819A-1552-442B-BC3B-A0A743B41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919" y="1429966"/>
            <a:ext cx="11867745" cy="5321029"/>
          </a:xfrm>
        </p:spPr>
        <p:txBody>
          <a:bodyPr/>
          <a:lstStyle/>
          <a:p>
            <a:r>
              <a:rPr lang="en-US" dirty="0"/>
              <a:t>It is sometimes difficult to create a map that is easy to understand and well laid out whilst still showing and explaining all the information that the reader needs to know. </a:t>
            </a:r>
          </a:p>
          <a:p>
            <a:pPr marL="0" indent="0">
              <a:buNone/>
            </a:pPr>
            <a:r>
              <a:rPr lang="en-US" b="1" dirty="0"/>
              <a:t>To achieve this,</a:t>
            </a:r>
          </a:p>
          <a:p>
            <a:r>
              <a:rPr lang="en-US" dirty="0"/>
              <a:t> you need to create an ideal arrangement and composition of all the map elements. </a:t>
            </a:r>
          </a:p>
          <a:p>
            <a:r>
              <a:rPr lang="en-US" dirty="0"/>
              <a:t>You should concentrate on what story you want to tell with your map and how the elements, such as the legend, scale bar and acknowledgements should be ordered. </a:t>
            </a:r>
          </a:p>
          <a:p>
            <a:r>
              <a:rPr lang="en-US" dirty="0"/>
              <a:t>By doing this, you will have a well designed and educational map, that people would like to look at and be able to understand.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58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F6019-1011-4417-AF7F-26557FB82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b="1" dirty="0"/>
              <a:t>What have we learned?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E3BC1-6014-4A50-8038-F220E8D9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53" y="1488332"/>
            <a:ext cx="11751013" cy="5204298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Let’s wrap up what we covered in this worksheet:</a:t>
            </a:r>
          </a:p>
          <a:p>
            <a:r>
              <a:rPr lang="en-US" sz="3200" b="1" dirty="0"/>
              <a:t>Map production</a:t>
            </a:r>
            <a:r>
              <a:rPr lang="en-US" sz="3200" dirty="0"/>
              <a:t> means arranging </a:t>
            </a:r>
            <a:r>
              <a:rPr lang="en-US" sz="3200" b="1" dirty="0"/>
              <a:t>map elements</a:t>
            </a:r>
            <a:r>
              <a:rPr lang="en-US" sz="3200" dirty="0"/>
              <a:t> on a sheet of paper.</a:t>
            </a:r>
          </a:p>
          <a:p>
            <a:r>
              <a:rPr lang="en-US" sz="3200" b="1" dirty="0"/>
              <a:t>Map elements</a:t>
            </a:r>
            <a:r>
              <a:rPr lang="en-US" sz="3200" dirty="0"/>
              <a:t> are the title, map body, map border, legend, scale, north arrow and the acknowledgement.</a:t>
            </a:r>
          </a:p>
          <a:p>
            <a:r>
              <a:rPr lang="en-US" sz="3200" b="1" dirty="0"/>
              <a:t>Scale</a:t>
            </a:r>
            <a:r>
              <a:rPr lang="en-US" sz="3200" dirty="0"/>
              <a:t> represents the ratio of a distance on the map to the actual distance in the real world.</a:t>
            </a:r>
          </a:p>
          <a:p>
            <a:r>
              <a:rPr lang="en-US" sz="3200" dirty="0"/>
              <a:t>Scale is displayed in </a:t>
            </a:r>
            <a:r>
              <a:rPr lang="en-US" sz="3200" b="1" dirty="0"/>
              <a:t>map units</a:t>
            </a:r>
            <a:r>
              <a:rPr lang="en-US" sz="3200" dirty="0"/>
              <a:t> (meters, feet or degrees)</a:t>
            </a:r>
          </a:p>
          <a:p>
            <a:r>
              <a:rPr lang="en-US" sz="3200" dirty="0"/>
              <a:t>A </a:t>
            </a:r>
            <a:r>
              <a:rPr lang="en-US" sz="3200" b="1" dirty="0"/>
              <a:t>legend</a:t>
            </a:r>
            <a:r>
              <a:rPr lang="en-US" sz="3200" dirty="0"/>
              <a:t> explains all the symbols on a map.</a:t>
            </a:r>
          </a:p>
          <a:p>
            <a:r>
              <a:rPr lang="en-US" sz="3200" dirty="0"/>
              <a:t>A map should </a:t>
            </a:r>
            <a:r>
              <a:rPr lang="en-US" sz="3200" b="1" dirty="0"/>
              <a:t>explain complex information as simply as possible</a:t>
            </a:r>
            <a:r>
              <a:rPr lang="en-US" sz="3200" dirty="0"/>
              <a:t>.</a:t>
            </a:r>
          </a:p>
          <a:p>
            <a:r>
              <a:rPr lang="en-US" sz="3200" dirty="0"/>
              <a:t>Maps are usually always displayed ‘</a:t>
            </a:r>
            <a:r>
              <a:rPr lang="en-US" sz="3200" b="1" dirty="0"/>
              <a:t>North up</a:t>
            </a:r>
            <a:r>
              <a:rPr lang="en-US" sz="3200" dirty="0"/>
              <a:t>’.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19792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8F2D9-3B62-4643-BDFB-EC5BBC14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Now you try!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92393-075D-42F6-974E-39D4E52FB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60" y="1343818"/>
            <a:ext cx="11994204" cy="5495927"/>
          </a:xfrm>
        </p:spPr>
        <p:txBody>
          <a:bodyPr>
            <a:normAutofit/>
          </a:bodyPr>
          <a:lstStyle/>
          <a:p>
            <a:r>
              <a:rPr lang="en-US" dirty="0"/>
              <a:t>Here are some ideas for you to try with your learners:</a:t>
            </a:r>
          </a:p>
          <a:p>
            <a:r>
              <a:rPr lang="en-US" dirty="0"/>
              <a:t>Load some vector layers in your GIS for your local area. See if you can identify examples of different types of legend elements such as road types or buildings. </a:t>
            </a:r>
          </a:p>
          <a:p>
            <a:r>
              <a:rPr lang="en-US" dirty="0"/>
              <a:t>Create a list of legend elements and define what the icons should look like, so a reader can most easily figure out their meaning in the map.</a:t>
            </a:r>
          </a:p>
          <a:p>
            <a:r>
              <a:rPr lang="en-US" dirty="0"/>
              <a:t>Create a map layout with your learners on a sheet of paper. </a:t>
            </a:r>
          </a:p>
          <a:p>
            <a:r>
              <a:rPr lang="en-US" dirty="0"/>
              <a:t>Decide on the title of the map, what GIS layers you want to show and what colors and icons to have on the map. </a:t>
            </a:r>
          </a:p>
          <a:p>
            <a:r>
              <a:rPr lang="en-US" dirty="0"/>
              <a:t>Use the techniques you learned in Topics </a:t>
            </a:r>
            <a:r>
              <a:rPr lang="en-US" dirty="0">
                <a:hlinkClick r:id="rId2"/>
              </a:rPr>
              <a:t>Vector Data</a:t>
            </a:r>
            <a:r>
              <a:rPr lang="en-US" dirty="0"/>
              <a:t> and </a:t>
            </a:r>
            <a:r>
              <a:rPr lang="en-US" dirty="0">
                <a:hlinkClick r:id="rId3"/>
              </a:rPr>
              <a:t>Vector Attribute Data</a:t>
            </a:r>
            <a:r>
              <a:rPr lang="en-US" dirty="0"/>
              <a:t> to adjust the symbology accordingly. </a:t>
            </a:r>
          </a:p>
          <a:p>
            <a:r>
              <a:rPr lang="en-US" dirty="0"/>
              <a:t>When you have a template, open the QGIS print layout and try to arrange a map layout as planned.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48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25161-B91E-4515-B514-3C59522AB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Something to think about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45A99-BBE2-4E19-B739-5943D1DEA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39" y="1690688"/>
            <a:ext cx="11400817" cy="5001942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If you don’t have a computer available, you can use any topographical map and discuss the map design with your Fellows. 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Figure out if they understand </a:t>
            </a:r>
          </a:p>
          <a:p>
            <a:r>
              <a:rPr lang="en-US" dirty="0">
                <a:effectLst/>
              </a:rPr>
              <a:t>what the map wants to tell. </a:t>
            </a:r>
          </a:p>
          <a:p>
            <a:r>
              <a:rPr lang="en-US" dirty="0">
                <a:effectLst/>
              </a:rPr>
              <a:t>What can be improved? </a:t>
            </a:r>
          </a:p>
          <a:p>
            <a:r>
              <a:rPr lang="en-US" dirty="0">
                <a:effectLst/>
              </a:rPr>
              <a:t>How accurately does the map represent the history of the area? </a:t>
            </a:r>
          </a:p>
          <a:p>
            <a:r>
              <a:rPr lang="en-US" dirty="0">
                <a:effectLst/>
              </a:rPr>
              <a:t>How would a map from 100 years ago differ from the same map today?</a:t>
            </a:r>
          </a:p>
        </p:txBody>
      </p:sp>
    </p:spTree>
    <p:extLst>
      <p:ext uri="{BB962C8B-B14F-4D97-AF65-F5344CB8AC3E}">
        <p14:creationId xmlns:p14="http://schemas.microsoft.com/office/powerpoint/2010/main" val="2929560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C2939-C2EB-4778-A655-AFF76E25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1" dirty="0"/>
              <a:t>Further reading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71C-9103-406E-B5A9-D015B9E8F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923" y="1595336"/>
            <a:ext cx="11682920" cy="5058383"/>
          </a:xfrm>
        </p:spPr>
        <p:txBody>
          <a:bodyPr/>
          <a:lstStyle/>
          <a:p>
            <a:r>
              <a:rPr lang="en-US" b="1" dirty="0">
                <a:effectLst/>
              </a:rPr>
              <a:t>Books</a:t>
            </a:r>
            <a:r>
              <a:rPr lang="en-US" dirty="0">
                <a:effectLst/>
              </a:rPr>
              <a:t>:</a:t>
            </a:r>
          </a:p>
          <a:p>
            <a:r>
              <a:rPr lang="en-US" dirty="0">
                <a:effectLst/>
              </a:rPr>
              <a:t>Chang, Kang-Tsung (2006). Introduction to Geographic Information Systems. 3rd Edition. McGraw Hill. ISBN: 0070658986</a:t>
            </a:r>
          </a:p>
          <a:p>
            <a:r>
              <a:rPr lang="en-US" dirty="0" err="1">
                <a:effectLst/>
              </a:rPr>
              <a:t>DeMers</a:t>
            </a:r>
            <a:r>
              <a:rPr lang="en-US" dirty="0">
                <a:effectLst/>
              </a:rPr>
              <a:t>, Michael N. (2005). Fundamentals of Geographic Information Systems. 3rd Edition. Wiley. ISBN: 9814126195</a:t>
            </a:r>
          </a:p>
          <a:p>
            <a:r>
              <a:rPr lang="en-US" b="1" dirty="0">
                <a:effectLst/>
              </a:rPr>
              <a:t>Website</a:t>
            </a:r>
            <a:r>
              <a:rPr lang="en-US" dirty="0">
                <a:effectLst/>
              </a:rPr>
              <a:t>: </a:t>
            </a:r>
            <a:r>
              <a:rPr lang="en-US" dirty="0">
                <a:hlinkClick r:id="rId2"/>
              </a:rPr>
              <a:t>Scale (map)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The QGIS User Guide also has more detailed information on map production provided in QGIS.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716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1055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Map production </vt:lpstr>
      <vt:lpstr>PowerPoint Presentation</vt:lpstr>
      <vt:lpstr>Map production </vt:lpstr>
      <vt:lpstr>PowerPoint Presentation</vt:lpstr>
      <vt:lpstr>PowerPoint Presentation</vt:lpstr>
      <vt:lpstr>Scale</vt:lpstr>
      <vt:lpstr>Units of measurement</vt:lpstr>
      <vt:lpstr>Expression of Scale</vt:lpstr>
      <vt:lpstr>Expression of Scale</vt:lpstr>
      <vt:lpstr>Expression of Scale</vt:lpstr>
      <vt:lpstr>Classes of Maps</vt:lpstr>
      <vt:lpstr>Scale</vt:lpstr>
      <vt:lpstr>Communicative Objectives</vt:lpstr>
      <vt:lpstr>Subject Matter and Functions</vt:lpstr>
      <vt:lpstr>Common problems / things to be aware of</vt:lpstr>
      <vt:lpstr>What have we learned?</vt:lpstr>
      <vt:lpstr>Now you try!</vt:lpstr>
      <vt:lpstr>Something to think about 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CARTOGRAPHY</dc:title>
  <dc:creator>Ahmad Khan</dc:creator>
  <cp:lastModifiedBy>Ahmad Khan</cp:lastModifiedBy>
  <cp:revision>3</cp:revision>
  <dcterms:created xsi:type="dcterms:W3CDTF">2022-11-15T08:55:50Z</dcterms:created>
  <dcterms:modified xsi:type="dcterms:W3CDTF">2022-11-15T10:28:17Z</dcterms:modified>
</cp:coreProperties>
</file>