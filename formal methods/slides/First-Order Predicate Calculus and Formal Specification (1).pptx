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6858000" cy="9144000"/>
  <p:embeddedFontLst>
    <p:embeddedFont>
      <p:font typeface="Playfair Display"/>
      <p:regular r:id="rId36"/>
      <p:bold r:id="rId37"/>
      <p:italic r:id="rId38"/>
      <p:boldItalic r:id="rId39"/>
    </p:embeddedFont>
    <p:embeddedFont>
      <p:font typeface="Inter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F367F3-6630-4DBC-8931-D3EBBD270816}">
  <a:tblStyle styleId="{43F367F3-6630-4DBC-8931-D3EBBD2708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20" Type="http://schemas.openxmlformats.org/officeDocument/2006/relationships/slide" Target="slides/slide14.xml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Inter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layfairDisplay-bold.fntdata"/><Relationship Id="rId14" Type="http://schemas.openxmlformats.org/officeDocument/2006/relationships/slide" Target="slides/slide8.xml"/><Relationship Id="rId36" Type="http://schemas.openxmlformats.org/officeDocument/2006/relationships/font" Target="fonts/PlayfairDisplay-regular.fntdata"/><Relationship Id="rId17" Type="http://schemas.openxmlformats.org/officeDocument/2006/relationships/slide" Target="slides/slide11.xml"/><Relationship Id="rId39" Type="http://schemas.openxmlformats.org/officeDocument/2006/relationships/font" Target="fonts/PlayfairDisplay-boldItalic.fntdata"/><Relationship Id="rId16" Type="http://schemas.openxmlformats.org/officeDocument/2006/relationships/slide" Target="slides/slide10.xml"/><Relationship Id="rId38" Type="http://schemas.openxmlformats.org/officeDocument/2006/relationships/font" Target="fonts/PlayfairDisplay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95300" y="2333625"/>
            <a:ext cx="11201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First-Order Predicate Calculus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457450" y="4200525"/>
            <a:ext cx="72771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Mathematical Logic in Formal Specification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381625" y="5486400"/>
            <a:ext cx="142875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57450" y="5926675"/>
            <a:ext cx="7277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Dr. Abdul Rehman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Agenda: Building Better Systems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333500" y="2173188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Understanding the Need for Logic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33500" y="3325713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Grammar of Predicate Calculus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333500" y="4478238"/>
            <a:ext cx="447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Quantifiers: All and Some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333500" y="5173563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Formal Specification Fundamentals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953250" y="2401788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Real-world Case Studies (Banking, Lib)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953250" y="3554313"/>
            <a:ext cx="447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System Rules (Invariants)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953250" y="4249638"/>
            <a:ext cx="447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Modern Tools &amp; Verification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53250" y="4944963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Future of Bug-Free Software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20813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373338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525863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221188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449413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601938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297263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992588"/>
            <a:ext cx="2667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30338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Problem: Human Language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2325588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Human language is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messy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vague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3544788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"The system should be fast" means different things to different people.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221188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Ambiguity leads to software bugs.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30338"/>
            <a:ext cx="50482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Solution: Precise Logic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381750" y="2858244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Mathematical logic provides a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single truth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81750" y="4077444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 using symbols, we remove confusion. A computer can read logic without guessing.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20788"/>
            <a:ext cx="10668000" cy="426571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Predicate Calculus?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152525" y="2716113"/>
            <a:ext cx="9886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 is a mathematical language used to describe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objects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the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relationships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between them.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152525" y="3935313"/>
            <a:ext cx="9886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Think of it as "Grammar for Math" where we can talk about people, accounts, or sensors.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68438"/>
            <a:ext cx="50482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0788"/>
            <a:ext cx="504825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Beyond Basic True/False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762000" y="5592663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 allows us to talk about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who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has a certain property.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045844" y="3039963"/>
            <a:ext cx="44805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Simple Logic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152525" y="3811488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"It is raining." (True or False)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685597" y="2811363"/>
            <a:ext cx="444055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Predicate Logic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791325" y="3582888"/>
            <a:ext cx="422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"x is a student." (Depends on who x is)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Building Block: Constants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762000" y="2410569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Constants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are names for specific things.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1333500" y="3629769"/>
            <a:ext cx="44767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John (A specific person)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333500" y="4334619"/>
            <a:ext cx="44767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Account_505 (A specific bank account)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333500" y="5496669"/>
            <a:ext cx="44767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Book_XYZ (A specific book)</a:t>
            </a:r>
            <a:endParaRPr/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77394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382244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544294"/>
            <a:ext cx="2667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373338"/>
            <a:ext cx="1066800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Building Block: Variables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762000" y="2325588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Variables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(x, y, z) are placeholders for </a:t>
            </a:r>
            <a:r>
              <a:rPr b="0" i="1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any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object in a group.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62000" y="6259413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is how we write rules that apply to millions of users at once.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143000" y="4059138"/>
            <a:ext cx="99060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x is an Account, then Balance(x) describes the money in </a:t>
            </a:r>
            <a:r>
              <a:rPr b="0" i="1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any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account.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48619"/>
            <a:ext cx="50482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Building Block: Functions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3712" y="2439144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1152525" y="3505944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Functions map one object to another.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152525" y="4725144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FatherOf(John)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152525" y="5296644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OwnerOf(Account)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381750" y="3467844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They help us navigate the connections between entities in a system.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Predicates: The Logic Verbs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762000" y="2524869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Predicate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describes a property or a relation that is either True or False.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762000" y="5325219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They are the foundation of system rules.</a:t>
            </a:r>
            <a:endParaRPr/>
          </a:p>
        </p:txBody>
      </p:sp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953619"/>
            <a:ext cx="990600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625625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1047750" y="982563"/>
            <a:ext cx="1090136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"All" Quantifier (∀)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762000" y="982563"/>
            <a:ext cx="95250" cy="7048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762000" y="2449413"/>
            <a:ext cx="53006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Universal (∀)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762000" y="3278088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Used to say something is true for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everyone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762000" y="5964138"/>
            <a:ext cx="5048250" cy="893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Example: "All users must have a password."</a:t>
            </a:r>
            <a:endParaRPr/>
          </a:p>
        </p:txBody>
      </p:sp>
      <p:pic>
        <p:nvPicPr>
          <p:cNvPr descr="image.png"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25625"/>
            <a:ext cx="50482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4878288"/>
            <a:ext cx="42862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25625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/>
        </p:nvSpPr>
        <p:spPr>
          <a:xfrm>
            <a:off x="1047750" y="982563"/>
            <a:ext cx="1090136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"Some" Quantifier (∃)</a:t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762000" y="982563"/>
            <a:ext cx="95250" cy="7048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25625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6381750" y="2449413"/>
            <a:ext cx="53006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Existential (∃)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6381750" y="3278088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Used to say there is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at least one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thing.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6381750" y="5964138"/>
            <a:ext cx="5048250" cy="893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Example: "There is at least one admin for the server."</a:t>
            </a:r>
            <a:endParaRPr/>
          </a:p>
        </p:txBody>
      </p:sp>
      <p:pic>
        <p:nvPicPr>
          <p:cNvPr descr="image.png" id="222" name="Google Shape;22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0" y="4878288"/>
            <a:ext cx="42862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Translating: All Students</a:t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762000" y="2325588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How we turn English into math: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762000" y="6059388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Notice the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Implication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(⇒). It means "If x is a student, then x loves logic."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1143000" y="4021038"/>
            <a:ext cx="990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"Every student loves logic."</a:t>
            </a:r>
            <a:endParaRPr/>
          </a:p>
        </p:txBody>
      </p:sp>
      <p:pic>
        <p:nvPicPr>
          <p:cNvPr descr="image.png"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4687788"/>
            <a:ext cx="990600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Translating: Some Bugs</a:t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762000" y="2325588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How we describe existence: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762000" y="6059388"/>
            <a:ext cx="10668000" cy="7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use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(∧) because we found at least one thing that is both a bug and hard to find.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1143000" y="4021038"/>
            <a:ext cx="990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"Some bugs are hard to find."</a:t>
            </a:r>
            <a:endParaRPr/>
          </a:p>
        </p:txBody>
      </p:sp>
      <p:pic>
        <p:nvPicPr>
          <p:cNvPr descr="image.png" id="242" name="Google Shape;2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4687788"/>
            <a:ext cx="990600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72469"/>
            <a:ext cx="50482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01019"/>
            <a:ext cx="504825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Order Matters!</a:t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762000" y="5344269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Logic makes these subtle differences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perfectly clear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1152525" y="3067794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∀x ∃y (Loves(x,y))</a:t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1152525" y="3829794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"Everyone loves someone."</a:t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6772275" y="2896344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∃y ∀x (Loves(x,y))</a:t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6772275" y="3658344"/>
            <a:ext cx="426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"There is one person who is loved by everyone."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-1905000"/>
            <a:ext cx="7620000" cy="7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495300" y="25146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II: Formal Specification</a:t>
            </a:r>
            <a:endParaRPr/>
          </a:p>
        </p:txBody>
      </p:sp>
      <p:sp>
        <p:nvSpPr>
          <p:cNvPr id="262" name="Google Shape;262;p28"/>
          <p:cNvSpPr txBox="1"/>
          <p:nvPr/>
        </p:nvSpPr>
        <p:spPr>
          <a:xfrm>
            <a:off x="2609850" y="3438525"/>
            <a:ext cx="69723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Turning Logic into Engineering Blueprints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9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a Formal Spec?</a:t>
            </a:r>
            <a:endParaRPr/>
          </a:p>
        </p:txBody>
      </p:sp>
      <p:sp>
        <p:nvSpPr>
          <p:cNvPr id="269" name="Google Shape;269;p29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762000" y="2858244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 is a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mathematical description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of what a system should do.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762000" y="4077444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Think of it as a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blueprint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a house. You don't start building until the blueprint is perfect.</a:t>
            </a:r>
            <a:endParaRPr/>
          </a:p>
        </p:txBody>
      </p:sp>
      <p:pic>
        <p:nvPicPr>
          <p:cNvPr descr="image.png" id="272" name="Google Shape;27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468588"/>
            <a:ext cx="10668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Goal: Zero Ambiguity</a:t>
            </a:r>
            <a:endParaRPr/>
          </a:p>
        </p:txBody>
      </p:sp>
      <p:sp>
        <p:nvSpPr>
          <p:cNvPr id="279" name="Google Shape;279;p30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762000" y="2325588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 a formal spec, there is only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one interpretation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1" name="Google Shape;281;p30"/>
          <p:cNvSpPr txBox="1"/>
          <p:nvPr/>
        </p:nvSpPr>
        <p:spPr>
          <a:xfrm>
            <a:off x="1152525" y="4163913"/>
            <a:ext cx="9886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English Spec: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1152525" y="4925913"/>
            <a:ext cx="9886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"If the user tries to withdraw more than they have, don't let them."</a:t>
            </a:r>
            <a:endParaRPr/>
          </a:p>
        </p:txBody>
      </p:sp>
      <p:sp>
        <p:nvSpPr>
          <p:cNvPr id="283" name="Google Shape;283;p30"/>
          <p:cNvSpPr/>
          <p:nvPr/>
        </p:nvSpPr>
        <p:spPr>
          <a:xfrm>
            <a:off x="1152525" y="5687913"/>
            <a:ext cx="9886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1152525" y="6011763"/>
            <a:ext cx="9886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Formal Logic Spec: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Formal vs. Informal</a:t>
            </a:r>
            <a:endParaRPr/>
          </a:p>
        </p:txBody>
      </p:sp>
      <p:sp>
        <p:nvSpPr>
          <p:cNvPr id="290" name="Google Shape;290;p31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1" name="Google Shape;291;p31"/>
          <p:cNvGraphicFramePr/>
          <p:nvPr/>
        </p:nvGraphicFramePr>
        <p:xfrm>
          <a:off x="762000" y="27296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{43F367F3-6630-4DBC-8931-D3EBBD270816}</a:tableStyleId>
              </a:tblPr>
              <a:tblGrid>
                <a:gridCol w="2322600"/>
                <a:gridCol w="4534200"/>
                <a:gridCol w="3811200"/>
              </a:tblGrid>
              <a:tr h="7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Informal (English)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Formal (Logic)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(Vague)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Absolute (Exact)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Review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Mathematical Proof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Consistency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 to track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Checked by Software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31"/>
          <p:cNvSpPr/>
          <p:nvPr/>
        </p:nvSpPr>
        <p:spPr>
          <a:xfrm>
            <a:off x="762000" y="3548806"/>
            <a:ext cx="232261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3084611" y="3548806"/>
            <a:ext cx="453419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7618809" y="3548806"/>
            <a:ext cx="381119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762000" y="4215556"/>
            <a:ext cx="232261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3084611" y="4215556"/>
            <a:ext cx="453419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7618809" y="4215556"/>
            <a:ext cx="381119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762000" y="4882306"/>
            <a:ext cx="232261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3084611" y="4882306"/>
            <a:ext cx="453419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7618809" y="4882306"/>
            <a:ext cx="381119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762000" y="5549056"/>
            <a:ext cx="232261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3084611" y="5549056"/>
            <a:ext cx="453419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7618809" y="5549056"/>
            <a:ext cx="381119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Pre-Conditions: Entry Rules</a:t>
            </a:r>
            <a:endParaRPr/>
          </a:p>
        </p:txBody>
      </p:sp>
      <p:sp>
        <p:nvSpPr>
          <p:cNvPr id="309" name="Google Shape;309;p32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2"/>
          <p:cNvSpPr txBox="1"/>
          <p:nvPr/>
        </p:nvSpPr>
        <p:spPr>
          <a:xfrm>
            <a:off x="762000" y="2325588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Rules that must be true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before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 operation happens.</a:t>
            </a:r>
            <a:endParaRPr/>
          </a:p>
        </p:txBody>
      </p:sp>
      <p:sp>
        <p:nvSpPr>
          <p:cNvPr id="311" name="Google Shape;311;p32"/>
          <p:cNvSpPr/>
          <p:nvPr/>
        </p:nvSpPr>
        <p:spPr>
          <a:xfrm>
            <a:off x="762000" y="5916513"/>
            <a:ext cx="10668000" cy="8477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952500" y="6107013"/>
            <a:ext cx="102870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Logic: Logged_In(u) ∧ Amount &gt; 0</a:t>
            </a:r>
            <a:endParaRPr/>
          </a:p>
        </p:txBody>
      </p:sp>
      <p:sp>
        <p:nvSpPr>
          <p:cNvPr id="313" name="Google Shape;313;p32"/>
          <p:cNvSpPr txBox="1"/>
          <p:nvPr/>
        </p:nvSpPr>
        <p:spPr>
          <a:xfrm>
            <a:off x="1333500" y="3373338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 must be logged in.</a:t>
            </a:r>
            <a:endParaRPr/>
          </a:p>
        </p:txBody>
      </p:sp>
      <p:sp>
        <p:nvSpPr>
          <p:cNvPr id="314" name="Google Shape;314;p32"/>
          <p:cNvSpPr txBox="1"/>
          <p:nvPr/>
        </p:nvSpPr>
        <p:spPr>
          <a:xfrm>
            <a:off x="1333500" y="4068663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Input must be a positive number.</a:t>
            </a:r>
            <a:endParaRPr/>
          </a:p>
        </p:txBody>
      </p:sp>
      <p:sp>
        <p:nvSpPr>
          <p:cNvPr id="315" name="Google Shape;315;p32"/>
          <p:cNvSpPr txBox="1"/>
          <p:nvPr/>
        </p:nvSpPr>
        <p:spPr>
          <a:xfrm>
            <a:off x="1333500" y="4763988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database must be connected.</a:t>
            </a:r>
            <a:endParaRPr/>
          </a:p>
        </p:txBody>
      </p:sp>
      <p:pic>
        <p:nvPicPr>
          <p:cNvPr descr="image.png" id="316" name="Google Shape;3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420963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116288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811613"/>
            <a:ext cx="2667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Post-Conditions: Outcomes</a:t>
            </a:r>
            <a:endParaRPr/>
          </a:p>
        </p:txBody>
      </p:sp>
      <p:sp>
        <p:nvSpPr>
          <p:cNvPr id="324" name="Google Shape;324;p33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3"/>
          <p:cNvSpPr txBox="1"/>
          <p:nvPr/>
        </p:nvSpPr>
        <p:spPr>
          <a:xfrm>
            <a:off x="762000" y="2325588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Rules that must be true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after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 operation is finished.</a:t>
            </a:r>
            <a:endParaRPr/>
          </a:p>
        </p:txBody>
      </p:sp>
      <p:sp>
        <p:nvSpPr>
          <p:cNvPr id="326" name="Google Shape;326;p33"/>
          <p:cNvSpPr/>
          <p:nvPr/>
        </p:nvSpPr>
        <p:spPr>
          <a:xfrm>
            <a:off x="762000" y="5916513"/>
            <a:ext cx="10668000" cy="84772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952500" y="6107013"/>
            <a:ext cx="102870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Guarantee: New_Bal = Old_Bal - Amount</a:t>
            </a:r>
            <a:endParaRPr/>
          </a:p>
        </p:txBody>
      </p:sp>
      <p:sp>
        <p:nvSpPr>
          <p:cNvPr id="328" name="Google Shape;328;p33"/>
          <p:cNvSpPr/>
          <p:nvPr/>
        </p:nvSpPr>
        <p:spPr>
          <a:xfrm>
            <a:off x="762000" y="5916513"/>
            <a:ext cx="95250" cy="8477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1333500" y="3373338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balance is updated.</a:t>
            </a:r>
            <a:endParaRPr/>
          </a:p>
        </p:txBody>
      </p:sp>
      <p:sp>
        <p:nvSpPr>
          <p:cNvPr id="330" name="Google Shape;330;p33"/>
          <p:cNvSpPr txBox="1"/>
          <p:nvPr/>
        </p:nvSpPr>
        <p:spPr>
          <a:xfrm>
            <a:off x="1333500" y="4068663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log record is created.</a:t>
            </a:r>
            <a:endParaRPr/>
          </a:p>
        </p:txBody>
      </p:sp>
      <p:sp>
        <p:nvSpPr>
          <p:cNvPr id="331" name="Google Shape;331;p33"/>
          <p:cNvSpPr txBox="1"/>
          <p:nvPr/>
        </p:nvSpPr>
        <p:spPr>
          <a:xfrm>
            <a:off x="1333500" y="4763988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user receives a confirmation.</a:t>
            </a:r>
            <a:endParaRPr/>
          </a:p>
        </p:txBody>
      </p:sp>
      <p:pic>
        <p:nvPicPr>
          <p:cNvPr descr="image.png" id="332" name="Google Shape;3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420963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116288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811613"/>
            <a:ext cx="2667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Invariants: Golden Rules</a:t>
            </a:r>
            <a:endParaRPr/>
          </a:p>
        </p:txBody>
      </p:sp>
      <p:sp>
        <p:nvSpPr>
          <p:cNvPr id="340" name="Google Shape;340;p34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762000" y="2972544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Rules that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never break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no matter what happens in the system.</a:t>
            </a:r>
            <a:endParaRPr/>
          </a:p>
        </p:txBody>
      </p:sp>
      <p:pic>
        <p:nvPicPr>
          <p:cNvPr descr="image.png" id="342" name="Google Shape;3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572744"/>
            <a:ext cx="42862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Case Study: Secure Login</a:t>
            </a:r>
            <a:endParaRPr/>
          </a:p>
        </p:txBody>
      </p:sp>
      <p:sp>
        <p:nvSpPr>
          <p:cNvPr id="349" name="Google Shape;349;p35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5"/>
          <p:cNvSpPr txBox="1"/>
          <p:nvPr/>
        </p:nvSpPr>
        <p:spPr>
          <a:xfrm>
            <a:off x="762000" y="2348656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Specifying Access Control:</a:t>
            </a:r>
            <a:endParaRPr/>
          </a:p>
        </p:txBody>
      </p:sp>
      <p:sp>
        <p:nvSpPr>
          <p:cNvPr id="351" name="Google Shape;351;p35"/>
          <p:cNvSpPr txBox="1"/>
          <p:nvPr/>
        </p:nvSpPr>
        <p:spPr>
          <a:xfrm>
            <a:off x="762000" y="5691931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Logic ensures there is no "backdoor" into the system.</a:t>
            </a:r>
            <a:endParaRPr/>
          </a:p>
        </p:txBody>
      </p:sp>
      <p:sp>
        <p:nvSpPr>
          <p:cNvPr id="352" name="Google Shape;352;p35"/>
          <p:cNvSpPr txBox="1"/>
          <p:nvPr/>
        </p:nvSpPr>
        <p:spPr>
          <a:xfrm>
            <a:off x="1333500" y="3263056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Pre: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User exists and entered password matches.</a:t>
            </a:r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1333500" y="3958381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Operation: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Grant Access Token.</a:t>
            </a:r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1333500" y="4653706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Invariant: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user can access data without a valid Token.</a:t>
            </a:r>
            <a:endParaRPr/>
          </a:p>
        </p:txBody>
      </p:sp>
      <p:pic>
        <p:nvPicPr>
          <p:cNvPr descr="image.png" id="355" name="Google Shape;3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310681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006006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701331"/>
            <a:ext cx="2667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6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Case Study: Banking Safety</a:t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5" name="Google Shape;36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/>
          <p:nvPr/>
        </p:nvSpPr>
        <p:spPr>
          <a:xfrm>
            <a:off x="6381750" y="2858244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Formal Logic prevents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Double Spending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67" name="Google Shape;367;p36"/>
          <p:cNvSpPr txBox="1"/>
          <p:nvPr/>
        </p:nvSpPr>
        <p:spPr>
          <a:xfrm>
            <a:off x="6381750" y="4077444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prove that money is never created or destroyed, only moved between accounts.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2" name="Google Shape;37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7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Case Study: Self-Driving Cars</a:t>
            </a:r>
            <a:endParaRPr/>
          </a:p>
        </p:txBody>
      </p:sp>
      <p:sp>
        <p:nvSpPr>
          <p:cNvPr id="374" name="Google Shape;374;p37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7"/>
          <p:cNvSpPr txBox="1"/>
          <p:nvPr/>
        </p:nvSpPr>
        <p:spPr>
          <a:xfrm>
            <a:off x="762000" y="3367831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When safety is critical, logic is used to prove that a car will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never choose an unsafe action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376" name="Google Shape;37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53394"/>
            <a:ext cx="50482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48656"/>
            <a:ext cx="5191125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348656"/>
            <a:ext cx="5191125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8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Modern Logic Tools</a:t>
            </a:r>
            <a:endParaRPr/>
          </a:p>
        </p:txBody>
      </p:sp>
      <p:sp>
        <p:nvSpPr>
          <p:cNvPr id="384" name="Google Shape;384;p38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8"/>
          <p:cNvSpPr txBox="1"/>
          <p:nvPr/>
        </p:nvSpPr>
        <p:spPr>
          <a:xfrm>
            <a:off x="1042273" y="3120181"/>
            <a:ext cx="463057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Z Notation</a:t>
            </a:r>
            <a:endParaRPr/>
          </a:p>
        </p:txBody>
      </p:sp>
      <p:sp>
        <p:nvSpPr>
          <p:cNvPr id="386" name="Google Shape;386;p38"/>
          <p:cNvSpPr txBox="1"/>
          <p:nvPr/>
        </p:nvSpPr>
        <p:spPr>
          <a:xfrm>
            <a:off x="1152525" y="3891706"/>
            <a:ext cx="441007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language based on Set Theory and FOPC for large systems.</a:t>
            </a:r>
            <a:endParaRPr/>
          </a:p>
        </p:txBody>
      </p:sp>
      <p:sp>
        <p:nvSpPr>
          <p:cNvPr id="387" name="Google Shape;387;p38"/>
          <p:cNvSpPr txBox="1"/>
          <p:nvPr/>
        </p:nvSpPr>
        <p:spPr>
          <a:xfrm>
            <a:off x="6519148" y="3120181"/>
            <a:ext cx="463057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Alloy</a:t>
            </a:r>
            <a:endParaRPr/>
          </a:p>
        </p:txBody>
      </p:sp>
      <p:sp>
        <p:nvSpPr>
          <p:cNvPr id="388" name="Google Shape;388;p38"/>
          <p:cNvSpPr txBox="1"/>
          <p:nvPr/>
        </p:nvSpPr>
        <p:spPr>
          <a:xfrm>
            <a:off x="6629400" y="3891706"/>
            <a:ext cx="4410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tool that finds logic bugs automatically using models.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3" name="Google Shape;39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577256"/>
            <a:ext cx="50482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48656"/>
            <a:ext cx="5048250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9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Proof vs. Testing</a:t>
            </a:r>
            <a:endParaRPr/>
          </a:p>
        </p:txBody>
      </p:sp>
      <p:sp>
        <p:nvSpPr>
          <p:cNvPr id="396" name="Google Shape;396;p39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9"/>
          <p:cNvSpPr txBox="1"/>
          <p:nvPr/>
        </p:nvSpPr>
        <p:spPr>
          <a:xfrm>
            <a:off x="1045844" y="3348781"/>
            <a:ext cx="44805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Testing</a:t>
            </a:r>
            <a:endParaRPr/>
          </a:p>
        </p:txBody>
      </p:sp>
      <p:sp>
        <p:nvSpPr>
          <p:cNvPr id="398" name="Google Shape;398;p39"/>
          <p:cNvSpPr txBox="1"/>
          <p:nvPr/>
        </p:nvSpPr>
        <p:spPr>
          <a:xfrm>
            <a:off x="1152525" y="4120306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"I tried 100 things and it didn't break."</a:t>
            </a:r>
            <a:endParaRPr/>
          </a:p>
        </p:txBody>
      </p:sp>
      <p:sp>
        <p:nvSpPr>
          <p:cNvPr id="399" name="Google Shape;399;p39"/>
          <p:cNvSpPr txBox="1"/>
          <p:nvPr/>
        </p:nvSpPr>
        <p:spPr>
          <a:xfrm>
            <a:off x="6665595" y="3120181"/>
            <a:ext cx="44805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Formal Proof</a:t>
            </a:r>
            <a:endParaRPr/>
          </a:p>
        </p:txBody>
      </p:sp>
      <p:sp>
        <p:nvSpPr>
          <p:cNvPr id="400" name="Google Shape;400;p39"/>
          <p:cNvSpPr txBox="1"/>
          <p:nvPr/>
        </p:nvSpPr>
        <p:spPr>
          <a:xfrm>
            <a:off x="6772275" y="3891706"/>
            <a:ext cx="4267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"I checked every possible situation with math, and it is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guaranteed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work."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Logic Saves Money</a:t>
            </a:r>
            <a:endParaRPr/>
          </a:p>
        </p:txBody>
      </p:sp>
      <p:sp>
        <p:nvSpPr>
          <p:cNvPr id="406" name="Google Shape;406;p40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0"/>
          <p:cNvSpPr txBox="1"/>
          <p:nvPr/>
        </p:nvSpPr>
        <p:spPr>
          <a:xfrm>
            <a:off x="762000" y="2943969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Fixing a bug in production is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100x more expensive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than fixing it on the blueprint.</a:t>
            </a:r>
            <a:endParaRPr/>
          </a:p>
        </p:txBody>
      </p:sp>
      <p:sp>
        <p:nvSpPr>
          <p:cNvPr id="408" name="Google Shape;408;p40"/>
          <p:cNvSpPr txBox="1"/>
          <p:nvPr/>
        </p:nvSpPr>
        <p:spPr>
          <a:xfrm>
            <a:off x="762000" y="4448919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Formal specs find bugs in the design phase, before a single line of code is written.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1"/>
          <p:cNvSpPr txBox="1"/>
          <p:nvPr/>
        </p:nvSpPr>
        <p:spPr>
          <a:xfrm>
            <a:off x="1047750" y="982563"/>
            <a:ext cx="10901362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Future: AI &amp; Logic</a:t>
            </a:r>
            <a:endParaRPr/>
          </a:p>
        </p:txBody>
      </p:sp>
      <p:sp>
        <p:nvSpPr>
          <p:cNvPr id="414" name="Google Shape;414;p41"/>
          <p:cNvSpPr/>
          <p:nvPr/>
        </p:nvSpPr>
        <p:spPr>
          <a:xfrm>
            <a:off x="762000" y="982563"/>
            <a:ext cx="95250" cy="6572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1"/>
          <p:cNvSpPr txBox="1"/>
          <p:nvPr/>
        </p:nvSpPr>
        <p:spPr>
          <a:xfrm>
            <a:off x="762000" y="3172569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is helping humans write formal specs. In the future, computers might </a:t>
            </a: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prove their own correctness</a:t>
            </a:r>
            <a:r>
              <a:rPr b="0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using Predicate Calculus.</a:t>
            </a:r>
            <a:endParaRPr/>
          </a:p>
        </p:txBody>
      </p:sp>
      <p:sp>
        <p:nvSpPr>
          <p:cNvPr id="416" name="Google Shape;416;p41"/>
          <p:cNvSpPr txBox="1"/>
          <p:nvPr/>
        </p:nvSpPr>
        <p:spPr>
          <a:xfrm>
            <a:off x="762000" y="4677519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goal is a world of perfectly reliable technology.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