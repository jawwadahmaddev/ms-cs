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Identification of Human vs.</a:t>
            </a:r>
            <a:endParaRPr lang="en-US" sz="3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LLM-Generated Text: A Review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Research Methods — Term Proposal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|  F25NDOCS3W04013  |  MSCS 2nd Semester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Ahmad Niaz  |  Assistant Professor, CS Department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3977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96112"/>
            <a:ext cx="64008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984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04241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792224"/>
            <a:ext cx="3977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92224"/>
            <a:ext cx="64008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6596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LLMs, XAI, LIME &amp; SHAP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2688336"/>
            <a:ext cx="3977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688336"/>
            <a:ext cx="64008" cy="694944"/>
          </a:xfrm>
          <a:prstGeom prst="rect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862072"/>
            <a:ext cx="347472" cy="347472"/>
          </a:xfrm>
          <a:prstGeom prst="ellipse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3464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PRISMA Framework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3584448"/>
            <a:ext cx="3977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584448"/>
            <a:ext cx="64008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5818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73075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Literature Review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896112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896112"/>
            <a:ext cx="64008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6984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10424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17720" y="1792224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792224"/>
            <a:ext cx="64008" cy="6949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1965960"/>
            <a:ext cx="347472" cy="347472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19385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Future Directions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17720" y="2688336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688336"/>
            <a:ext cx="64008" cy="694944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862072"/>
            <a:ext cx="347472" cy="347472"/>
          </a:xfrm>
          <a:prstGeom prst="ellipse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85232" y="28346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problem matter?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572768"/>
            <a:ext cx="2743200" cy="2377440"/>
          </a:xfrm>
          <a:prstGeom prst="rect">
            <a:avLst/>
          </a:prstGeom>
          <a:solidFill>
            <a:srgbClr val="1A3A5C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572768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submissions undermine integrity of assessment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572768"/>
            <a:ext cx="2743200" cy="2377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572768"/>
            <a:ext cx="2743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0712" y="2212848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content erodes public trust in news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572768"/>
            <a:ext cx="2743200" cy="2377440"/>
          </a:xfrm>
          <a:prstGeom prst="rect">
            <a:avLst/>
          </a:prstGeom>
          <a:solidFill>
            <a:srgbClr val="1A3A5C"/>
          </a:solidFill>
          <a:ln w="19050">
            <a:solidFill>
              <a:srgbClr val="E05A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572768"/>
            <a:ext cx="2743200" cy="73152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792" y="2212848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Unattributed AI text creates serious ethical risk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4114800"/>
            <a:ext cx="8449056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788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detection alone is not enough — systems must be transparent, explainable, and accountable.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LLMs, Detection &amp; Explainable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64008" cy="3566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neural networks trained on vast text corpora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fluent, coherent text via autoregressive decoding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Llama, Claude, Gemini — outputs resemble human prose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serious detection challenge in academic &amp; professional contexts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15568"/>
            <a:ext cx="64008" cy="3566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(XAI)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28032" y="1664208"/>
            <a:ext cx="1737360" cy="1298448"/>
          </a:xfrm>
          <a:prstGeom prst="rect">
            <a:avLst/>
          </a:prstGeom>
          <a:solidFill>
            <a:srgbClr val="F0F7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7373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2896" y="2084832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perturbation-based attribution. Fast, flexible, token-level.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56832" y="1664208"/>
            <a:ext cx="1920240" cy="1298448"/>
          </a:xfrm>
          <a:prstGeom prst="rect">
            <a:avLst/>
          </a:prstGeom>
          <a:solidFill>
            <a:srgbClr val="F0F7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17373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11696" y="2084832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Game-theory Shapley values. Consistent, reproducible, additive.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3090672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are: post-hoc · local · model-agnostic → apply to any classifier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3547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Ante-hoc vs. post-hoc; local vs. global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black-box detectors auditable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token-level linguistic signals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Systematic Literature Review</a:t>
            </a:r>
            <a:endParaRPr lang="en-US" sz="2600" dirty="0"/>
          </a:p>
        </p:txBody>
      </p:sp>
      <p:pic>
        <p:nvPicPr>
          <p:cNvPr id="5" name="Image 0" descr="/mnt/user-data/outputs/prisma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005840"/>
            <a:ext cx="44805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78992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078992"/>
            <a:ext cx="640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3533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Scholar, ArXiv, IEEE Xplore, SciSpace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" y="1847088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1847088"/>
            <a:ext cx="64008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83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21214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→ full text — two-stage filter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615184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" y="2615184"/>
            <a:ext cx="64008" cy="640080"/>
          </a:xfrm>
          <a:prstGeom prst="rect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651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28895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 · XAI method · ≥500 samples · English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7472" y="338328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" y="3383280"/>
            <a:ext cx="64008" cy="6400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657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XAI tool, dataset, metrics, findings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7472" y="4151376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472" y="4151376"/>
            <a:ext cx="64008" cy="64008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187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4256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review, F1/AUC reported, replication materials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4663440"/>
            <a:ext cx="3840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2336" y="46817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result: 12 studies included from 250 identified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Literature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Studies Across Three Thematic Clusters</a:t>
            </a:r>
            <a:endParaRPr lang="en-US" sz="2600" dirty="0"/>
          </a:p>
        </p:txBody>
      </p:sp>
      <p:pic>
        <p:nvPicPr>
          <p:cNvPr id="5" name="Image 0" descr="/mnt/user-data/outputs/thematic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24128"/>
            <a:ext cx="844905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 /  Stylometric &amp; Classical 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Shah (2023)  ·  McGovern (2024)  ·  Przystalski (2025)</a:t>
            </a:r>
            <a:endParaRPr lang="en-US" sz="2200" dirty="0"/>
          </a:p>
        </p:txBody>
      </p:sp>
      <p:pic>
        <p:nvPicPr>
          <p:cNvPr id="5" name="Image 0" descr="/mnt/user-data/outputs/theme1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87552"/>
            <a:ext cx="54864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16752" y="987552"/>
            <a:ext cx="27797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16752" y="987552"/>
            <a:ext cx="64008" cy="877824"/>
          </a:xfrm>
          <a:prstGeom prst="rect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060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finding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13533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text is more grammatically regular and lexically predictable than human text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16752" y="2011680"/>
            <a:ext cx="27797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16752" y="2011680"/>
            <a:ext cx="64008" cy="8778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SHAP agree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Index, punctuation regularity and grammatical standardization are top features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16752" y="3035808"/>
            <a:ext cx="27797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16752" y="3035808"/>
            <a:ext cx="64008" cy="87782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tension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34015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vs. Przystalski disagree on exact feature rankings — dataset-driven difference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" y="4078224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Stylometry remains effective even on short samples (&lt; 200 words)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 /  Transformer-Based Deep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Mitrovic · Joshi (HULLMI) · Masih · Mohammadi  —  2023–2025</a:t>
            </a:r>
            <a:endParaRPr lang="en-US" sz="2000" dirty="0"/>
          </a:p>
        </p:txBody>
      </p:sp>
      <p:pic>
        <p:nvPicPr>
          <p:cNvPr id="5" name="Image 0" descr="/mnt/user-data/outputs/theme2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87552"/>
            <a:ext cx="8449056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4133088"/>
            <a:ext cx="8449056" cy="777240"/>
          </a:xfrm>
          <a:prstGeom prst="rect">
            <a:avLst/>
          </a:prstGeom>
          <a:solidFill>
            <a:srgbClr val="FFF0EF"/>
          </a:solidFill>
          <a:ln w="19050">
            <a:solidFill>
              <a:srgbClr val="E05A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97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Explainability Paradox  —  Mohammadi et al. (2025):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5079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XAI-guided token replacement drops detector accuracy by 20–35% — transparency enables evasion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 /  Multi-Label Attribution &amp; Cross-Domain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Adilazuarda · Najjar · Zahraa · Baharifar · Iqbal  —  2023–2025</a:t>
            </a:r>
            <a:endParaRPr lang="en-US" sz="2000" dirty="0"/>
          </a:p>
        </p:txBody>
      </p:sp>
      <p:pic>
        <p:nvPicPr>
          <p:cNvPr id="5" name="Image 0" descr="/mnt/user-data/outputs/theme3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87552"/>
            <a:ext cx="53035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987552"/>
            <a:ext cx="294436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987552"/>
            <a:ext cx="64008" cy="9326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53328" y="106070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as attribution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371600"/>
            <a:ext cx="2633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profiles distinguish WHICH LLM wrote a text — not just human vs. AI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066544"/>
            <a:ext cx="294436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066544"/>
            <a:ext cx="64008" cy="9326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3969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53328" y="2450592"/>
            <a:ext cx="2633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misinformation: absence of epistemic hedging is the strongest AI signal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145536"/>
            <a:ext cx="294436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52160" y="3145536"/>
            <a:ext cx="64008" cy="932688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1868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winner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53328" y="3529584"/>
            <a:ext cx="2633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Adilazuarda: no paradigm consistently dominates across all domains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Comparative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Paradigms — Four Dimensions</a:t>
            </a:r>
            <a:endParaRPr lang="en-US" sz="2600" dirty="0"/>
          </a:p>
        </p:txBody>
      </p:sp>
      <p:pic>
        <p:nvPicPr>
          <p:cNvPr id="5" name="Image 0" descr="/mnt/user-data/outputs/paradig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0"/>
            <a:ext cx="51206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87568" y="1078992"/>
            <a:ext cx="3108960" cy="1078992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87568" y="1078992"/>
            <a:ext cx="64008" cy="10789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88736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Stylometric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88736" y="149961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adversarial robustness &amp; interpretability. Lower peak accuracy.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87568" y="2340864"/>
            <a:ext cx="3108960" cy="1078992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7568" y="2340864"/>
            <a:ext cx="64008" cy="10789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88736" y="2432304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88736" y="276148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(~91%). Adversarially vulnerable when XAI is exposed.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87568" y="3602736"/>
            <a:ext cx="3108960" cy="1078992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87568" y="3602736"/>
            <a:ext cx="64008" cy="10789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369417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Multi-label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88736" y="402336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Richest output — identifies source LLM. Highest cost, needs retraining.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Comparative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LIME &amp; SHAP Consistently Find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078992"/>
          <a:ext cx="8449056" cy="3794760"/>
        </p:xfrm>
        <a:graphic>
          <a:graphicData uri="http://schemas.openxmlformats.org/drawingml/2006/table">
            <a:tbl>
              <a:tblPr/>
              <a:tblGrid>
                <a:gridCol w="3017520"/>
                <a:gridCol w="2926080"/>
                <a:gridCol w="2505456"/>
              </a:tblGrid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Discriminative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Identifying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Grammatical standardization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Przystalski, Masih, Baharifar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Formulaic transitional phrases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Shah, Joshi, Zahraa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Stylometric + 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lexical entropy / vocabulary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Shah, Przystalski, Iqbal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Stylometric +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Superlatives &amp; assertive constructions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Mitrovic, Baharifar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of epistemic hedging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Baharifar, Najjar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Multi-label +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tag distribution anomalies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McGovern, Przystalski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Stylometric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Discourse-level over-smoothing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Joshi, Najjar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+ Multi-label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Comparative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Generalizability Problem</a:t>
            </a:r>
            <a:endParaRPr lang="en-US" sz="2600" dirty="0"/>
          </a:p>
        </p:txBody>
      </p:sp>
      <p:pic>
        <p:nvPicPr>
          <p:cNvPr id="5" name="Image 0" descr="/mnt/user-data/outputs/generalizability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87552"/>
            <a:ext cx="8449056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4425696"/>
            <a:ext cx="27249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" y="4425696"/>
            <a:ext cx="54864" cy="566928"/>
          </a:xfrm>
          <a:prstGeom prst="rect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44805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Stylometric: 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2064" y="4681728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 across domains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4425696"/>
            <a:ext cx="27249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4425696"/>
            <a:ext cx="54864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4992" y="44805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64992" y="4681728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shift across LLMs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53328" y="4425696"/>
            <a:ext cx="27249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53328" y="4425696"/>
            <a:ext cx="54864" cy="566928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44805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Multi-label: 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4681728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 sensitivity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Research Gaps &amp; Future Directions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Priority Research Gaps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64008" cy="60350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58368" cy="274320"/>
          </a:xfrm>
          <a:prstGeom prst="rect">
            <a:avLst>
              <a:gd name="adj" fmla="val 20000"/>
            </a:avLst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61872" y="118872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— XAI paradox unresolved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86537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D9E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865376"/>
            <a:ext cx="64008" cy="603504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02536"/>
            <a:ext cx="658368" cy="274320"/>
          </a:xfrm>
          <a:prstGeom prst="rect">
            <a:avLst>
              <a:gd name="adj" fmla="val 20000"/>
            </a:avLst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025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61872" y="1956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XAI evaluation benchmarks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633472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633472"/>
            <a:ext cx="64008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770632"/>
            <a:ext cx="658368" cy="274320"/>
          </a:xfrm>
          <a:prstGeom prst="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706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272491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against non-native writers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401568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401568"/>
            <a:ext cx="64008" cy="6035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538728"/>
            <a:ext cx="658368" cy="274320"/>
          </a:xfrm>
          <a:prstGeom prst="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38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61872" y="349300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and cross-LLM generalization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169664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6B52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169664"/>
            <a:ext cx="64008" cy="603504"/>
          </a:xfrm>
          <a:prstGeom prst="rect">
            <a:avLst/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306824"/>
            <a:ext cx="658368" cy="274320"/>
          </a:xfrm>
          <a:prstGeom prst="rect">
            <a:avLst>
              <a:gd name="adj" fmla="val 20000"/>
            </a:avLst>
          </a:prstGeom>
          <a:solidFill>
            <a:srgbClr val="6B52AE"/>
          </a:solidFill>
          <a:ln w="12700">
            <a:solidFill>
              <a:srgbClr val="6B52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06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61872" y="426110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explainable detection absent</a:t>
            </a:r>
            <a:endParaRPr lang="en-US" sz="1100" dirty="0"/>
          </a:p>
        </p:txBody>
      </p:sp>
      <p:pic>
        <p:nvPicPr>
          <p:cNvPr id="30" name="Image 0" descr="/mnt/user-data/outputs/gaps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005840"/>
            <a:ext cx="4114800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Conclusion — 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Establishes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572768"/>
            <a:ext cx="4133088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572768"/>
            <a:ext cx="54864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70078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Convergent validity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4825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consistently identify the SAME core AI signals — grammatical standardization, formulaic language, low lexical entropy — across all three paradigms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1572768"/>
            <a:ext cx="4133088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572768"/>
            <a:ext cx="54864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170078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6642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+ XAI are compatible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04825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and Masih demonstrate integrating XAI into transformer pipelines does NOT sacrifice classification performance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218688"/>
            <a:ext cx="4133088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D489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218688"/>
            <a:ext cx="54864" cy="146304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3346704"/>
            <a:ext cx="365760" cy="365760"/>
          </a:xfrm>
          <a:prstGeom prst="ellipse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10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is the critical gap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9417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paradigm performs reliably outside its training domain — the majority of domain × LLM combinations remain completely untested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36592" y="3218688"/>
            <a:ext cx="4133088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E05A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3218688"/>
            <a:ext cx="54864" cy="146304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3346704"/>
            <a:ext cx="365760" cy="365760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310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adversarial paradox is unsolved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369417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that makes detection trustworthy simultaneously makes it vulnerable — no current architecture resolves both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Broader Significance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943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AI-generated content becomes embedded in academic, journalistic,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medical, and legal discourse — the ability to detect and explain AI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authorship transparently is not merely a technical capability.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governance requirement.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2651760" cy="1481328"/>
          </a:xfrm>
          <a:prstGeom prst="rect">
            <a:avLst/>
          </a:prstGeom>
          <a:solidFill>
            <a:srgbClr val="1A3A5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401568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5478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" y="3986784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classification across LLMs and domains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3401568"/>
            <a:ext cx="2651760" cy="1481328"/>
          </a:xfrm>
          <a:prstGeom prst="rect">
            <a:avLst/>
          </a:prstGeom>
          <a:solidFill>
            <a:srgbClr val="1A3A5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3401568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35478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38144" y="3986784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can be examined and challenged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3401568"/>
            <a:ext cx="2651760" cy="1481328"/>
          </a:xfrm>
          <a:prstGeom prst="rect">
            <a:avLst/>
          </a:prstGeom>
          <a:solidFill>
            <a:srgbClr val="1A3A5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3401568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5478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3986784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are fair, robust, and accountable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365760"/>
            <a:ext cx="2560320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|  F25NDOCS3W04013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Ahmad Niaz  —  The Islamia University of Bahawalpur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Research Methods  |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Identification of Human vs. LLM-Generated Text</dc:title>
  <dc:subject>PptxGenJS Presentation</dc:subject>
  <dc:creator>Jawwad Ahmad</dc:creator>
  <cp:lastModifiedBy>Jawwad Ahmad</cp:lastModifiedBy>
  <cp:revision>1</cp:revision>
  <dcterms:created xsi:type="dcterms:W3CDTF">2026-04-04T07:22:31Z</dcterms:created>
  <dcterms:modified xsi:type="dcterms:W3CDTF">2026-04-04T07:22:31Z</dcterms:modified>
</cp:coreProperties>
</file>