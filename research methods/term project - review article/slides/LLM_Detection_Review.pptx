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74320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21792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9264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16736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274320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621792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969264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1316736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74320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621792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969264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316736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274320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621792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969264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316736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274320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621792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9320" y="969264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1316736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274320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621792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969264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60920" y="1316736"/>
            <a:ext cx="54864" cy="54864"/>
          </a:xfrm>
          <a:prstGeom prst="ellipse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Identification of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vs. LLM-Generated Text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57200" y="21214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Review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926080" y="2651760"/>
            <a:ext cx="329184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Jawwad Ahmad</a:t>
            </a:r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F25NDOCS3W04013  |  MSCS 2nd Semester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Ahmad Niaz — The Islamia University of Bahawalpur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42062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D7377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2062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21408" y="42062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D7377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2121408" y="42062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19856" y="42062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D7377">
              <a:alpha val="6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419856" y="42062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18304" y="42062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D7377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718304" y="42062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16752" y="42062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D7377">
              <a:alpha val="6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016752" y="42062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315200" y="42062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D7377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0" y="42062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7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73152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8408" y="9326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28930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text detection challenge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73152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8686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13248" y="9326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Key Concepts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13248" y="128930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LIME, SHAP, XAI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828800"/>
            <a:ext cx="73152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8288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8408" y="1892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" y="224942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systematic review (12 studies)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82880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828800"/>
            <a:ext cx="73152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8288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13248" y="1892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1: Stylometric Methods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13248" y="224942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+ XAI features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78892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788920"/>
            <a:ext cx="73152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7889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78408" y="28529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2: Transformers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" y="320954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RoBERTa, DistilBERT, adversarial risk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78892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788920"/>
            <a:ext cx="73152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7889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13248" y="28529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3: Multi-Label Attribution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13248" y="320954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fingerprinting &amp; domain analysis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74904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749040"/>
            <a:ext cx="73152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7490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78408" y="38130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Gaps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78408" y="416966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structural limitations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374904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749040"/>
            <a:ext cx="73152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37490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413248" y="38130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13248" y="416966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roadmap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029200" cy="3977640"/>
          </a:xfrm>
          <a:prstGeom prst="rect">
            <a:avLst/>
          </a:prstGeom>
          <a:solidFill>
            <a:srgbClr val="1A204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8872" cy="118872"/>
          </a:xfrm>
          <a:prstGeom prst="ellipse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5331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(GPT-4, Claude, Llama, Gemini) produce text indistinguishable from human writing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118872" cy="118872"/>
          </a:xfrm>
          <a:prstGeom prst="ellipse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28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risks in academia, journalism, medicine, and law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118872" cy="118872"/>
          </a:xfrm>
          <a:prstGeom prst="ellipse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3042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systems used perplexity scores &amp; stylometric indices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43784"/>
            <a:ext cx="118872" cy="118872"/>
          </a:xfrm>
          <a:prstGeom prst="ellipse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77977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(RoBERTa, DistilBERT) → high accuracy but opaque decisions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319272"/>
            <a:ext cx="118872" cy="118872"/>
          </a:xfrm>
          <a:prstGeom prst="ellipse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25526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decisions cannot support institutional accountability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118872" cy="118872"/>
          </a:xfrm>
          <a:prstGeom prst="ellipse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7307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is now essential — not optional — for trustworthy deployment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577840" y="822960"/>
            <a:ext cx="3200400" cy="1143000"/>
          </a:xfrm>
          <a:prstGeom prst="rect">
            <a:avLst/>
          </a:prstGeom>
          <a:solidFill>
            <a:srgbClr val="0D7377">
              <a:alpha val="8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0" y="8686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675120" y="8961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Covered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1280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Llama, Claude, Gemini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148840"/>
            <a:ext cx="3200400" cy="114300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0" y="21945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675120" y="22219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Reviewed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2606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2023–2026 PRISMA synthesis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3474720"/>
            <a:ext cx="3200400" cy="1143000"/>
          </a:xfrm>
          <a:prstGeom prst="rect">
            <a:avLst/>
          </a:prstGeom>
          <a:solidFill>
            <a:srgbClr val="22C55E">
              <a:alpha val="8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69280" y="352044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6675120" y="35478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XAI Methods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&amp; SHAP attribution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7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— Key Concepts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457200"/>
          </a:xfrm>
          <a:prstGeom prst="rect">
            <a:avLst/>
          </a:prstGeom>
          <a:solidFill>
            <a:srgbClr val="1217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16276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for long-range dependencies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9568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generation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21945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dist. over vocabulary at each step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5237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parameter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27614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output diversity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30906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text markers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4048" y="33284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 variation, idiosyncratic word choice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3657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text markers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" y="38953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standardization, high lexical predictability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822960"/>
            <a:ext cx="42976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822960"/>
            <a:ext cx="429768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822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vs. SHAP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1920240" cy="15544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Perturbs tokens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local linear model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flexible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unstable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12280" y="1371600"/>
            <a:ext cx="1920240" cy="1554480"/>
          </a:xfrm>
          <a:prstGeom prst="rect">
            <a:avLst/>
          </a:prstGeom>
          <a:solidFill>
            <a:srgbClr val="E8F8F2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Game-theory based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fair attribution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&amp; reproducible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compute cost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063240"/>
            <a:ext cx="4069080" cy="73152"/>
          </a:xfrm>
          <a:prstGeom prst="rect">
            <a:avLst/>
          </a:prstGeom>
          <a:solidFill>
            <a:srgbClr val="8899AA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2004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Post-hoc  ·  Local  ·  Model-agnostic  ·  Feature-level attribution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3657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Paradigms: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977640"/>
            <a:ext cx="1261872" cy="502920"/>
          </a:xfrm>
          <a:prstGeom prst="roundRect">
            <a:avLst>
              <a:gd name="adj" fmla="val 10909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397764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+ Classical ML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3977640"/>
            <a:ext cx="1261872" cy="502920"/>
          </a:xfrm>
          <a:prstGeom prst="roundRect">
            <a:avLst>
              <a:gd name="adj" fmla="val 10909"/>
            </a:avLst>
          </a:prstGeom>
          <a:solidFill>
            <a:srgbClr val="0D7377"/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397764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Deep Learning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3977640"/>
            <a:ext cx="1261872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0" y="397764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Attribution Frameworks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7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PRISMA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371600" cy="8686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822960"/>
            <a:ext cx="4754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65960" y="86868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records from 4 databases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65960" y="106070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 (120), ArXiv (72)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65960" y="125272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 (38), SciSpace (20)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65960" y="144475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duplicates removed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" y="1691640"/>
            <a:ext cx="54864" cy="13716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810512"/>
            <a:ext cx="164592" cy="109728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28800"/>
            <a:ext cx="1371600" cy="86868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8288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8800" y="1828800"/>
            <a:ext cx="4754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65960" y="187452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records screened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65960" y="206654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excluded: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65960" y="225856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Not AGTD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65960" y="245059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XAI component  · Pre-2023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" y="2697480"/>
            <a:ext cx="54864" cy="13716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2816352"/>
            <a:ext cx="164592" cy="109728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834640"/>
            <a:ext cx="1371600" cy="868680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8346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828800" y="2834640"/>
            <a:ext cx="4754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965960" y="288036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full texts assessed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965960" y="307238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excluded: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65960" y="326440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formal XAI (n=18)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65960" y="345643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Small dataset (n=12)  · Other (n=14)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" y="3703320"/>
            <a:ext cx="54864" cy="13716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" y="3822192"/>
            <a:ext cx="164592" cy="109728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840480"/>
            <a:ext cx="1371600" cy="868680"/>
          </a:xfrm>
          <a:prstGeom prst="rect">
            <a:avLst/>
          </a:prstGeom>
          <a:solidFill>
            <a:srgbClr val="6E2F1A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384048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828800" y="3840480"/>
            <a:ext cx="4754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965960" y="388620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studies included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965960" y="407822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2023–2026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965960" y="427024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/ SHAP focus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965960" y="446227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coverage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0" y="822960"/>
            <a:ext cx="2011680" cy="3977640"/>
          </a:xfrm>
          <a:prstGeom prst="rect">
            <a:avLst/>
          </a:prstGeom>
          <a:solidFill>
            <a:srgbClr val="12173A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49440" y="868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Criteria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967728" y="1325880"/>
            <a:ext cx="128016" cy="128016"/>
          </a:xfrm>
          <a:prstGeom prst="ellipse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50608" y="128930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Jan 2023 – Mar 2026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67728" y="1810512"/>
            <a:ext cx="128016" cy="128016"/>
          </a:xfrm>
          <a:prstGeom prst="ellipse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50608" y="177393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AI text detection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67728" y="2295144"/>
            <a:ext cx="128016" cy="128016"/>
          </a:xfrm>
          <a:prstGeom prst="ellipse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50608" y="225856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≥1 XAI method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67728" y="2779776"/>
            <a:ext cx="128016" cy="128016"/>
          </a:xfrm>
          <a:prstGeom prst="ellipse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50608" y="27432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English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67728" y="3264408"/>
            <a:ext cx="128016" cy="128016"/>
          </a:xfrm>
          <a:prstGeom prst="ellipse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50608" y="322783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≥500 samples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67728" y="3749040"/>
            <a:ext cx="128016" cy="128016"/>
          </a:xfrm>
          <a:prstGeom prst="ellipse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50608" y="371246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Accuracy / F1 / AUC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49440" y="4206240"/>
            <a:ext cx="182880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3" name="Text 51"/>
          <p:cNvSpPr/>
          <p:nvPr/>
        </p:nvSpPr>
        <p:spPr>
          <a:xfrm>
            <a:off x="694944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 Synthesis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meta-analysis)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 — Stylometric &amp; Classical ML Approaches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283464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77240"/>
            <a:ext cx="2834640" cy="502920"/>
          </a:xfrm>
          <a:prstGeom prst="rect">
            <a:avLst/>
          </a:prstGeom>
          <a:solidFill>
            <a:srgbClr val="5B2C8D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et al. (2023)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0934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Logistic Reg., Random Forest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665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Tool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30428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+ SHAP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76148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Simpson's Index, Punctuation regularity, Low-entropy word choice, Formulaic transitions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69417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93192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homogeneity (English general domain only)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777240"/>
            <a:ext cx="283464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777240"/>
            <a:ext cx="2834640" cy="502920"/>
          </a:xfrm>
          <a:prstGeom prst="rect">
            <a:avLst/>
          </a:prstGeom>
          <a:solidFill>
            <a:srgbClr val="7D3C8C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McGovern et al. (2024)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10128" y="137160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160934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analysis, Frequency distributions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20665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Tool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230428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visualization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276148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2999232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 distributions, LLM-specific high-frequency token profiles, Adjective-noun sequences, Passive constructions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369417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393192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model-agnostic XAI; visualizations only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4768" y="777240"/>
            <a:ext cx="283464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44768" y="777240"/>
            <a:ext cx="2834640" cy="502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8" name="Text 26"/>
          <p:cNvSpPr/>
          <p:nvPr/>
        </p:nvSpPr>
        <p:spPr>
          <a:xfrm>
            <a:off x="6236208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Przystalski et al. (2025)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54496" y="137160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54496" y="160934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on short samples (&lt;200w)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54496" y="20665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Tool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54496" y="230428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(global + local)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54496" y="276148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54496" y="2999232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standardization (2× weight of next feature), Atypical word freq. distributions, Lexical entropy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54496" y="369417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54496" y="393192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generalize to professional writing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6032" y="4754880"/>
            <a:ext cx="8631936" cy="27432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475488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finding: LLM text is more grammatically regular &amp; lexically predictable than human text — confirmed across all 3 studies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— Transformer-Based Deep Learning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28346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77240"/>
            <a:ext cx="2834640" cy="5029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Mitrovic et al.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(2023)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44168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54480" y="1865376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186537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~84%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224028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XAI: SHAP (token)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788920"/>
            <a:ext cx="26151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reviews overuse superlatives; humans use idiosyncratic vocab &amp; hedged evaluations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777240"/>
            <a:ext cx="28346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777240"/>
            <a:ext cx="2834640" cy="502920"/>
          </a:xfrm>
          <a:prstGeom prst="rect">
            <a:avLst/>
          </a:prstGeom>
          <a:solidFill>
            <a:srgbClr val="1A8A8A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 et al.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 — HULLMI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1344168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157276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RoBERTa-Sentinel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19019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98848" y="1865376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4498848" y="186537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10128" y="224028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XAI: LIME (token)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2560320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2788920"/>
            <a:ext cx="26151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complements accuracy; formulaic hedging &amp; impersonal constructions are key signals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4768" y="777240"/>
            <a:ext cx="28346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44768" y="777240"/>
            <a:ext cx="2834640" cy="502920"/>
          </a:xfrm>
          <a:prstGeom prst="rect">
            <a:avLst/>
          </a:prstGeom>
          <a:solidFill>
            <a:srgbClr val="19A394"/>
          </a:solidFill>
          <a:ln/>
        </p:spPr>
      </p:sp>
      <p:sp>
        <p:nvSpPr>
          <p:cNvPr id="28" name="Text 26"/>
          <p:cNvSpPr/>
          <p:nvPr/>
        </p:nvSpPr>
        <p:spPr>
          <a:xfrm>
            <a:off x="6236208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 et al.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54496" y="1344168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54496" y="157276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RoBERTa, GPT-2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54496" y="19019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43216" y="1865376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7443216" y="186537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~89%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54496" y="224028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XAI: LIME + SHAP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54496" y="2560320"/>
            <a:ext cx="2615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54496" y="2788920"/>
            <a:ext cx="26151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more stable than LIME; both can expose models correct for wrong reasons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6032" y="4389120"/>
            <a:ext cx="8631936" cy="68580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4389120"/>
            <a:ext cx="109728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4074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Mohammadi et al. (2025) — The Adversarial Paradox: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XAI-informed token replacement drops accuracy by 20–35 pp with minimal semantic change. Any system transparent enough to explain its decisions is, by that transparency, providing a roadmap for evasion.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— Multi-Label Attribution &amp; Cross-Domain Generalization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9611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961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Adilazuarda et al. (2023)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63624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detection paradigm dominates across all domains and languages. Transformers lead on single-domain, stylometry generalizes more stably.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804672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89611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8961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10128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Najjar et al. (2025)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563624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profiles create LLM-specific authorship signatures. Claude outputs show highest stylometric similarity to human writing — hardest to detect.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804672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89611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8961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54496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Zahraa et al. (2025)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54496" y="1563624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LIME+SHAP shows GPT-4 vs. Llama differ in syntactic complexity and hedging frequency — granular insight for educators &amp; editors.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89888" y="2880360"/>
            <a:ext cx="29260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481328" y="29718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1481328" y="2971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81328" y="3310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Baharifar et al. (2025)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81328" y="3639312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misinformation: LLM text flagged by overconfident assertions, absent epistemic hedging ('may', 'suggests'), and missing numerical precision.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90288" y="2880360"/>
            <a:ext cx="29260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29718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2971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81728" y="3310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Iqbal &amp; Kashem (2025)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81728" y="3639312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ML framework for scalable source ID. Relies on vocab distribution divergence, sentence length, connective phrase frequency.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— Discriminative Linguistic Features of LLM Text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401568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04672"/>
            <a:ext cx="3401568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 Feature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749040" y="804672"/>
            <a:ext cx="3127248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0" y="804672"/>
            <a:ext cx="3127248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Identifying 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804672"/>
            <a:ext cx="1847088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804672"/>
            <a:ext cx="1847088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252728"/>
            <a:ext cx="3401568" cy="484632"/>
          </a:xfrm>
          <a:prstGeom prst="rect">
            <a:avLst/>
          </a:prstGeom>
          <a:solidFill>
            <a:srgbClr val="1A2045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252728"/>
            <a:ext cx="340156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standardization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252728"/>
            <a:ext cx="3127248" cy="484632"/>
          </a:xfrm>
          <a:prstGeom prst="rect">
            <a:avLst/>
          </a:prstGeom>
          <a:solidFill>
            <a:srgbClr val="1A2045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252728"/>
            <a:ext cx="312724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Przystalski (2025), Masih (2025), Baharifar (2025)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1252728"/>
            <a:ext cx="1847088" cy="484632"/>
          </a:xfrm>
          <a:prstGeom prst="rect">
            <a:avLst/>
          </a:prstGeom>
          <a:solidFill>
            <a:srgbClr val="1A2045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252728"/>
            <a:ext cx="184708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73936"/>
            <a:ext cx="3401568" cy="484632"/>
          </a:xfrm>
          <a:prstGeom prst="rect">
            <a:avLst/>
          </a:prstGeom>
          <a:solidFill>
            <a:srgbClr val="151C3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1773936"/>
            <a:ext cx="340156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Formulaic transitional phrases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1773936"/>
            <a:ext cx="3127248" cy="484632"/>
          </a:xfrm>
          <a:prstGeom prst="rect">
            <a:avLst/>
          </a:prstGeom>
          <a:solidFill>
            <a:srgbClr val="151C3B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1773936"/>
            <a:ext cx="312724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(2023), Joshi (2024), Zahraa (2025)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773936"/>
            <a:ext cx="1847088" cy="484632"/>
          </a:xfrm>
          <a:prstGeom prst="rect">
            <a:avLst/>
          </a:prstGeom>
          <a:solidFill>
            <a:srgbClr val="151C3B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773936"/>
            <a:ext cx="184708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Stylometric, Transformer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295144"/>
            <a:ext cx="3401568" cy="484632"/>
          </a:xfrm>
          <a:prstGeom prst="rect">
            <a:avLst/>
          </a:prstGeom>
          <a:solidFill>
            <a:srgbClr val="1A2045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295144"/>
            <a:ext cx="340156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lexical entropy / predictable vocab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49040" y="2295144"/>
            <a:ext cx="3127248" cy="484632"/>
          </a:xfrm>
          <a:prstGeom prst="rect">
            <a:avLst/>
          </a:prstGeom>
          <a:solidFill>
            <a:srgbClr val="1A2045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2295144"/>
            <a:ext cx="312724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(2023), Przystalski (2025), Iqbal (2025)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2295144"/>
            <a:ext cx="1847088" cy="484632"/>
          </a:xfrm>
          <a:prstGeom prst="rect">
            <a:avLst/>
          </a:prstGeom>
          <a:solidFill>
            <a:srgbClr val="1A2045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2295144"/>
            <a:ext cx="184708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Stylometric, Ensemble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816352"/>
            <a:ext cx="3401568" cy="484632"/>
          </a:xfrm>
          <a:prstGeom prst="rect">
            <a:avLst/>
          </a:prstGeom>
          <a:solidFill>
            <a:srgbClr val="151C3B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2816352"/>
            <a:ext cx="340156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Superlatives &amp; assertive constructions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49040" y="2816352"/>
            <a:ext cx="3127248" cy="484632"/>
          </a:xfrm>
          <a:prstGeom prst="rect">
            <a:avLst/>
          </a:prstGeom>
          <a:solidFill>
            <a:srgbClr val="151C3B"/>
          </a:solidFill>
          <a:ln/>
        </p:spPr>
      </p:sp>
      <p:sp>
        <p:nvSpPr>
          <p:cNvPr id="31" name="Text 29"/>
          <p:cNvSpPr/>
          <p:nvPr/>
        </p:nvSpPr>
        <p:spPr>
          <a:xfrm>
            <a:off x="3749040" y="2816352"/>
            <a:ext cx="312724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Mitrovic (2023), Baharifar (2025)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2816352"/>
            <a:ext cx="1847088" cy="484632"/>
          </a:xfrm>
          <a:prstGeom prst="rect">
            <a:avLst/>
          </a:prstGeom>
          <a:solidFill>
            <a:srgbClr val="151C3B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2816352"/>
            <a:ext cx="184708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337560"/>
            <a:ext cx="3401568" cy="484632"/>
          </a:xfrm>
          <a:prstGeom prst="rect">
            <a:avLst/>
          </a:prstGeom>
          <a:solidFill>
            <a:srgbClr val="1A2045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337560"/>
            <a:ext cx="340156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epistemic hedging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749040" y="3337560"/>
            <a:ext cx="3127248" cy="484632"/>
          </a:xfrm>
          <a:prstGeom prst="rect">
            <a:avLst/>
          </a:prstGeom>
          <a:solidFill>
            <a:srgbClr val="1A2045"/>
          </a:solidFill>
          <a:ln/>
        </p:spPr>
      </p:sp>
      <p:sp>
        <p:nvSpPr>
          <p:cNvPr id="37" name="Text 35"/>
          <p:cNvSpPr/>
          <p:nvPr/>
        </p:nvSpPr>
        <p:spPr>
          <a:xfrm>
            <a:off x="3749040" y="3337560"/>
            <a:ext cx="312724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Baharifar (2025), Najjar (2025)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49440" y="3337560"/>
            <a:ext cx="1847088" cy="484632"/>
          </a:xfrm>
          <a:prstGeom prst="rect">
            <a:avLst/>
          </a:prstGeom>
          <a:solidFill>
            <a:srgbClr val="1A2045"/>
          </a:solidFill>
          <a:ln/>
        </p:spPr>
      </p:sp>
      <p:sp>
        <p:nvSpPr>
          <p:cNvPr id="39" name="Text 37"/>
          <p:cNvSpPr/>
          <p:nvPr/>
        </p:nvSpPr>
        <p:spPr>
          <a:xfrm>
            <a:off x="6949440" y="3337560"/>
            <a:ext cx="184708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Multi-label, Domain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858768"/>
            <a:ext cx="3401568" cy="484632"/>
          </a:xfrm>
          <a:prstGeom prst="rect">
            <a:avLst/>
          </a:prstGeom>
          <a:solidFill>
            <a:srgbClr val="151C3B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3858768"/>
            <a:ext cx="340156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 distribution anomalies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749040" y="3858768"/>
            <a:ext cx="3127248" cy="484632"/>
          </a:xfrm>
          <a:prstGeom prst="rect">
            <a:avLst/>
          </a:prstGeom>
          <a:solidFill>
            <a:srgbClr val="151C3B"/>
          </a:solidFill>
          <a:ln/>
        </p:spPr>
      </p:sp>
      <p:sp>
        <p:nvSpPr>
          <p:cNvPr id="43" name="Text 41"/>
          <p:cNvSpPr/>
          <p:nvPr/>
        </p:nvSpPr>
        <p:spPr>
          <a:xfrm>
            <a:off x="3749040" y="3858768"/>
            <a:ext cx="312724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McGovern (2024), Przystalski (2025)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49440" y="3858768"/>
            <a:ext cx="1847088" cy="484632"/>
          </a:xfrm>
          <a:prstGeom prst="rect">
            <a:avLst/>
          </a:prstGeom>
          <a:solidFill>
            <a:srgbClr val="151C3B"/>
          </a:solidFill>
          <a:ln/>
        </p:spPr>
      </p:sp>
      <p:sp>
        <p:nvSpPr>
          <p:cNvPr id="45" name="Text 43"/>
          <p:cNvSpPr/>
          <p:nvPr/>
        </p:nvSpPr>
        <p:spPr>
          <a:xfrm>
            <a:off x="6949440" y="3858768"/>
            <a:ext cx="184708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379976"/>
            <a:ext cx="3401568" cy="484632"/>
          </a:xfrm>
          <a:prstGeom prst="rect">
            <a:avLst/>
          </a:prstGeom>
          <a:solidFill>
            <a:srgbClr val="1A2045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379976"/>
            <a:ext cx="340156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Discourse-level coherence over-smoothing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4379976"/>
            <a:ext cx="3127248" cy="484632"/>
          </a:xfrm>
          <a:prstGeom prst="rect">
            <a:avLst/>
          </a:prstGeom>
          <a:solidFill>
            <a:srgbClr val="1A2045"/>
          </a:solidFill>
          <a:ln/>
        </p:spPr>
      </p:sp>
      <p:sp>
        <p:nvSpPr>
          <p:cNvPr id="49" name="Text 47"/>
          <p:cNvSpPr/>
          <p:nvPr/>
        </p:nvSpPr>
        <p:spPr>
          <a:xfrm>
            <a:off x="3749040" y="4379976"/>
            <a:ext cx="312724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 (2024), Najjar (2025)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49440" y="4379976"/>
            <a:ext cx="1847088" cy="484632"/>
          </a:xfrm>
          <a:prstGeom prst="rect">
            <a:avLst/>
          </a:prstGeom>
          <a:solidFill>
            <a:srgbClr val="1A2045"/>
          </a:solidFill>
          <a:ln/>
        </p:spPr>
      </p:sp>
      <p:sp>
        <p:nvSpPr>
          <p:cNvPr id="51" name="Text 49"/>
          <p:cNvSpPr/>
          <p:nvPr/>
        </p:nvSpPr>
        <p:spPr>
          <a:xfrm>
            <a:off x="6949440" y="4379976"/>
            <a:ext cx="1847088" cy="4846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Transformer, Multi-label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Grammatical standardization — the single most consistently reported feature across ALL three paradigms (LIME &amp; SHAP, multiple architectures)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7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&amp; Future Directions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91440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961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 — Adversarial Robustness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896112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89611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225296"/>
            <a:ext cx="3886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XAI-informed token replacement reduces accuracy by 20–35 pp. No system is simultaneously interpretable AND robust. Requires novel architectures.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40280"/>
            <a:ext cx="91440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134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 — Standardized XAI Evaluation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2313432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3134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642616"/>
            <a:ext cx="3886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benchmarks for faithfulness, stability, or human interpretability of explanations. 'Explainable' remains a qualitative claim.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57600"/>
            <a:ext cx="91440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307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 — Fairness for Non-Native Writers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3730752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37307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059936"/>
            <a:ext cx="3886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discriminative features (grammatical standardization, formulaic language) equally characterize non-native English speakers and professionals. Unaddressed ethical liability.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36592" y="822960"/>
            <a:ext cx="4133088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822960"/>
            <a:ext cx="91440" cy="1920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 — Cross-Domain Generalization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28432" y="91440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028432" y="914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19472" y="1298448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domain entirely unstudied. Feature drift &amp; distributional shift degrade all paradigms. Use XAI diagnostics to understand — not just report — generalization failure.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36592" y="2971800"/>
            <a:ext cx="4133088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36592" y="2971800"/>
            <a:ext cx="91440" cy="1920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5 — Multilingual Detection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28432" y="306324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8028432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19472" y="3447288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applies formal XAI to non-English text. Discriminative features may differ fundamentally across languages. mBERT / XLM-RoBERTa needed.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143000"/>
          </a:xfrm>
          <a:prstGeom prst="rect">
            <a:avLst/>
          </a:prstGeom>
          <a:solidFill>
            <a:srgbClr val="0D7377">
              <a:alpha val="75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Principal Positive Finding — Convergent Validity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&amp; SHAP, across architecturally diverse systems, consistently identify grammatical standardization, formulaic transitional language, low lexical entropy, and suppressed epistemic hedging as genuine and stable properties of LLM-generated prose.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8595360" cy="1143000"/>
          </a:xfrm>
          <a:prstGeom prst="rect">
            <a:avLst/>
          </a:prstGeom>
          <a:solidFill>
            <a:srgbClr val="EF4444">
              <a:alpha val="5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1214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Principal Critical Finding — Transparency ≠ Robustness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44144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adversarial paradox (Mohammadi et al., 2025) remains unresolved. The majority of domain-by-LLM combinations are unstudied. Fairness implications for non-native writers have received acknowledgement but no empirical investigation.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310128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Implications: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657600"/>
            <a:ext cx="4160520" cy="502920"/>
          </a:xfrm>
          <a:prstGeom prst="rect">
            <a:avLst/>
          </a:prstGeom>
          <a:solidFill>
            <a:srgbClr val="1A2045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3657600"/>
            <a:ext cx="73152" cy="502920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3657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≠ institutional trustworthiness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657600"/>
            <a:ext cx="4160520" cy="502920"/>
          </a:xfrm>
          <a:prstGeom prst="rect">
            <a:avLst/>
          </a:prstGeom>
          <a:solidFill>
            <a:srgbClr val="1A2045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3657600"/>
            <a:ext cx="73152" cy="502920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16" name="Text 14"/>
          <p:cNvSpPr/>
          <p:nvPr/>
        </p:nvSpPr>
        <p:spPr>
          <a:xfrm>
            <a:off x="4809744" y="3657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explainability quality with standardized metrics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224528"/>
            <a:ext cx="4160520" cy="502920"/>
          </a:xfrm>
          <a:prstGeom prst="rect">
            <a:avLst/>
          </a:prstGeom>
          <a:solidFill>
            <a:srgbClr val="1A2045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4224528"/>
            <a:ext cx="73152" cy="502920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" y="42245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populations the system will actually affect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4224528"/>
            <a:ext cx="4160520" cy="502920"/>
          </a:xfrm>
          <a:prstGeom prst="rect">
            <a:avLst/>
          </a:prstGeom>
          <a:solidFill>
            <a:srgbClr val="1A2045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4224528"/>
            <a:ext cx="73152" cy="502920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42245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adversarial robustness jointly with interpretability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"Detection systems that are not only accurate, but honest about how they know what they know."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1732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37744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33756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29768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45720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41732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237744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333756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429768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45720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141732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237744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333756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429768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45720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141732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237744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333756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429768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45720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41732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37744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33756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429768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45720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141732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37744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333756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429768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45720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0880" y="141732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237744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333756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0880" y="429768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45720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141732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237744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333756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4297680"/>
            <a:ext cx="73152" cy="73152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4" name="Text 42"/>
          <p:cNvSpPr/>
          <p:nvPr/>
        </p:nvSpPr>
        <p:spPr>
          <a:xfrm>
            <a:off x="914400" y="1828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926080" y="2468880"/>
            <a:ext cx="329184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0" y="26060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Jawwad Ahmad  |  F25NDOCS3W04013  |  MSCS 2nd Semester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Islamia University of Bahawalpur  |  Supervisor: Dr. Ahmad Niaz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097280" y="3520440"/>
            <a:ext cx="1463040" cy="1188720"/>
          </a:xfrm>
          <a:prstGeom prst="rect">
            <a:avLst/>
          </a:prstGeom>
          <a:solidFill>
            <a:srgbClr val="1A204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097280" y="3566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49" name="Text 47"/>
          <p:cNvSpPr/>
          <p:nvPr/>
        </p:nvSpPr>
        <p:spPr>
          <a:xfrm>
            <a:off x="109728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926080" y="3520440"/>
            <a:ext cx="1463040" cy="1188720"/>
          </a:xfrm>
          <a:prstGeom prst="rect">
            <a:avLst/>
          </a:prstGeom>
          <a:solidFill>
            <a:srgbClr val="1A204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926080" y="3566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52" name="Text 50"/>
          <p:cNvSpPr/>
          <p:nvPr/>
        </p:nvSpPr>
        <p:spPr>
          <a:xfrm>
            <a:off x="292608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54880" y="3520440"/>
            <a:ext cx="1463040" cy="1188720"/>
          </a:xfrm>
          <a:prstGeom prst="rect">
            <a:avLst/>
          </a:prstGeom>
          <a:solidFill>
            <a:srgbClr val="1A204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754880" y="3566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55" name="Text 53"/>
          <p:cNvSpPr/>
          <p:nvPr/>
        </p:nvSpPr>
        <p:spPr>
          <a:xfrm>
            <a:off x="475488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583680" y="3520440"/>
            <a:ext cx="1463040" cy="1188720"/>
          </a:xfrm>
          <a:prstGeom prst="rect">
            <a:avLst/>
          </a:prstGeom>
          <a:solidFill>
            <a:srgbClr val="1A204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583680" y="3566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58" name="Text 56"/>
          <p:cNvSpPr/>
          <p:nvPr/>
        </p:nvSpPr>
        <p:spPr>
          <a:xfrm>
            <a:off x="658368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AI: Human vs LLM Text Detection</dc:title>
  <dc:subject>PptxGenJS Presentation</dc:subject>
  <dc:creator>Jawwad Ahmad</dc:creator>
  <cp:lastModifiedBy>Jawwad Ahmad</cp:lastModifiedBy>
  <cp:revision>1</cp:revision>
  <dcterms:created xsi:type="dcterms:W3CDTF">2026-04-22T19:15:28Z</dcterms:created>
  <dcterms:modified xsi:type="dcterms:W3CDTF">2026-04-22T19:15:28Z</dcterms:modified>
</cp:coreProperties>
</file>