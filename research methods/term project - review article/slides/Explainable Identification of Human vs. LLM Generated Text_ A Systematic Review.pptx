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6256000" cy="9144000"/>
  <p:notesSz cx="9144000" cy="16256000"/>
  <p:embeddedFontLst>
    <p:embeddedFont>
      <p:font typeface="Quattrocento Sans" charset="-122" pitchFamily="34"/>
      <p:regular r:id="rId25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2540000" cy="508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3" name="Text 1"/>
          <p:cNvSpPr/>
          <p:nvPr/>
        </p:nvSpPr>
        <p:spPr>
          <a:xfrm>
            <a:off x="1524000" y="2540000"/>
            <a:ext cx="13208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3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Explainable Identification of Human vs. LLM Generated Text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048000" y="4318000"/>
            <a:ext cx="1016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 Systematic Review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223000" y="5080000"/>
            <a:ext cx="3810000" cy="25400"/>
          </a:xfrm>
          <a:prstGeom prst="rect">
            <a:avLst/>
          </a:prstGeom>
          <a:solidFill>
            <a:srgbClr val="6B7B6E"/>
          </a:solidFill>
          <a:ln/>
        </p:spPr>
      </p:sp>
      <p:sp>
        <p:nvSpPr>
          <p:cNvPr id="6" name="Text 4"/>
          <p:cNvSpPr/>
          <p:nvPr/>
        </p:nvSpPr>
        <p:spPr>
          <a:xfrm>
            <a:off x="3048000" y="5334000"/>
            <a:ext cx="1016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Jawwad Ahmad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MSCS 2nd Semester | F25NDOCS3W04013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Islamia University of Bahawalpur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048000" y="7112000"/>
            <a:ext cx="1016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Supervisor: Dr. Ahmad Niaz</a:t>
            </a:r>
            <a:endParaRPr lang="en-US" sz="1600" dirty="0"/>
          </a:p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Assistant Professor, Computer Science Department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80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Presentation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0795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1524000"/>
            <a:ext cx="10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C4911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778000" y="1524000"/>
            <a:ext cx="584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Introduction &amp; Background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78000" y="1930400"/>
            <a:ext cx="5842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challenge of AI-generated text detection and the role of explainability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382000" y="1524000"/>
            <a:ext cx="10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C4911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98000" y="1524000"/>
            <a:ext cx="609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98000" y="1930400"/>
            <a:ext cx="6096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Systematic review process using the PRISMA framework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2000" y="3302000"/>
            <a:ext cx="10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C4911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778000" y="3302000"/>
            <a:ext cx="584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Thematic Analysis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78000" y="3708400"/>
            <a:ext cx="584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Three clusters of detection approaches across 12 studies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82000" y="3302000"/>
            <a:ext cx="10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C4911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398000" y="3302000"/>
            <a:ext cx="609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Findings &amp; Discussion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398000" y="3708400"/>
            <a:ext cx="6096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Cross-cutting patterns and research questions answered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62000" y="5080000"/>
            <a:ext cx="10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C4911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78000" y="5080000"/>
            <a:ext cx="584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Research Gaps &amp; Conclusion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78000" y="5486400"/>
            <a:ext cx="584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Five structural gaps and a prioritized research roadmap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2000" y="6858000"/>
            <a:ext cx="14732000" cy="254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20" name="Text 18"/>
          <p:cNvSpPr/>
          <p:nvPr/>
        </p:nvSpPr>
        <p:spPr>
          <a:xfrm>
            <a:off x="762000" y="7112000"/>
            <a:ext cx="1473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 Studies Reviewed | 4 Databases | 2023–2026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5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540000"/>
            <a:ext cx="381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400" b="1" dirty="0">
                <a:solidFill>
                  <a:srgbClr val="FFFFFF">
                    <a:alpha val="18824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3810000"/>
            <a:ext cx="1016000" cy="508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064000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Introduction &amp; Background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48260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Understanding the challenge of detecting AI-generated text and the role of explainability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Introduction</a:t>
            </a:r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| Methodology | Thematic Analysis | Key Findings | Research Gaps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6350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Problem: Why Detect AI-Generated Text?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2000" y="1168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6" name="Text 4"/>
          <p:cNvSpPr/>
          <p:nvPr/>
        </p:nvSpPr>
        <p:spPr>
          <a:xfrm>
            <a:off x="762000" y="1397000"/>
            <a:ext cx="14732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Large Language Models</a:t>
            </a:r>
            <a:pPr>
              <a:lnSpc>
                <a:spcPct val="150000"/>
              </a:lnSpc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like GPT-4, Llama, Claude, and Gemini produce text that is grammatically fluent and contextually coherent — often indistinguishable from human writing.</a:t>
            </a:r>
            <a:endParaRPr lang="en-US" sz="2000" dirty="0"/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This creates serious risks across multiple domains:</a:t>
            </a:r>
            <a:endParaRPr lang="en-US" sz="2000" dirty="0"/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Academia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— students submitting AI-generated assignments</a:t>
            </a:r>
            <a:endParaRPr lang="en-US" sz="2000" dirty="0"/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Journalism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— fake articles and misinformation</a:t>
            </a:r>
            <a:endParaRPr lang="en-US" sz="2000" dirty="0"/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Law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— fabricated legal documents</a:t>
            </a:r>
            <a:endParaRPr lang="en-US" sz="2000" dirty="0"/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Medicine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— unreliable medical content</a:t>
            </a:r>
            <a:endParaRPr lang="en-US" sz="2000" dirty="0"/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Early detectors used </a:t>
            </a:r>
            <a:pPr>
              <a:lnSpc>
                <a:spcPct val="150000"/>
              </a:lnSpc>
              <a:spcBef>
                <a:spcPts val="1200"/>
              </a:spcBef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perplexity scores</a:t>
            </a:r>
            <a:pPr>
              <a:lnSpc>
                <a:spcPct val="150000"/>
              </a:lnSpc>
              <a:spcBef>
                <a:spcPts val="1200"/>
              </a:spcBef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and </a:t>
            </a:r>
            <a:pPr>
              <a:lnSpc>
                <a:spcPct val="150000"/>
              </a:lnSpc>
              <a:spcBef>
                <a:spcPts val="1200"/>
              </a:spcBef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stylometric</a:t>
            </a:r>
            <a:pPr>
              <a:lnSpc>
                <a:spcPct val="150000"/>
              </a:lnSpc>
              <a:spcBef>
                <a:spcPts val="1200"/>
              </a:spcBef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features. Modern systems use </a:t>
            </a:r>
            <a:pPr>
              <a:lnSpc>
                <a:spcPct val="150000"/>
              </a:lnSpc>
              <a:spcBef>
                <a:spcPts val="1200"/>
              </a:spcBef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transformers</a:t>
            </a:r>
            <a:pPr>
              <a:lnSpc>
                <a:spcPct val="150000"/>
              </a:lnSpc>
              <a:spcBef>
                <a:spcPts val="1200"/>
              </a:spcBef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(RoBERTa, DistilBERT) for higher accuracy — but they act as </a:t>
            </a:r>
            <a:pPr>
              <a:lnSpc>
                <a:spcPct val="150000"/>
              </a:lnSpc>
              <a:spcBef>
                <a:spcPts val="1200"/>
              </a:spcBef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"black boxes."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2000" y="6350000"/>
            <a:ext cx="14732000" cy="1016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6350000"/>
            <a:ext cx="63500" cy="10160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9" name="Text 7"/>
          <p:cNvSpPr/>
          <p:nvPr/>
        </p:nvSpPr>
        <p:spPr>
          <a:xfrm>
            <a:off x="1079500" y="6413500"/>
            <a:ext cx="14097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Message: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We need detection systems that are not just accurate, but also </a:t>
            </a:r>
            <a:pPr>
              <a:lnSpc>
                <a:spcPct val="140000"/>
              </a:lnSpc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explainable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</a:t>
            </a:r>
            <a:pPr>
              <a:lnSpc>
                <a:spcPct val="140000"/>
              </a:lnSpc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trustworthy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so educators, editors, and legal bodies can understand and trust their decisions.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4 / 18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Introduction</a:t>
            </a:r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| Methodology | Thematic Analysis | Key Findings | Research Gaps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6350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What is Explainable AI (XAI)?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2000" y="1168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6" name="Text 4"/>
          <p:cNvSpPr/>
          <p:nvPr/>
        </p:nvSpPr>
        <p:spPr>
          <a:xfrm>
            <a:off x="762000" y="13716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XAI</a:t>
            </a:r>
            <a:pPr>
              <a:lnSpc>
                <a:spcPct val="150000"/>
              </a:lnSpc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makes ML decisions understandable. This review focuses on two post-hoc, model-agnostic methods: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2000" y="2286000"/>
            <a:ext cx="7048500" cy="3302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2286000"/>
            <a:ext cx="7048500" cy="635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9" name="Text 7"/>
          <p:cNvSpPr/>
          <p:nvPr/>
        </p:nvSpPr>
        <p:spPr>
          <a:xfrm>
            <a:off x="1016000" y="2514600"/>
            <a:ext cx="65405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16000" y="2946400"/>
            <a:ext cx="6540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Interpretable Model-Agnostic Explanations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16000" y="3352800"/>
            <a:ext cx="65405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Perturbs input by masking words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Observes how predictions change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Fits a simple model locally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 but can be unstable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445500" y="2286000"/>
            <a:ext cx="7048500" cy="3302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3" name="Shape 11"/>
          <p:cNvSpPr/>
          <p:nvPr/>
        </p:nvSpPr>
        <p:spPr>
          <a:xfrm>
            <a:off x="8445500" y="2286000"/>
            <a:ext cx="7048500" cy="635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14" name="Text 12"/>
          <p:cNvSpPr/>
          <p:nvPr/>
        </p:nvSpPr>
        <p:spPr>
          <a:xfrm>
            <a:off x="8699500" y="2514600"/>
            <a:ext cx="65405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99500" y="2946400"/>
            <a:ext cx="6540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SHapley Additive exPlanations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99500" y="3352800"/>
            <a:ext cx="65405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Grounded in game theory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Calculates feature contributions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Consistent and reproducible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Higher computational cost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2000" y="59055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Both methods answer: </a:t>
            </a:r>
            <a:pPr>
              <a:lnSpc>
                <a:spcPct val="150000"/>
              </a:lnSpc>
            </a:pPr>
            <a:r>
              <a:rPr lang="en-US" sz="20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"Which words or features most strongly pushed the classifier toward an 'AI' verdict?"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62000" y="6858000"/>
            <a:ext cx="14732000" cy="889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9" name="Shape 17"/>
          <p:cNvSpPr/>
          <p:nvPr/>
        </p:nvSpPr>
        <p:spPr>
          <a:xfrm>
            <a:off x="762000" y="6858000"/>
            <a:ext cx="63500" cy="8890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20" name="Text 18"/>
          <p:cNvSpPr/>
          <p:nvPr/>
        </p:nvSpPr>
        <p:spPr>
          <a:xfrm>
            <a:off x="1079500" y="6921500"/>
            <a:ext cx="1409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Message: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LIME and SHAP help us understand </a:t>
            </a:r>
            <a:pPr>
              <a:lnSpc>
                <a:spcPct val="140000"/>
              </a:lnSpc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WHY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 text was flagged as AI-generated — transforming opaque outputs into auditable explanations.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5 / 18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5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540000"/>
            <a:ext cx="381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400" b="1" dirty="0">
                <a:solidFill>
                  <a:srgbClr val="FFFFFF">
                    <a:alpha val="18824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3810000"/>
            <a:ext cx="1016000" cy="508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064000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48260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How this systematic review was conducted using the PRISMA framework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Introduction | </a:t>
            </a:r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| Thematic Analysis | Key Findings | Research Gaps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6350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Systematic Review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2000" y="1168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1460500"/>
            <a:ext cx="2540000" cy="8890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7" name="Text 5"/>
          <p:cNvSpPr/>
          <p:nvPr/>
        </p:nvSpPr>
        <p:spPr>
          <a:xfrm>
            <a:off x="762000" y="1460500"/>
            <a:ext cx="254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250 Records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 Databases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29000" y="1778000"/>
            <a:ext cx="508000" cy="0"/>
          </a:xfrm>
          <a:prstGeom prst="straightConnector1">
            <a:avLst/>
          </a:prstGeom>
          <a:noFill/>
          <a:ln w="25400">
            <a:solidFill>
              <a:srgbClr val="1B5E3B"/>
            </a:solidFill>
            <a:prstDash val="solid"/>
            <a:headEnd type="none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4064000" y="1460500"/>
            <a:ext cx="2540000" cy="889000"/>
          </a:xfrm>
          <a:prstGeom prst="rect">
            <a:avLst/>
          </a:prstGeom>
          <a:solidFill>
            <a:srgbClr val="6B7B6E"/>
          </a:solidFill>
          <a:ln/>
        </p:spPr>
      </p:sp>
      <p:sp>
        <p:nvSpPr>
          <p:cNvPr id="10" name="Text 8"/>
          <p:cNvSpPr/>
          <p:nvPr/>
        </p:nvSpPr>
        <p:spPr>
          <a:xfrm>
            <a:off x="4064000" y="1460500"/>
            <a:ext cx="254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182 Records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After duplicates removed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731000" y="1778000"/>
            <a:ext cx="508000" cy="0"/>
          </a:xfrm>
          <a:prstGeom prst="straightConnector1">
            <a:avLst/>
          </a:prstGeom>
          <a:noFill/>
          <a:ln w="25400">
            <a:solidFill>
              <a:srgbClr val="1B5E3B"/>
            </a:solidFill>
            <a:prstDash val="solid"/>
            <a:headEnd type="none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7366000" y="1460500"/>
            <a:ext cx="2540000" cy="889000"/>
          </a:xfrm>
          <a:prstGeom prst="rect">
            <a:avLst/>
          </a:prstGeom>
          <a:solidFill>
            <a:srgbClr val="6B7B6E"/>
          </a:solidFill>
          <a:ln/>
        </p:spPr>
      </p:sp>
      <p:sp>
        <p:nvSpPr>
          <p:cNvPr id="13" name="Text 11"/>
          <p:cNvSpPr/>
          <p:nvPr/>
        </p:nvSpPr>
        <p:spPr>
          <a:xfrm>
            <a:off x="7366000" y="1460500"/>
            <a:ext cx="254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56 Records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Full-text assessed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033000" y="1778000"/>
            <a:ext cx="508000" cy="0"/>
          </a:xfrm>
          <a:prstGeom prst="straightConnector1">
            <a:avLst/>
          </a:prstGeom>
          <a:noFill/>
          <a:ln w="25400">
            <a:solidFill>
              <a:srgbClr val="1B5E3B"/>
            </a:solidFill>
            <a:prstDash val="solid"/>
            <a:headEnd type="none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10668000" y="1460500"/>
            <a:ext cx="2540000" cy="8890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16" name="Text 14"/>
          <p:cNvSpPr/>
          <p:nvPr/>
        </p:nvSpPr>
        <p:spPr>
          <a:xfrm>
            <a:off x="10668000" y="1460500"/>
            <a:ext cx="254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 Studies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Final inclusion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3335000" y="1778000"/>
            <a:ext cx="508000" cy="0"/>
          </a:xfrm>
          <a:prstGeom prst="straightConnector1">
            <a:avLst/>
          </a:prstGeom>
          <a:noFill/>
          <a:ln w="25400">
            <a:solidFill>
              <a:srgbClr val="1B5E3B"/>
            </a:solidFill>
            <a:prstDash val="solid"/>
            <a:headEnd type="none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3970000" y="1651000"/>
            <a:ext cx="1524000" cy="5080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19" name="Text 17"/>
          <p:cNvSpPr/>
          <p:nvPr/>
        </p:nvSpPr>
        <p:spPr>
          <a:xfrm>
            <a:off x="13970000" y="1651000"/>
            <a:ext cx="152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Synthesis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2000" y="2667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Databases Searched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62000" y="3111500"/>
            <a:ext cx="6350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Google Scholar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ArXiv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IEEE Xplore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SciSpace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82000" y="2667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Inclusion Criteria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82000" y="3111500"/>
            <a:ext cx="711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Published between 2023–2026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Addresses AI text detection + explainability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Uses LIME and/or SHAP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Written in English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62000" y="5016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Three Thematic Clusters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5486400"/>
          <a:ext cx="14732000" cy="2540000"/>
        </p:xfrm>
        <a:graphic>
          <a:graphicData uri="http://schemas.openxmlformats.org/drawingml/2006/table">
            <a:tbl>
              <a:tblPr/>
              <a:tblGrid>
                <a:gridCol w="5156200"/>
                <a:gridCol w="2209800"/>
                <a:gridCol w="7366000"/>
              </a:tblGrid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Cluster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Studies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Focus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 &amp; Classical ML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Handcrafted features + SVM/RF/LR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Transformer-Based Deep Learning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Fine-tuned RoBERTa, BERT, DistilBERT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Multi-Label Attribution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Identifying which LLM produced the text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7 / 18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5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540000"/>
            <a:ext cx="381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400" b="1" dirty="0">
                <a:solidFill>
                  <a:srgbClr val="FFFFFF">
                    <a:alpha val="18824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3810000"/>
            <a:ext cx="1016000" cy="508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064000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Thematic Analysis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48260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Three clusters of detection approaches across 12 reviewed studies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Introduction | Methodology | </a:t>
            </a:r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Thematic Analysis</a:t>
            </a:r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| Key Findings | Research Gaps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635000"/>
            <a:ext cx="1270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 — Stylometric &amp; Classical ML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2000" y="1168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6" name="Text 4"/>
          <p:cNvSpPr/>
          <p:nvPr/>
        </p:nvSpPr>
        <p:spPr>
          <a:xfrm>
            <a:off x="762000" y="1371600"/>
            <a:ext cx="14732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Three studies using </a:t>
            </a:r>
            <a:pPr>
              <a:lnSpc>
                <a:spcPct val="150000"/>
              </a:lnSpc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handcrafted linguistic features</a:t>
            </a:r>
            <a:pPr>
              <a:lnSpc>
                <a:spcPct val="150000"/>
              </a:lnSpc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with traditional classifiers. Highest baseline interpretability but limited contextual understanding.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62000" y="25400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Studies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2000" y="2921000"/>
            <a:ext cx="4699000" cy="1270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9" name="Text 7"/>
          <p:cNvSpPr/>
          <p:nvPr/>
        </p:nvSpPr>
        <p:spPr>
          <a:xfrm>
            <a:off x="952500" y="2997200"/>
            <a:ext cx="4318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Shah et al. (2023)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+ SHAP with SVM, Logistic Regression, Random Forest on stylometric features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715000" y="2921000"/>
            <a:ext cx="4699000" cy="1270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1" name="Text 9"/>
          <p:cNvSpPr/>
          <p:nvPr/>
        </p:nvSpPr>
        <p:spPr>
          <a:xfrm>
            <a:off x="5905500" y="2997200"/>
            <a:ext cx="4318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McGovern et al. (2024)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LLM fingerprints through POS distributions and attention visualization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668000" y="2921000"/>
            <a:ext cx="4826000" cy="1270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3" name="Text 11"/>
          <p:cNvSpPr/>
          <p:nvPr/>
        </p:nvSpPr>
        <p:spPr>
          <a:xfrm>
            <a:off x="10858500" y="2997200"/>
            <a:ext cx="4445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Przystalski et al. (2025)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SHAP on short samples (&lt;200 words) with Random Forest classifier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62000" y="44450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Findings from XAI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62000" y="4826000"/>
            <a:ext cx="14732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Formulaic transitional phrases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strongest positive predictors of AI authorship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 lexical entropy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LLMs use more predictable vocabulary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Grammatical standardization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LLMs adhere to grammar with anomalous consistency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Punctuation regularity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Simpson's Index distinguishes AI from human text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62000" y="6731000"/>
            <a:ext cx="1473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Accuracy range:</a:t>
            </a:r>
            <a:pPr>
              <a:lnSpc>
                <a:spcPct val="100000"/>
              </a:lnSpc>
            </a:pPr>
            <a:r>
              <a:rPr lang="en-US" sz="18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80–87% | </a:t>
            </a:r>
            <a:pPr>
              <a:lnSpc>
                <a:spcPct val="100000"/>
              </a:lnSpc>
            </a:pPr>
            <a:r>
              <a:rPr lang="en-US" sz="1800" b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Strength:</a:t>
            </a:r>
            <a:pPr>
              <a:lnSpc>
                <a:spcPct val="100000"/>
              </a:lnSpc>
            </a:pPr>
            <a:r>
              <a:rPr lang="en-US" sz="18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Highly interpretable | </a:t>
            </a:r>
            <a:pPr>
              <a:lnSpc>
                <a:spcPct val="100000"/>
              </a:lnSpc>
            </a:pPr>
            <a:r>
              <a:rPr lang="en-US" sz="1800" b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Limitation:</a:t>
            </a:r>
            <a:pPr>
              <a:lnSpc>
                <a:spcPct val="100000"/>
              </a:lnSpc>
            </a:pPr>
            <a:r>
              <a:rPr lang="en-US" sz="18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Surface-level features only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9 / 18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Introduction | Methodology | </a:t>
            </a:r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Thematic Analysis</a:t>
            </a:r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| Key Findings | Research Gaps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635000"/>
            <a:ext cx="1270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 — Transformer-Based Deep Learning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2000" y="1168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6" name="Text 4"/>
          <p:cNvSpPr/>
          <p:nvPr/>
        </p:nvSpPr>
        <p:spPr>
          <a:xfrm>
            <a:off x="762000" y="1371600"/>
            <a:ext cx="14732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Four studies using </a:t>
            </a:r>
            <a:pPr>
              <a:lnSpc>
                <a:spcPct val="150000"/>
              </a:lnSpc>
            </a:pPr>
            <a:r>
              <a:rPr lang="en-US" sz="2000" b="1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fine-tuned transformer architectures</a:t>
            </a:r>
            <a:pPr>
              <a:lnSpc>
                <a:spcPct val="150000"/>
              </a:lnSpc>
            </a:pPr>
            <a:r>
              <a:rPr lang="en-US" sz="2000" dirty="0">
                <a:solidFill>
                  <a:srgbClr val="1E1E1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(RoBERTa, DistilBERT, BERT). Highest accuracy but internal representations are harder to interpret.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62000" y="25400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Studies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2000" y="2921000"/>
            <a:ext cx="3492500" cy="1270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997200"/>
            <a:ext cx="31877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Mitrovic et al. (2023)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DistilBERT + SHAP for short ChatGPT 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08500" y="2921000"/>
            <a:ext cx="3492500" cy="1270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1" name="Text 9"/>
          <p:cNvSpPr/>
          <p:nvPr/>
        </p:nvSpPr>
        <p:spPr>
          <a:xfrm>
            <a:off x="4660900" y="2997200"/>
            <a:ext cx="31877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Joshi et al. (2024)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HULLMI framework — RoBERTa-Sentinel ~91% accuracy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55000" y="2921000"/>
            <a:ext cx="3492500" cy="1270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3" name="Text 11"/>
          <p:cNvSpPr/>
          <p:nvPr/>
        </p:nvSpPr>
        <p:spPr>
          <a:xfrm>
            <a:off x="8407400" y="2997200"/>
            <a:ext cx="31877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Masih et al. (2025)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+ SHAP comparison across BERT, RoBERTa, GPT-2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2001500" y="2921000"/>
            <a:ext cx="3492500" cy="1270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5" name="Text 13"/>
          <p:cNvSpPr/>
          <p:nvPr/>
        </p:nvSpPr>
        <p:spPr>
          <a:xfrm>
            <a:off x="12153900" y="2997200"/>
            <a:ext cx="31877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Mohammadi et al. (2025)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Adversarial token replacement using XAI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62000" y="44450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Findings from XAI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2000" y="4826000"/>
            <a:ext cx="14732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Evaluative superlatives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"exceptional", "outstanding", "perfect" flag AI reviews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Formulaic hedging language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impersonal constructions and smooth transitions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and SHAP agree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broadly consistent token-level attributions across methods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Adversarial Paradox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XAI explanations enable targeted evasion attacks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2000" y="6731000"/>
            <a:ext cx="1473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Accuracy:</a:t>
            </a:r>
            <a:pPr>
              <a:lnSpc>
                <a:spcPct val="100000"/>
              </a:lnSpc>
            </a:pPr>
            <a:r>
              <a:rPr lang="en-US" sz="18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~91% (RoBERTa-Sentinel) | </a:t>
            </a:r>
            <a:pPr>
              <a:lnSpc>
                <a:spcPct val="100000"/>
              </a:lnSpc>
            </a:pPr>
            <a:r>
              <a:rPr lang="en-US" sz="1800" b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insight:</a:t>
            </a:r>
            <a:pPr>
              <a:lnSpc>
                <a:spcPct val="100000"/>
              </a:lnSpc>
            </a:pPr>
            <a:r>
              <a:rPr lang="en-US" sz="18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Explainability and accuracy are complementary, not in tension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10 / 18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Introduction | Methodology | </a:t>
            </a:r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Thematic Analysis</a:t>
            </a:r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| Key Findings | Research Gaps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635000"/>
            <a:ext cx="13335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 — Multi-Label Attribution &amp; Cross-Domain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2000" y="1168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6" name="Text 4"/>
          <p:cNvSpPr/>
          <p:nvPr/>
        </p:nvSpPr>
        <p:spPr>
          <a:xfrm>
            <a:off x="762000" y="1371600"/>
            <a:ext cx="1473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Five studies moving </a:t>
            </a:r>
            <a:pPr>
              <a:lnSpc>
                <a:spcPct val="150000"/>
              </a:lnSpc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beyond binary classification</a:t>
            </a:r>
            <a:pPr>
              <a:lnSpc>
                <a:spcPct val="15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 identify which specific LLM produced a text and whether methods generalize across domains.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2000" y="22225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Authorship Fingerprints by LLM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603500"/>
          <a:ext cx="14732000" cy="2921000"/>
        </p:xfrm>
        <a:graphic>
          <a:graphicData uri="http://schemas.openxmlformats.org/drawingml/2006/table">
            <a:tbl>
              <a:tblPr/>
              <a:tblGrid>
                <a:gridCol w="2651760"/>
                <a:gridCol w="6187440"/>
                <a:gridCol w="5892800"/>
              </a:tblGrid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LLM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XAI-Identified Signature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Implication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GPT-4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Discourse-level coherence, low syntactic variance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Highly structured, smooth text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Llama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Distinctive vocabulary distribution patterns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Unique word choice fingerprints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Gemini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Characteristic avoidance of hedging language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Overly confident assertions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Claude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Strongest resemblance to human writing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Hardest to detect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62000" y="5715000"/>
            <a:ext cx="14732000" cy="9525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0" name="Shape 7"/>
          <p:cNvSpPr/>
          <p:nvPr/>
        </p:nvSpPr>
        <p:spPr>
          <a:xfrm>
            <a:off x="762000" y="5715000"/>
            <a:ext cx="63500" cy="9525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11" name="Text 8"/>
          <p:cNvSpPr/>
          <p:nvPr/>
        </p:nvSpPr>
        <p:spPr>
          <a:xfrm>
            <a:off x="1079500" y="57785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Finding: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XAI enables </a:t>
            </a:r>
            <a:pPr>
              <a:lnSpc>
                <a:spcPct val="140000"/>
              </a:lnSpc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source identification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not just detecting IF text is AI-generated, but identifying WHICH model produced it. This moves the field from binary detection toward richer multi-label attribution.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62000" y="6858000"/>
            <a:ext cx="1473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Domain-specific:</a:t>
            </a:r>
            <a:pPr>
              <a:lnSpc>
                <a:spcPct val="100000"/>
              </a:lnSpc>
            </a:pPr>
            <a:r>
              <a:rPr lang="en-US" sz="18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Medical misinformation detection (Baharifar et al., 2025) shows overuse of confident assertions and lack of epistemic hedging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11 / 18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5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540000"/>
            <a:ext cx="381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400" b="1" dirty="0">
                <a:solidFill>
                  <a:srgbClr val="FFFFFF">
                    <a:alpha val="18824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3810000"/>
            <a:ext cx="1016000" cy="508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064000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Findings &amp; Discussion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48260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Cross-cutting patterns and research questions answered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Introduction | Methodology | Thematic Analysis | </a:t>
            </a:r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Key Findings</a:t>
            </a:r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| Research Gaps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6350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Four Consistent Patterns Across All Studies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2000" y="1168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6" name="Text 4"/>
          <p:cNvSpPr/>
          <p:nvPr/>
        </p:nvSpPr>
        <p:spPr>
          <a:xfrm>
            <a:off x="762000" y="14224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C4911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524000" y="1422400"/>
            <a:ext cx="13970000" cy="1143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8" name="Text 6"/>
          <p:cNvSpPr/>
          <p:nvPr/>
        </p:nvSpPr>
        <p:spPr>
          <a:xfrm>
            <a:off x="1714500" y="1485900"/>
            <a:ext cx="13589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Convergent Validity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LIME and SHAP consistently surface the same core markers: grammatical standardization, formulaic language, low lexical entropy, and no hedging. These are genuine properties of LLM text, not artifacts.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27686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C4911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524000" y="2768600"/>
            <a:ext cx="13970000" cy="1143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1" name="Text 9"/>
          <p:cNvSpPr/>
          <p:nvPr/>
        </p:nvSpPr>
        <p:spPr>
          <a:xfrm>
            <a:off x="1714500" y="2832100"/>
            <a:ext cx="13589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Complementary, Not Competing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Explainability and accuracy work together. Integrating LIME/SHAP does NOT degrade classification performance. XAI integration requires no accuracy sacrifices.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2000" y="41148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C4911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524000" y="4114800"/>
            <a:ext cx="13970000" cy="1143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4" name="Text 12"/>
          <p:cNvSpPr/>
          <p:nvPr/>
        </p:nvSpPr>
        <p:spPr>
          <a:xfrm>
            <a:off x="1714500" y="4178300"/>
            <a:ext cx="13589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Generalization Gap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No study reports satisfactory cross-domain generalization. Performance degrades across all paradigms when applied to unseen domains or LLMs. The legal domain is entirely unstudied.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62000" y="54610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C4911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524000" y="5461000"/>
            <a:ext cx="13970000" cy="1143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7" name="Text 15"/>
          <p:cNvSpPr/>
          <p:nvPr/>
        </p:nvSpPr>
        <p:spPr>
          <a:xfrm>
            <a:off x="1714500" y="5524500"/>
            <a:ext cx="13589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Adversarial Paradox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XAI explanations that make detection transparent simultaneously enable targeted evasion. XAI-informed token replacement reduces accuracy by 20–35%. No defense exists yet.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2000" y="6921500"/>
            <a:ext cx="1473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C4911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Bottom line: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LLM text is more </a:t>
            </a:r>
            <a:pPr>
              <a:lnSpc>
                <a:spcPct val="140000"/>
              </a:lnSpc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regular, formulaic, assertive,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</a:t>
            </a:r>
            <a:pPr>
              <a:lnSpc>
                <a:spcPct val="140000"/>
              </a:lnSpc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less cautious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than human prose — and XAI makes these differences visible and auditable.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13 / 18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Introduction | Methodology | Thematic Analysis | </a:t>
            </a:r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Key Findings</a:t>
            </a:r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| Research Gaps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6350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Top Discriminative Features of LLM Text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2000" y="1168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397000"/>
          <a:ext cx="14732000" cy="4953000"/>
        </p:xfrm>
        <a:graphic>
          <a:graphicData uri="http://schemas.openxmlformats.org/drawingml/2006/table">
            <a:tbl>
              <a:tblPr/>
              <a:tblGrid>
                <a:gridCol w="4419600"/>
                <a:gridCol w="5156200"/>
                <a:gridCol w="5156200"/>
              </a:tblGrid>
              <a:tr h="619125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Discriminative Feature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Studies Identifying It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Paradigm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Grammatical standardization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Przystalski, Masih, Baharifar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All three clusters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Formulaic transitional phrases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Shah, Joshi, Zahraa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Stylometric, Transformer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Low lexical entropy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Shah, Przystalski, Iqbal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Stylometric, Ensemble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Superlatives &amp; assertive constructions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Mitrovic, Baharifar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Transformer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Absence of epistemic hedging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Baharifar, Najjar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Multi-label, Domain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POS distribution anomalies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McGovern, Przystalski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E9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Discourse coherence over-smoothing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Joshi, Najjar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1E1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Transformer, Multi-label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2000" y="6604000"/>
            <a:ext cx="14732000" cy="1016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8" name="Shape 5"/>
          <p:cNvSpPr/>
          <p:nvPr/>
        </p:nvSpPr>
        <p:spPr>
          <a:xfrm>
            <a:off x="762000" y="6604000"/>
            <a:ext cx="63500" cy="10160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9" name="Text 6"/>
          <p:cNvSpPr/>
          <p:nvPr/>
        </p:nvSpPr>
        <p:spPr>
          <a:xfrm>
            <a:off x="1079500" y="6667500"/>
            <a:ext cx="14097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Insight:</a:t>
            </a:r>
            <a:pPr>
              <a:lnSpc>
                <a:spcPct val="14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Grammatical standardization is the single most consistent feature — appearing across all paradigms in studies using both LIME and SHAP. This convergence is strong evidence of a genuine property of LLM-generated text.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14 / 18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5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540000"/>
            <a:ext cx="381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400" b="1" dirty="0">
                <a:solidFill>
                  <a:srgbClr val="FFFFFF">
                    <a:alpha val="18824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3810000"/>
            <a:ext cx="1016000" cy="508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064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Research Gaps &amp; Conclusion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48260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Five structural gaps and a prioritized research roadmap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Introduction | Methodology | Thematic Analysis | Key Findings | </a:t>
            </a:r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Research Gaps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6350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Five Research Gaps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2000" y="1168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1371600"/>
            <a:ext cx="7239000" cy="13335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1371600"/>
            <a:ext cx="63500" cy="13335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8" name="Text 6"/>
          <p:cNvSpPr/>
          <p:nvPr/>
        </p:nvSpPr>
        <p:spPr>
          <a:xfrm>
            <a:off x="1016000" y="1435100"/>
            <a:ext cx="67945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Gap 1: Adversarial Robustness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XAI-informed token replacement reduces accuracy by 20–35%. No current architecture is simultaneously robust and interpretable.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55000" y="1371600"/>
            <a:ext cx="7239000" cy="13335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0" name="Shape 8"/>
          <p:cNvSpPr/>
          <p:nvPr/>
        </p:nvSpPr>
        <p:spPr>
          <a:xfrm>
            <a:off x="8255000" y="1371600"/>
            <a:ext cx="63500" cy="13335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11" name="Text 9"/>
          <p:cNvSpPr/>
          <p:nvPr/>
        </p:nvSpPr>
        <p:spPr>
          <a:xfrm>
            <a:off x="8509000" y="1435100"/>
            <a:ext cx="67945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Gap 2: No XAI Evaluation Benchmarks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standardized metrics for explanation faithfulness, stability, or human interpretability.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2000" y="2895600"/>
            <a:ext cx="7239000" cy="13335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3" name="Shape 11"/>
          <p:cNvSpPr/>
          <p:nvPr/>
        </p:nvSpPr>
        <p:spPr>
          <a:xfrm>
            <a:off x="762000" y="2895600"/>
            <a:ext cx="63500" cy="13335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14" name="Text 12"/>
          <p:cNvSpPr/>
          <p:nvPr/>
        </p:nvSpPr>
        <p:spPr>
          <a:xfrm>
            <a:off x="1016000" y="2959100"/>
            <a:ext cx="67945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Gap 3: Fairness &amp; Bias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Risk of flagging non-native speakers and professional writers as AI-generated. No empirical evaluation exists.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55000" y="2895600"/>
            <a:ext cx="7239000" cy="13335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6" name="Shape 14"/>
          <p:cNvSpPr/>
          <p:nvPr/>
        </p:nvSpPr>
        <p:spPr>
          <a:xfrm>
            <a:off x="8255000" y="2895600"/>
            <a:ext cx="63500" cy="13335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17" name="Text 15"/>
          <p:cNvSpPr/>
          <p:nvPr/>
        </p:nvSpPr>
        <p:spPr>
          <a:xfrm>
            <a:off x="8509000" y="2959100"/>
            <a:ext cx="67945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Gap 4: Cross-Domain Generalization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Most domain-by-LLM combinations remain unstudied. The legal domain has no coverage.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62000" y="4419600"/>
            <a:ext cx="7239000" cy="13335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9" name="Shape 17"/>
          <p:cNvSpPr/>
          <p:nvPr/>
        </p:nvSpPr>
        <p:spPr>
          <a:xfrm>
            <a:off x="762000" y="4419600"/>
            <a:ext cx="63500" cy="13335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20" name="Text 18"/>
          <p:cNvSpPr/>
          <p:nvPr/>
        </p:nvSpPr>
        <p:spPr>
          <a:xfrm>
            <a:off x="1016000" y="4483100"/>
            <a:ext cx="67945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Gap 5: Multilingual Detection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None of the 12 studies applies formal XAI to non-English text. International applicability is limited.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55000" y="4419600"/>
            <a:ext cx="7239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Prioritized Roadmap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55000" y="4826000"/>
            <a:ext cx="7239000" cy="11430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23" name="Text 21"/>
          <p:cNvSpPr/>
          <p:nvPr/>
        </p:nvSpPr>
        <p:spPr>
          <a:xfrm>
            <a:off x="8445500" y="4889500"/>
            <a:ext cx="685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Immediate:</a:t>
            </a:r>
            <a:pPr>
              <a:lnSpc>
                <a:spcPct val="140000"/>
              </a:lnSpc>
            </a:pPr>
            <a:r>
              <a:rPr lang="en-US" sz="15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Gaps 2, 3, 4 (high urgency, feasible)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Near-term:</a:t>
            </a:r>
            <a:pPr>
              <a:lnSpc>
                <a:spcPct val="140000"/>
              </a:lnSpc>
            </a:pPr>
            <a:r>
              <a:rPr lang="en-US" sz="15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Gap 5 (multilingual benchmarks)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Long-term:</a:t>
            </a:r>
            <a:pPr>
              <a:lnSpc>
                <a:spcPct val="140000"/>
              </a:lnSpc>
            </a:pPr>
            <a:r>
              <a:rPr lang="en-US" sz="15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Gap 1 (needs architectural innovation)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16 / 18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Introduction | Methodology | Thematic Analysis | Key Findings | </a:t>
            </a:r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Research Gaps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6350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2000" y="1168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1422400"/>
            <a:ext cx="14732000" cy="19685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1422400"/>
            <a:ext cx="63500" cy="19685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8" name="Text 6"/>
          <p:cNvSpPr/>
          <p:nvPr/>
        </p:nvSpPr>
        <p:spPr>
          <a:xfrm>
            <a:off x="1079500" y="14986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Principal Positive Finding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9500" y="1905000"/>
            <a:ext cx="14097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Convergent Validity</a:t>
            </a:r>
            <a:pPr>
              <a:lnSpc>
                <a:spcPct val="15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LIME and SHAP consistently identify the same linguistic markers of LLM authorship across diverse architectures: grammatical standardization, formulaic language, low lexical entropy, and suppressed hedging. This convergence across different attribution mechanisms provides strong evidence these are genuine properties of machine-generated prose.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62000" y="3556000"/>
            <a:ext cx="14732000" cy="1651000"/>
          </a:xfrm>
          <a:prstGeom prst="rect">
            <a:avLst/>
          </a:prstGeom>
          <a:solidFill>
            <a:srgbClr val="E8ECE9"/>
          </a:solidFill>
          <a:ln/>
        </p:spPr>
      </p:sp>
      <p:sp>
        <p:nvSpPr>
          <p:cNvPr id="11" name="Shape 9"/>
          <p:cNvSpPr/>
          <p:nvPr/>
        </p:nvSpPr>
        <p:spPr>
          <a:xfrm>
            <a:off x="762000" y="3556000"/>
            <a:ext cx="63500" cy="16510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12" name="Text 10"/>
          <p:cNvSpPr/>
          <p:nvPr/>
        </p:nvSpPr>
        <p:spPr>
          <a:xfrm>
            <a:off x="1079500" y="3581400"/>
            <a:ext cx="444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C4911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Principal Critical Finding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79500" y="3987800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field has </a:t>
            </a:r>
            <a:pPr>
              <a:lnSpc>
                <a:spcPct val="150000"/>
              </a:lnSpc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yet reconciled transparency with robustness</a:t>
            </a:r>
            <a:pPr>
              <a:lnSpc>
                <a:spcPct val="150000"/>
              </a:lnSpc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The adversarial paradox remains unresolved. The majority of domain-by-LLM combinations remain unstudied, and fairness implications for non-native speakers have not been empirically investigated.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62000" y="5397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Implications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62000" y="5842000"/>
            <a:ext cx="14732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Accuracy alone is insufficient</a:t>
            </a:r>
            <a:pPr>
              <a:lnSpc>
                <a:spcPct val="16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for institutional deployment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Explainability quality</a:t>
            </a:r>
            <a:pPr>
              <a:lnSpc>
                <a:spcPct val="16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should be measured with standardized metrics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Evaluation must cover</a:t>
            </a:r>
            <a:pPr>
              <a:lnSpc>
                <a:spcPct val="16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populations a system will actually affect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Adversarial robustness</a:t>
            </a:r>
            <a:pPr>
              <a:lnSpc>
                <a:spcPct val="160000"/>
              </a:lnSpc>
              <a:spcBef>
                <a:spcPts val="10"/>
              </a:spcBef>
            </a:pPr>
            <a:r>
              <a:rPr lang="en-US" sz="1800" dirty="0">
                <a:solidFill>
                  <a:srgbClr val="1E1E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should be pursued jointly with interpretability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62000" y="78486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i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"The goal is detection systems that are not only accurate, but honest about how they know what they know."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17 / 18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5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0" y="2286000"/>
            <a:ext cx="1016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6858000" y="3365500"/>
            <a:ext cx="2540000" cy="50800"/>
          </a:xfrm>
          <a:prstGeom prst="rect">
            <a:avLst/>
          </a:prstGeom>
          <a:solidFill>
            <a:srgbClr val="C4911D"/>
          </a:solidFill>
          <a:ln/>
        </p:spPr>
      </p:sp>
      <p:sp>
        <p:nvSpPr>
          <p:cNvPr id="4" name="Text 2"/>
          <p:cNvSpPr/>
          <p:nvPr/>
        </p:nvSpPr>
        <p:spPr>
          <a:xfrm>
            <a:off x="3048000" y="3619500"/>
            <a:ext cx="1016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FFFFFF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048000" y="4572000"/>
            <a:ext cx="10160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Jawwad Ahmad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MSCS 2nd Semester | F25NDOCS3W04013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Islamia University of Bahawalpur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Supervisor: Dr. Ahmad Niaz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Explainable Identification of Human vs. LLM Generated Text: A Systematic Review</dc:title>
  <dc:subject>Explainable Identification of Human vs. LLM Generated Text: A Systematic Review</dc:subject>
  <dc:creator>Kimi</dc:creator>
  <cp:lastModifiedBy>Kimi</cp:lastModifiedBy>
  <cp:revision>1</cp:revision>
  <dcterms:created xsi:type="dcterms:W3CDTF">2026-04-22T20:30:38Z</dcterms:created>
  <dcterms:modified xsi:type="dcterms:W3CDTF">2026-04-22T20:30:38Z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{"Label":"Explainable Identification of Human vs. LLM Generated Text: A Systematic Review","ContentProducer":"001191110108MACG2KBH8F10000","ProduceID":"19db6e14-8902-8d4b-8000-0000a4b3153c","ReservedCode1":"","ContentPropagator":"001191110108MACG2KBH8F20000","PropagateID":"19db6e14-8902-8d4b-8000-0000a4b3153c","ReservedCode2":""}</vt:lpwstr>
  </property>
</Properties>
</file>