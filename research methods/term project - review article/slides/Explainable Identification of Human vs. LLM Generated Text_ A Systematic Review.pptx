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Quattrocento Sans" panose="020B0502050000020003" pitchFamily="34" charset="0"/>
      <p:regular r:id="rId21"/>
      <p:bold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28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540000"/>
            <a:ext cx="1320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Identification of Human vs. LLM Generated Text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8000" y="4318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Systematic Review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23000" y="5080000"/>
            <a:ext cx="3810000" cy="25400"/>
          </a:xfrm>
          <a:prstGeom prst="rect">
            <a:avLst/>
          </a:prstGeom>
          <a:solidFill>
            <a:srgbClr val="6B7B6E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0" y="5334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MSCS 2nd Semester | F25NDOCS3W04013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0" y="7112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Dr. Ahmad Niaz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Professor, Computer Science Department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8000" y="1524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19304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 of AI-generated text detection and the role of explainability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2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152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8000" y="19304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review process using the PRISMA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3302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37084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clusters of detection approaches across 12 studies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30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000" y="330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&amp; Discussion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0" y="37084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Cross-cutting patterns and research questions answered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78000" y="5080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 &amp; Conclusion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54864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structural gaps and a prioritized research roadmap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58000"/>
            <a:ext cx="14732000" cy="254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7112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Studies Reviewed | 4 Databases | 2023–2026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challenge of detecting AI-generated text and the role of explainability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Methodology | Thematic Analysis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Problem: Why Detect AI-Generated Text?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Large Language Models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like GPT-4, Llama, Claude, and Gemini produce text that is grammatically fluent and contextually coherent — often indistinguishable from human writing.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creates serious risks across multiple domains:</a:t>
            </a:r>
            <a:endParaRPr lang="en-US" sz="2000" dirty="0"/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Academia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students submitting AI-generated assignments</a:t>
            </a:r>
            <a:endParaRPr lang="en-US" sz="2000" dirty="0"/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Journalism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fake articles and misinformation</a:t>
            </a:r>
            <a:endParaRPr lang="en-US" sz="2000" dirty="0"/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Law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fabricated legal documents</a:t>
            </a:r>
            <a:endParaRPr lang="en-US" sz="2000" dirty="0"/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Medicine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unreliable medical content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detectors used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perplexity scores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stylometric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features. Modern systems use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transformers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(RoBERTa, DistilBERT) for higher accuracy — but they act as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"black boxes."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6350000"/>
            <a:ext cx="63500" cy="1016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6413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Message: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need detection systems that are not just accurate, but also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trustworthy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so educators, editors, and legal bodies can understand and trust their decisions.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Methodology | Thematic Analysis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Explainable AI (XAI)?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makes ML decisions understandable. This review focuses on two post-hoc, model-agnostic methods: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7048500" cy="3302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7048500" cy="635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14600"/>
            <a:ext cx="6540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946400"/>
            <a:ext cx="6540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Interpretable Model-Agnostic Explanations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352800"/>
            <a:ext cx="6540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Perturbs input by masking words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Observes how predictions change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Fits a simple model locally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but can be unstable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2286000"/>
            <a:ext cx="7048500" cy="3302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5500" y="2286000"/>
            <a:ext cx="7048500" cy="6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2514600"/>
            <a:ext cx="6540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946400"/>
            <a:ext cx="6540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SHapley Additive exPlanations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3352800"/>
            <a:ext cx="6540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in game theory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Calculates feature contributions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and reproducible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computational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905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 methods answer: </a:t>
            </a:r>
            <a:r>
              <a:rPr lang="en-US" sz="20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"Which words or features most strongly pushed the classifier toward an 'AI' verdict?"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2000" y="6858000"/>
            <a:ext cx="14732000" cy="889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858000"/>
            <a:ext cx="63500" cy="889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6921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Message: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LIME and SHAP help us understand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text was flagged as AI-generated — transforming opaque outputs into auditable explanations.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this systematic review was conducted using the PRISMA framework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Thematic Analysis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Systematic Review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250 Records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Databases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778000"/>
            <a:ext cx="508000" cy="0"/>
          </a:xfrm>
          <a:prstGeom prst="straightConnector1">
            <a:avLst/>
          </a:prstGeom>
          <a:noFill/>
          <a:ln w="25400">
            <a:solidFill>
              <a:srgbClr val="1B5E3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1460500"/>
            <a:ext cx="2540000" cy="889000"/>
          </a:xfrm>
          <a:prstGeom prst="rect">
            <a:avLst/>
          </a:prstGeom>
          <a:solidFill>
            <a:srgbClr val="6B7B6E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1460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182 Records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duplicates removed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1000" y="1778000"/>
            <a:ext cx="508000" cy="0"/>
          </a:xfrm>
          <a:prstGeom prst="straightConnector1">
            <a:avLst/>
          </a:prstGeom>
          <a:noFill/>
          <a:ln w="25400">
            <a:solidFill>
              <a:srgbClr val="1B5E3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366000" y="1460500"/>
            <a:ext cx="2540000" cy="889000"/>
          </a:xfrm>
          <a:prstGeom prst="rect">
            <a:avLst/>
          </a:prstGeom>
          <a:solidFill>
            <a:srgbClr val="6B7B6E"/>
          </a:solidFill>
          <a:ln/>
        </p:spPr>
      </p:sp>
      <p:sp>
        <p:nvSpPr>
          <p:cNvPr id="13" name="Text 11"/>
          <p:cNvSpPr/>
          <p:nvPr/>
        </p:nvSpPr>
        <p:spPr>
          <a:xfrm>
            <a:off x="7366000" y="1460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 Records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Full-text assessed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33000" y="1778000"/>
            <a:ext cx="508000" cy="0"/>
          </a:xfrm>
          <a:prstGeom prst="straightConnector1">
            <a:avLst/>
          </a:prstGeom>
          <a:noFill/>
          <a:ln w="25400">
            <a:solidFill>
              <a:srgbClr val="1B5E3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668000" y="1460500"/>
            <a:ext cx="2540000" cy="889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1460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Studies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inclusion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335000" y="1778000"/>
            <a:ext cx="508000" cy="0"/>
          </a:xfrm>
          <a:prstGeom prst="straightConnector1">
            <a:avLst/>
          </a:prstGeom>
          <a:noFill/>
          <a:ln w="25400">
            <a:solidFill>
              <a:srgbClr val="1B5E3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3970000" y="1651000"/>
            <a:ext cx="1524000" cy="50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9" name="Text 17"/>
          <p:cNvSpPr/>
          <p:nvPr/>
        </p:nvSpPr>
        <p:spPr>
          <a:xfrm>
            <a:off x="13970000" y="16510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Databases Searched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31115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Scholar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ArXiv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Xplore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SciSpace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Inclusion Criteria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3111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Published between 2023–2026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Addresses AI text detection + explainability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LIME and/or SHAP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in English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Thematic Clusters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86400"/>
          <a:ext cx="14732000" cy="2540000"/>
        </p:xfrm>
        <a:graphic>
          <a:graphicData uri="http://schemas.openxmlformats.org/drawingml/2006/table">
            <a:tbl>
              <a:tblPr/>
              <a:tblGrid>
                <a:gridCol w="515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Cluster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 &amp; Classical ML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Handcrafted features + SVM/RF/LR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Transformer-Based Deep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Fine-tuned RoBERTa, BERT, DistilBERT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Multi-Label Attribution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Identifying which LLM produced the text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clusters of detection approaches across 12 reviewed studies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Thematic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1 — Stylometric &amp; Classical 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studies using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handcrafted linguistic features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traditional classifiers. Highest baseline interpretability but limited contextual understanding.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Studies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46990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2997200"/>
            <a:ext cx="431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Shah et al. (2023)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 with SVM, Logistic Regression, Random Forest on stylometric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921000"/>
            <a:ext cx="46990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1" name="Text 9"/>
          <p:cNvSpPr/>
          <p:nvPr/>
        </p:nvSpPr>
        <p:spPr>
          <a:xfrm>
            <a:off x="5905500" y="2997200"/>
            <a:ext cx="431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McGovern et al. (2024)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fingerprints through POS distributions and attention visualization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921000"/>
            <a:ext cx="48260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500" y="2997200"/>
            <a:ext cx="444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Przystalski et al. (2025)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on short samples (&lt;200 words) with Random Forest classifier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44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from XAI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826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Formulaic transitional phrases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strongest positive predictors of AI authorship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lexical entropy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LLMs use more predictable vocabulary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LLMs adhere to grammar with anomalous consistency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Punctuation regularity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Simpson's Index distinguishes AI from human 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731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range: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80–87% | </a:t>
            </a: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Highly interpretable | </a:t>
            </a: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Surface-level features only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Thematic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2 — Transformer-Based Deep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studies using </a:t>
            </a: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fine-tuned transformer architectures</a:t>
            </a: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(RoBERTa, DistilBERT, BERT). Highest accuracy but internal representations are harder to interpret.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Studies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34925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7200"/>
            <a:ext cx="3187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Mitrovic et al. (2023)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DistilBERT + SHAP for short ChatGPT reviews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921000"/>
            <a:ext cx="34925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1" name="Text 9"/>
          <p:cNvSpPr/>
          <p:nvPr/>
        </p:nvSpPr>
        <p:spPr>
          <a:xfrm>
            <a:off x="4660900" y="2997200"/>
            <a:ext cx="3187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Joshi et al. (2024)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HULLMI framework — RoBERTa-Sentinel ~91% 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2921000"/>
            <a:ext cx="34925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8407400" y="2997200"/>
            <a:ext cx="3187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Masih et al. (2025)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 comparison across BERT, RoBERTa, GPT-2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01500" y="2921000"/>
            <a:ext cx="3492500" cy="1270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5" name="Text 13"/>
          <p:cNvSpPr/>
          <p:nvPr/>
        </p:nvSpPr>
        <p:spPr>
          <a:xfrm>
            <a:off x="12153900" y="2997200"/>
            <a:ext cx="3187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Mohammadi et al. (2025)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token replacement using XAI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44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from XAI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826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Evaluative superlatives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"exceptional", "outstanding", "perfect" flag AI reviews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Formulaic hedging language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impersonal constructions and smooth transitions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and SHAP agree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broadly consistent token-level attributions across methods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Adversarial Paradox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XAI explanations enable targeted evasion attacks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731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~91% (RoBERTa-Sentinel) | </a:t>
            </a: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Explainability and accuracy are complementary, not in tension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Thematic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Key Findings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335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Theme 3 — Multi-Label Attribution &amp; Cross-Domain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studies moving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binary classification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which specific LLM produced a text and whether methods generalize across domains.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22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Authorship Fingerprints by LLM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03500"/>
          <a:ext cx="14732000" cy="2921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XAI-Identified Signature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Discourse-level coherence, low syntactic variance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Highly structured, smooth text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Distinctive vocabulary distribution patterns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 word choice fingerprints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Gemini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 avoidance of hedging language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Overly confident assertions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Claude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Strongest resemblance to human writing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Hardest to detect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5715000"/>
            <a:ext cx="14732000" cy="952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5715000"/>
            <a:ext cx="63500" cy="952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5778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XAI enables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identification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just detecting IF text is AI-generated, but identifying WHICH model produced it. This moves the field from binary detection toward richer multi-label attribution.</a:t>
            </a:r>
            <a:endParaRPr lang="en-US" sz="1600" dirty="0"/>
          </a:p>
        </p:txBody>
      </p:sp>
      <p:sp>
        <p:nvSpPr>
          <p:cNvPr id="8" name="Text 9"/>
          <p:cNvSpPr/>
          <p:nvPr/>
        </p:nvSpPr>
        <p:spPr>
          <a:xfrm>
            <a:off x="762000" y="6858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Domain-specific:</a:t>
            </a:r>
            <a:r>
              <a:rPr lang="en-US" sz="18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Medical misinformation detection (Baharifar et al., 2025) shows overuse of confident assertions and lack of epistemic hedging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Cross-cutting patterns and research questions answered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Thematic Analysis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Consistent Patterns Across All Studies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24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24000" y="1422400"/>
            <a:ext cx="13970000" cy="1143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4859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Convergent Validity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LIME and SHAP consistently surface the same core markers: grammatical standardization, formulaic language, low lexical entropy, and no hedging. These are genuine properties of LLM text, not artifacts.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686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4000" y="2768600"/>
            <a:ext cx="13970000" cy="1143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28321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Complementary, Not Competing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Explainability and accuracy work together. Integrating LIME/SHAP does NOT degrade classification performance. XAI integration requires no accuracy sacrifices.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148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24000" y="4114800"/>
            <a:ext cx="13970000" cy="1143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41783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 Gap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study reports satisfactory cross-domain generalization. Performance degrades across all paradigms when applied to unseen domains or LLMs. The legal domain is entirely unstudied.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461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24000" y="5461000"/>
            <a:ext cx="13970000" cy="1143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5524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Adversarial Paradox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XAI explanations that make detection transparent simultaneously enable targeted evasion. XAI-informed token replacement reduces accuracy by 20–35%. No defense exists yet.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921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 line: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text is more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regular, formulaic, assertive,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cautious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human prose — and XAI makes these differences visible and auditable.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Thematic Analysis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Discriminative Features of LLM 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95300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Discriminative 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Studies Identifying 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Paradigm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Grammatical standardization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Przystalski, Masih, Baharifar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three clusters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Formulaic transitional phrases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Shah, Joshi, Zahraa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Transformer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lexical entropy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Shah, Przystalski, Iqbal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Ensemble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Superlatives &amp; assertive constructions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Mitrovic, Baharifar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Absence of epistemic hedging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Baharifar, Najjar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Multi-label, 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 distribution anomalies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McGovern, Przystalski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Discourse coherence over-smoothing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Joshi, Najjar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Transformer, Multi-label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604000"/>
            <a:ext cx="63500" cy="1016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6667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Grammatical standardization is the single most consistent feature — appearing across all paradigms in studies using both LIME and SHAP. This convergence is strong evidence of a genuine property of LLM-generated text.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 &amp; 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structural gaps and a prioritized research roadmap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Thematic Analysis | Key Findings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Research Gaps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71600"/>
            <a:ext cx="7239000" cy="1333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71600"/>
            <a:ext cx="63500" cy="133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435100"/>
            <a:ext cx="679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1: Adversarial Robustness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XAI-informed token replacement reduces accuracy by 20–35%. No current architecture is simultaneously robust and interpretable.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5000" y="1371600"/>
            <a:ext cx="7239000" cy="1333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0" name="Shape 8"/>
          <p:cNvSpPr/>
          <p:nvPr/>
        </p:nvSpPr>
        <p:spPr>
          <a:xfrm>
            <a:off x="8255000" y="1371600"/>
            <a:ext cx="63500" cy="133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1" name="Text 9"/>
          <p:cNvSpPr/>
          <p:nvPr/>
        </p:nvSpPr>
        <p:spPr>
          <a:xfrm>
            <a:off x="8509000" y="1435100"/>
            <a:ext cx="679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2: No XAI Evaluation Benchmarks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standardized metrics for explanation faithfulness, stability, or human interpretability.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895600"/>
            <a:ext cx="7239000" cy="1333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2895600"/>
            <a:ext cx="63500" cy="133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959100"/>
            <a:ext cx="679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3: Fairness &amp; Bias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of flagging non-native speakers and professional writers as AI-generated. No empirical evaluation exists.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2895600"/>
            <a:ext cx="7239000" cy="1333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00" y="2895600"/>
            <a:ext cx="63500" cy="133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959100"/>
            <a:ext cx="679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4: Cross-Domain Generalization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domain-by-LLM combinations remain unstudied. The legal domain has no coverage.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419600"/>
            <a:ext cx="7239000" cy="1333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419600"/>
            <a:ext cx="63500" cy="13335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483100"/>
            <a:ext cx="679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5: Multilingual Detection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 of the 12 studies applies formal XAI to non-English text. International applicability is limited.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5000" y="4419600"/>
            <a:ext cx="723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Prioritized Roadmap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4826000"/>
            <a:ext cx="7239000" cy="1143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3" name="Text 21"/>
          <p:cNvSpPr/>
          <p:nvPr/>
        </p:nvSpPr>
        <p:spPr>
          <a:xfrm>
            <a:off x="8445500" y="4889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Gaps 2, 3, 4 (high urgency, feasible)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Near-term: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Gap 5 (multilingual benchmarks)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Gap 1 (needs architectural innovation)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Methodology | Thematic Analysis | Key Findings | </a:t>
            </a: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68400"/>
            <a:ext cx="14732000" cy="25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22400"/>
            <a:ext cx="14732000" cy="19685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22400"/>
            <a:ext cx="63500" cy="19685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Principal Positive Finding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1905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Convergent Validity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LIME and SHAP consistently identify the same linguistic markers of LLM authorship across diverse architectures: grammatical standardization, formulaic language, low lexical entropy, and suppressed hedging. This convergence across different attribution mechanisms provides strong evidence these are genuine properties of machine-generated prose.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14732000" cy="1651000"/>
          </a:xfrm>
          <a:prstGeom prst="rect">
            <a:avLst/>
          </a:prstGeom>
          <a:solidFill>
            <a:srgbClr val="E8ECE9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556000"/>
            <a:ext cx="63500" cy="16510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3581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91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Principal Critical Finding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39878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field has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yet reconciled transparency with robustness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adversarial paradox remains unresolved. The majority of domain-by-LLM combinations remain unstudied, and fairness implications for non-native speakers have not been empirically investigated.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842000"/>
            <a:ext cx="1473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alone is insufficient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institutional deployment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quality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be measured with standardized metrics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must cover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populations a system will actually affect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robustness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be pursued jointly with interpretability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8486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i="1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goal is detection systems that are not only accurate, but honest about how they know what they know."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0" y="2286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50800"/>
          </a:xfrm>
          <a:prstGeom prst="rect">
            <a:avLst/>
          </a:prstGeom>
          <a:solidFill>
            <a:srgbClr val="C4911D"/>
          </a:solidFill>
          <a:ln/>
        </p:spPr>
      </p:sp>
      <p:sp>
        <p:nvSpPr>
          <p:cNvPr id="4" name="Text 2"/>
          <p:cNvSpPr/>
          <p:nvPr/>
        </p:nvSpPr>
        <p:spPr>
          <a:xfrm>
            <a:off x="3048000" y="3619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572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MSCS 2nd Semester | F25NDOCS3W04013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Dr. Ahmad Niaz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Custom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QuattrocentoSans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Identification of Human vs. LLM Generated Text: A Systematic Review</dc:title>
  <dc:subject>Explainable Identification of Human vs. LLM Generated Text: A Systematic Review</dc:subject>
  <dc:creator>Kimi</dc:creator>
  <cp:lastModifiedBy>Jawwad Ahmad</cp:lastModifiedBy>
  <cp:revision>2</cp:revision>
  <dcterms:created xsi:type="dcterms:W3CDTF">2026-04-22T20:30:38Z</dcterms:created>
  <dcterms:modified xsi:type="dcterms:W3CDTF">2026-04-26T10:33:35Z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{"Label":"Explainable Identification of Human vs. LLM Generated Text: A Systematic Review","ContentProducer":"001191110108MACG2KBH8F10000","ProduceID":"19db6e14-8902-8d4b-8000-0000a4b3153c","ReservedCode1":"","ContentPropagator":"001191110108MACG2KBH8F20000","PropagateID":"19db6e14-8902-8d4b-8000-0000a4b3153c","ReservedCode2":""}</vt:lpwstr>
  </property>
</Properties>
</file>