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6256000" cy="9144000"/>
  <p:notesSz cx="9144000" cy="16256000"/>
  <p:embeddedFontLst>
    <p:embeddedFont>
      <p:font typeface="Quattrocento Sans" panose="020B0502050000020003" pitchFamily="34" charset="0"/>
      <p:regular r:id="rId21"/>
    </p:embeddedFont>
    <p:embeddedFont>
      <p:font typeface="Unna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5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739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jazwc5fmm66m/mnt/agents/output/llm_review/images/4_Abstract_Blue_Technology_Wave_Background.png"/>
          <p:cNvPicPr>
            <a:picLocks noChangeAspect="1"/>
          </p:cNvPicPr>
          <p:nvPr/>
        </p:nvPicPr>
        <p:blipFill>
          <a:blip r:embed="rId3"/>
          <a:srcRect l="195" r="19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72A">
                  <a:alpha val="94000"/>
                </a:srgbClr>
              </a:gs>
              <a:gs pos="55000">
                <a:srgbClr val="0F172A">
                  <a:alpha val="80000"/>
                </a:srgbClr>
              </a:gs>
              <a:gs pos="100000">
                <a:srgbClr val="0F172A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16000" y="2476500"/>
            <a:ext cx="1016000" cy="50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2"/>
          <p:cNvSpPr/>
          <p:nvPr/>
        </p:nvSpPr>
        <p:spPr>
          <a:xfrm>
            <a:off x="1016000" y="2730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kern="0" spc="300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EXPLAINABLE IDENTIFICATION OF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16000" y="3238500"/>
            <a:ext cx="11544968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6600" b="1" dirty="0">
                <a:solidFill>
                  <a:srgbClr val="F8F7F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Human vs. LLM-Generated Text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16000" y="47625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Systematic Review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016000" y="5397500"/>
            <a:ext cx="2540000" cy="254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6"/>
          <p:cNvSpPr/>
          <p:nvPr/>
        </p:nvSpPr>
        <p:spPr>
          <a:xfrm>
            <a:off x="1016000" y="5715000"/>
            <a:ext cx="825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b="1" dirty="0">
                <a:solidFill>
                  <a:srgbClr val="F8F7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Jawwad Ahmad</a:t>
            </a:r>
            <a:r>
              <a:rPr lang="en-US" dirty="0">
                <a:solidFill>
                  <a:srgbClr val="F8F7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F25NDOCS3W04013 | MSCS 2nd Semester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F8F7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Supervisor: Dr. Ahmad Niaz — The Islamia University of Bahawalpur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solidFill>
            <a:srgbClr val="D4A574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kern="0" spc="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E293B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1498600"/>
            <a:ext cx="10160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05000"/>
            <a:ext cx="4699000" cy="1460500"/>
          </a:xfrm>
          <a:prstGeom prst="roundRect">
            <a:avLst>
              <a:gd name="adj" fmla="val 8000"/>
            </a:avLst>
          </a:prstGeom>
          <a:solidFill>
            <a:srgbClr val="F0EEE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032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4A57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20955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 &amp;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78000" y="24765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LLMs, XAI methods, and why AI text detection matters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905000"/>
            <a:ext cx="4699000" cy="1460500"/>
          </a:xfrm>
          <a:prstGeom prst="roundRect">
            <a:avLst>
              <a:gd name="adj" fmla="val 8000"/>
            </a:avLst>
          </a:prstGeom>
          <a:solidFill>
            <a:srgbClr val="F0EEEA"/>
          </a:solidFill>
          <a:ln/>
        </p:spPr>
      </p:sp>
      <p:sp>
        <p:nvSpPr>
          <p:cNvPr id="10" name="Text 8"/>
          <p:cNvSpPr/>
          <p:nvPr/>
        </p:nvSpPr>
        <p:spPr>
          <a:xfrm>
            <a:off x="6032500" y="2032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4A57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94500" y="20955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94500" y="24765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PRISMA systematic review and study selection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1905000"/>
            <a:ext cx="4699000" cy="1460500"/>
          </a:xfrm>
          <a:prstGeom prst="roundRect">
            <a:avLst>
              <a:gd name="adj" fmla="val 8000"/>
            </a:avLst>
          </a:prstGeom>
          <a:solidFill>
            <a:srgbClr val="F0EEEA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2032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4A57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11000" y="20955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Stylometric &amp; Classical ML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11000" y="24765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Handcrafted features and classical classifiers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683000"/>
            <a:ext cx="4699000" cy="1460500"/>
          </a:xfrm>
          <a:prstGeom prst="roundRect">
            <a:avLst>
              <a:gd name="adj" fmla="val 8000"/>
            </a:avLst>
          </a:prstGeom>
          <a:solidFill>
            <a:srgbClr val="F0EEEA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3810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4A57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78000" y="38735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Transformer-Based Detection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78000" y="42545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Fine-tuned transformers and adversarial risks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78500" y="3683000"/>
            <a:ext cx="4699000" cy="1460500"/>
          </a:xfrm>
          <a:prstGeom prst="roundRect">
            <a:avLst>
              <a:gd name="adj" fmla="val 8000"/>
            </a:avLst>
          </a:prstGeom>
          <a:solidFill>
            <a:srgbClr val="F0EEEA"/>
          </a:solidFill>
          <a:ln/>
        </p:spPr>
      </p:sp>
      <p:sp>
        <p:nvSpPr>
          <p:cNvPr id="22" name="Text 20"/>
          <p:cNvSpPr/>
          <p:nvPr/>
        </p:nvSpPr>
        <p:spPr>
          <a:xfrm>
            <a:off x="6032500" y="3810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4A57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94500" y="38735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Multi-Label &amp; Generalization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94500" y="42545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Attribution across domains and LLM fingerprinting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95000" y="3683000"/>
            <a:ext cx="4699000" cy="1460500"/>
          </a:xfrm>
          <a:prstGeom prst="roundRect">
            <a:avLst>
              <a:gd name="adj" fmla="val 8000"/>
            </a:avLst>
          </a:prstGeom>
          <a:solidFill>
            <a:srgbClr val="F0EEEA"/>
          </a:solidFill>
          <a:ln/>
        </p:spPr>
      </p:sp>
      <p:sp>
        <p:nvSpPr>
          <p:cNvPr id="26" name="Text 24"/>
          <p:cNvSpPr/>
          <p:nvPr/>
        </p:nvSpPr>
        <p:spPr>
          <a:xfrm>
            <a:off x="11049000" y="3810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4A57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11000" y="38735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Findings &amp; Gaps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11000" y="42545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Detectable features and unresolved challenges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5461000"/>
            <a:ext cx="4699000" cy="1460500"/>
          </a:xfrm>
          <a:prstGeom prst="roundRect">
            <a:avLst>
              <a:gd name="adj" fmla="val 8000"/>
            </a:avLst>
          </a:prstGeom>
          <a:solidFill>
            <a:srgbClr val="F0EEEA"/>
          </a:solidFill>
          <a:ln/>
        </p:spPr>
      </p:sp>
      <p:sp>
        <p:nvSpPr>
          <p:cNvPr id="30" name="Text 28"/>
          <p:cNvSpPr/>
          <p:nvPr/>
        </p:nvSpPr>
        <p:spPr>
          <a:xfrm>
            <a:off x="1016000" y="5588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4A57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778000" y="56515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778000" y="60325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Summary, implications, and future directions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solidFill>
            <a:srgbClr val="1E293B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jazwc5fmm66m/mnt/agents/output/llm_review/images/6_abstract_wave_flow_line_motion_pattern.png"/>
          <p:cNvPicPr>
            <a:picLocks noChangeAspect="1"/>
          </p:cNvPicPr>
          <p:nvPr/>
        </p:nvPicPr>
        <p:blipFill>
          <a:blip r:embed="rId3"/>
          <a:srcRect l="12639" r="1263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72A">
                  <a:alpha val="20000"/>
                </a:srgbClr>
              </a:gs>
              <a:gs pos="40000">
                <a:srgbClr val="0F172A">
                  <a:alpha val="80000"/>
                </a:srgbClr>
              </a:gs>
              <a:gs pos="100000">
                <a:srgbClr val="0F172A">
                  <a:alpha val="96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2324100" cy="5334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5300"/>
            <a:ext cx="23241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3241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482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723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964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6205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FINDINGS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3944600" y="0"/>
            <a:ext cx="2311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16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D4A57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16000" y="4318000"/>
            <a:ext cx="7620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6" name="Text 13"/>
          <p:cNvSpPr/>
          <p:nvPr/>
        </p:nvSpPr>
        <p:spPr>
          <a:xfrm>
            <a:off x="1016000" y="4572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8F7F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Background &amp; Problem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16000" y="533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8F7F4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LLMs, XAI methods, and why AI text detection matters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324100" cy="5334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5300"/>
            <a:ext cx="23241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241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482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723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964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6205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FINDINGS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944600" y="0"/>
            <a:ext cx="2311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2000" y="736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E293B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The Problem — Why Detecting AI Text Matters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1498600"/>
            <a:ext cx="14732000" cy="63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990600" y="1651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52400" y="80962"/>
                </a:moveTo>
                <a:cubicBezTo>
                  <a:pt x="160318" y="80962"/>
                  <a:pt x="166688" y="87332"/>
                  <a:pt x="166688" y="95250"/>
                </a:cubicBezTo>
                <a:lnTo>
                  <a:pt x="166688" y="161925"/>
                </a:lnTo>
                <a:cubicBezTo>
                  <a:pt x="166688" y="169843"/>
                  <a:pt x="160318" y="176212"/>
                  <a:pt x="152400" y="176212"/>
                </a:cubicBezTo>
                <a:cubicBezTo>
                  <a:pt x="144482" y="176212"/>
                  <a:pt x="138113" y="169843"/>
                  <a:pt x="138113" y="161925"/>
                </a:cubicBezTo>
                <a:lnTo>
                  <a:pt x="138113" y="95250"/>
                </a:lnTo>
                <a:cubicBezTo>
                  <a:pt x="138113" y="87332"/>
                  <a:pt x="144482" y="80962"/>
                  <a:pt x="152400" y="80962"/>
                </a:cubicBezTo>
                <a:close/>
                <a:moveTo>
                  <a:pt x="136505" y="209550"/>
                </a:moveTo>
                <a:cubicBezTo>
                  <a:pt x="136144" y="203650"/>
                  <a:pt x="139086" y="198037"/>
                  <a:pt x="144144" y="194977"/>
                </a:cubicBezTo>
                <a:cubicBezTo>
                  <a:pt x="149201" y="191918"/>
                  <a:pt x="155539" y="191918"/>
                  <a:pt x="160597" y="194977"/>
                </a:cubicBezTo>
                <a:cubicBezTo>
                  <a:pt x="165655" y="198037"/>
                  <a:pt x="168597" y="203650"/>
                  <a:pt x="168235" y="209550"/>
                </a:cubicBezTo>
                <a:cubicBezTo>
                  <a:pt x="168597" y="215450"/>
                  <a:pt x="165655" y="221063"/>
                  <a:pt x="160597" y="224123"/>
                </a:cubicBezTo>
                <a:cubicBezTo>
                  <a:pt x="155539" y="227182"/>
                  <a:pt x="149201" y="227182"/>
                  <a:pt x="144144" y="224123"/>
                </a:cubicBezTo>
                <a:cubicBezTo>
                  <a:pt x="139086" y="221063"/>
                  <a:pt x="136144" y="215450"/>
                  <a:pt x="136505" y="20955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6" name="Text 14"/>
          <p:cNvSpPr/>
          <p:nvPr/>
        </p:nvSpPr>
        <p:spPr>
          <a:xfrm>
            <a:off x="1422400" y="14986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models now write text that looks exactly like human writing — creating risks across academia, journalism, medicine, and law.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2438400"/>
            <a:ext cx="101600" cy="1016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8" name="Text 16"/>
          <p:cNvSpPr/>
          <p:nvPr/>
        </p:nvSpPr>
        <p:spPr>
          <a:xfrm>
            <a:off x="1168400" y="2311400"/>
            <a:ext cx="6731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GPT-4, Claude, Llama, Gemini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produce fluent, coherent, human-like text indistinguishable to casual readers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" y="3200400"/>
            <a:ext cx="101600" cy="1016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0" name="Text 18"/>
          <p:cNvSpPr/>
          <p:nvPr/>
        </p:nvSpPr>
        <p:spPr>
          <a:xfrm>
            <a:off x="1168400" y="3073400"/>
            <a:ext cx="6731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Risks across domains: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cheating in academia, fake news in journalism, misinformation in medicine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14400" y="3962400"/>
            <a:ext cx="101600" cy="1016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2" name="Text 20"/>
          <p:cNvSpPr/>
          <p:nvPr/>
        </p:nvSpPr>
        <p:spPr>
          <a:xfrm>
            <a:off x="1168400" y="3835400"/>
            <a:ext cx="6731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detectors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used perplexity scores and writing style analysis — not very accurate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" y="4724400"/>
            <a:ext cx="101600" cy="1016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4" name="Text 22"/>
          <p:cNvSpPr/>
          <p:nvPr/>
        </p:nvSpPr>
        <p:spPr>
          <a:xfrm>
            <a:off x="1168400" y="4597400"/>
            <a:ext cx="6731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Transformer models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(RoBERTa, DistilBERT) improved accuracy but work as "black boxes"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4400" y="5486400"/>
            <a:ext cx="101600" cy="1016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6" name="Text 24"/>
          <p:cNvSpPr/>
          <p:nvPr/>
        </p:nvSpPr>
        <p:spPr>
          <a:xfrm>
            <a:off x="1168400" y="5359400"/>
            <a:ext cx="6731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Black box problem: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system says "AI-generated" but cannot tell you WHY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14400" y="6248400"/>
            <a:ext cx="101600" cy="1016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8" name="Text 26"/>
          <p:cNvSpPr/>
          <p:nvPr/>
        </p:nvSpPr>
        <p:spPr>
          <a:xfrm>
            <a:off x="1168400" y="6121400"/>
            <a:ext cx="6731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explanation, educators, courts, and journals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cannot act on the verdict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82000" y="2311400"/>
            <a:ext cx="7112000" cy="4546600"/>
          </a:xfrm>
          <a:prstGeom prst="roundRect">
            <a:avLst>
              <a:gd name="adj" fmla="val 8000"/>
            </a:avLst>
          </a:prstGeom>
          <a:solidFill>
            <a:srgbClr val="F0EEEA"/>
          </a:solidFill>
          <a:ln/>
        </p:spPr>
      </p:sp>
      <p:sp>
        <p:nvSpPr>
          <p:cNvPr id="30" name="Shape 28"/>
          <p:cNvSpPr/>
          <p:nvPr/>
        </p:nvSpPr>
        <p:spPr>
          <a:xfrm>
            <a:off x="8813800" y="2603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32489" y="304800"/>
                </a:moveTo>
                <a:cubicBezTo>
                  <a:pt x="238284" y="287099"/>
                  <a:pt x="249872" y="271066"/>
                  <a:pt x="262969" y="257254"/>
                </a:cubicBezTo>
                <a:cubicBezTo>
                  <a:pt x="288925" y="229949"/>
                  <a:pt x="304800" y="193040"/>
                  <a:pt x="304800" y="152400"/>
                </a:cubicBezTo>
                <a:cubicBezTo>
                  <a:pt x="304800" y="68263"/>
                  <a:pt x="236537" y="0"/>
                  <a:pt x="152400" y="0"/>
                </a:cubicBezTo>
                <a:cubicBezTo>
                  <a:pt x="68262" y="0"/>
                  <a:pt x="0" y="68263"/>
                  <a:pt x="0" y="152400"/>
                </a:cubicBezTo>
                <a:cubicBezTo>
                  <a:pt x="0" y="193040"/>
                  <a:pt x="15875" y="229949"/>
                  <a:pt x="41831" y="257254"/>
                </a:cubicBezTo>
                <a:cubicBezTo>
                  <a:pt x="54928" y="271066"/>
                  <a:pt x="66596" y="287099"/>
                  <a:pt x="72311" y="304800"/>
                </a:cubicBezTo>
                <a:lnTo>
                  <a:pt x="232410" y="304800"/>
                </a:lnTo>
                <a:close/>
                <a:moveTo>
                  <a:pt x="228600" y="342900"/>
                </a:moveTo>
                <a:lnTo>
                  <a:pt x="76200" y="342900"/>
                </a:lnTo>
                <a:lnTo>
                  <a:pt x="76200" y="355600"/>
                </a:lnTo>
                <a:cubicBezTo>
                  <a:pt x="76200" y="390684"/>
                  <a:pt x="104616" y="419100"/>
                  <a:pt x="139700" y="419100"/>
                </a:cubicBezTo>
                <a:lnTo>
                  <a:pt x="165100" y="419100"/>
                </a:lnTo>
                <a:cubicBezTo>
                  <a:pt x="200184" y="419100"/>
                  <a:pt x="228600" y="390684"/>
                  <a:pt x="228600" y="355600"/>
                </a:cubicBezTo>
                <a:lnTo>
                  <a:pt x="228600" y="342900"/>
                </a:lnTo>
                <a:close/>
                <a:moveTo>
                  <a:pt x="146050" y="88900"/>
                </a:moveTo>
                <a:cubicBezTo>
                  <a:pt x="114459" y="88900"/>
                  <a:pt x="88900" y="114459"/>
                  <a:pt x="88900" y="146050"/>
                </a:cubicBezTo>
                <a:cubicBezTo>
                  <a:pt x="88900" y="156607"/>
                  <a:pt x="80407" y="165100"/>
                  <a:pt x="69850" y="165100"/>
                </a:cubicBezTo>
                <a:cubicBezTo>
                  <a:pt x="59293" y="165100"/>
                  <a:pt x="50800" y="156607"/>
                  <a:pt x="50800" y="146050"/>
                </a:cubicBezTo>
                <a:cubicBezTo>
                  <a:pt x="50800" y="93424"/>
                  <a:pt x="93424" y="50800"/>
                  <a:pt x="146050" y="50800"/>
                </a:cubicBezTo>
                <a:cubicBezTo>
                  <a:pt x="156607" y="50800"/>
                  <a:pt x="165100" y="59293"/>
                  <a:pt x="165100" y="69850"/>
                </a:cubicBezTo>
                <a:cubicBezTo>
                  <a:pt x="165100" y="80407"/>
                  <a:pt x="156607" y="88900"/>
                  <a:pt x="146050" y="8890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31" name="Text 29"/>
          <p:cNvSpPr/>
          <p:nvPr/>
        </p:nvSpPr>
        <p:spPr>
          <a:xfrm>
            <a:off x="9321800" y="2603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Solution: XAI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763000" y="3149600"/>
            <a:ext cx="6350000" cy="12700"/>
          </a:xfrm>
          <a:prstGeom prst="rect">
            <a:avLst/>
          </a:prstGeom>
          <a:solidFill>
            <a:srgbClr val="E2E0DC"/>
          </a:solidFill>
          <a:ln/>
        </p:spPr>
      </p:sp>
      <p:sp>
        <p:nvSpPr>
          <p:cNvPr id="33" name="Text 31"/>
          <p:cNvSpPr/>
          <p:nvPr/>
        </p:nvSpPr>
        <p:spPr>
          <a:xfrm>
            <a:off x="8763000" y="3327400"/>
            <a:ext cx="6350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Explainable AI (XAI)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bridges the gap between accuracy and interpretability.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LIME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detection systems can: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Identify AI-generated text with high accuracy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Explain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which words/features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led to the decision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 evidence educators and courts can evaluate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i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 AND explain the decision.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324100" cy="5334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5300"/>
            <a:ext cx="23241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241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482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723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964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6205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FINDINGS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944600" y="0"/>
            <a:ext cx="2311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2000" y="736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E293B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Background — How LLMs Generate Text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1498600"/>
            <a:ext cx="14732000" cy="53340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1498600"/>
            <a:ext cx="142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explanation: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LLMs predict the next word, one at a time, based on probability — like autocomplete but vastly more powerful.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2260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CONCEPTS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26416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0EEEA"/>
          </a:solidFill>
          <a:ln/>
        </p:spPr>
      </p:sp>
      <p:sp>
        <p:nvSpPr>
          <p:cNvPr id="18" name="Shape 16"/>
          <p:cNvSpPr/>
          <p:nvPr/>
        </p:nvSpPr>
        <p:spPr>
          <a:xfrm>
            <a:off x="971550" y="2819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47638" y="52388"/>
                </a:moveTo>
                <a:lnTo>
                  <a:pt x="195263" y="52388"/>
                </a:lnTo>
                <a:lnTo>
                  <a:pt x="195263" y="80962"/>
                </a:lnTo>
                <a:lnTo>
                  <a:pt x="147638" y="80962"/>
                </a:lnTo>
                <a:lnTo>
                  <a:pt x="147638" y="52388"/>
                </a:lnTo>
                <a:close/>
                <a:moveTo>
                  <a:pt x="142875" y="19050"/>
                </a:moveTo>
                <a:cubicBezTo>
                  <a:pt x="127099" y="19050"/>
                  <a:pt x="114300" y="31849"/>
                  <a:pt x="114300" y="47625"/>
                </a:cubicBezTo>
                <a:lnTo>
                  <a:pt x="114300" y="85725"/>
                </a:lnTo>
                <a:cubicBezTo>
                  <a:pt x="114300" y="101501"/>
                  <a:pt x="127099" y="114300"/>
                  <a:pt x="142875" y="114300"/>
                </a:cubicBezTo>
                <a:lnTo>
                  <a:pt x="152400" y="114300"/>
                </a:lnTo>
                <a:lnTo>
                  <a:pt x="152400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76200" y="171450"/>
                </a:lnTo>
                <a:lnTo>
                  <a:pt x="76200" y="190500"/>
                </a:lnTo>
                <a:lnTo>
                  <a:pt x="66675" y="190500"/>
                </a:lnTo>
                <a:cubicBezTo>
                  <a:pt x="50899" y="190500"/>
                  <a:pt x="38100" y="203299"/>
                  <a:pt x="38100" y="219075"/>
                </a:cubicBezTo>
                <a:lnTo>
                  <a:pt x="38100" y="257175"/>
                </a:lnTo>
                <a:cubicBezTo>
                  <a:pt x="38100" y="272951"/>
                  <a:pt x="50899" y="285750"/>
                  <a:pt x="66675" y="285750"/>
                </a:cubicBezTo>
                <a:lnTo>
                  <a:pt x="123825" y="285750"/>
                </a:lnTo>
                <a:cubicBezTo>
                  <a:pt x="139601" y="285750"/>
                  <a:pt x="152400" y="272951"/>
                  <a:pt x="152400" y="257175"/>
                </a:cubicBezTo>
                <a:lnTo>
                  <a:pt x="152400" y="219075"/>
                </a:lnTo>
                <a:cubicBezTo>
                  <a:pt x="152400" y="203299"/>
                  <a:pt x="139601" y="190500"/>
                  <a:pt x="123825" y="190500"/>
                </a:cubicBezTo>
                <a:lnTo>
                  <a:pt x="114300" y="190500"/>
                </a:lnTo>
                <a:lnTo>
                  <a:pt x="114300" y="171450"/>
                </a:lnTo>
                <a:lnTo>
                  <a:pt x="228600" y="171450"/>
                </a:lnTo>
                <a:lnTo>
                  <a:pt x="228600" y="190500"/>
                </a:lnTo>
                <a:lnTo>
                  <a:pt x="219075" y="190500"/>
                </a:lnTo>
                <a:cubicBezTo>
                  <a:pt x="203299" y="190500"/>
                  <a:pt x="190500" y="203299"/>
                  <a:pt x="190500" y="219075"/>
                </a:cubicBezTo>
                <a:lnTo>
                  <a:pt x="190500" y="257175"/>
                </a:lnTo>
                <a:cubicBezTo>
                  <a:pt x="190500" y="272951"/>
                  <a:pt x="203299" y="285750"/>
                  <a:pt x="219075" y="285750"/>
                </a:cubicBezTo>
                <a:lnTo>
                  <a:pt x="276225" y="285750"/>
                </a:lnTo>
                <a:cubicBezTo>
                  <a:pt x="292001" y="285750"/>
                  <a:pt x="304800" y="272951"/>
                  <a:pt x="304800" y="257175"/>
                </a:cubicBezTo>
                <a:lnTo>
                  <a:pt x="304800" y="219075"/>
                </a:lnTo>
                <a:cubicBezTo>
                  <a:pt x="304800" y="203299"/>
                  <a:pt x="292001" y="190500"/>
                  <a:pt x="276225" y="190500"/>
                </a:cubicBezTo>
                <a:lnTo>
                  <a:pt x="266700" y="190500"/>
                </a:lnTo>
                <a:lnTo>
                  <a:pt x="266700" y="171450"/>
                </a:lnTo>
                <a:lnTo>
                  <a:pt x="323850" y="171450"/>
                </a:lnTo>
                <a:cubicBezTo>
                  <a:pt x="334387" y="171450"/>
                  <a:pt x="342900" y="162937"/>
                  <a:pt x="342900" y="152400"/>
                </a:cubicBezTo>
                <a:cubicBezTo>
                  <a:pt x="342900" y="141863"/>
                  <a:pt x="334387" y="133350"/>
                  <a:pt x="323850" y="133350"/>
                </a:cubicBezTo>
                <a:lnTo>
                  <a:pt x="190500" y="133350"/>
                </a:lnTo>
                <a:lnTo>
                  <a:pt x="190500" y="114300"/>
                </a:lnTo>
                <a:lnTo>
                  <a:pt x="200025" y="114300"/>
                </a:lnTo>
                <a:cubicBezTo>
                  <a:pt x="215801" y="114300"/>
                  <a:pt x="228600" y="101501"/>
                  <a:pt x="228600" y="85725"/>
                </a:cubicBezTo>
                <a:lnTo>
                  <a:pt x="228600" y="47625"/>
                </a:lnTo>
                <a:cubicBezTo>
                  <a:pt x="228600" y="31849"/>
                  <a:pt x="215801" y="19050"/>
                  <a:pt x="200025" y="19050"/>
                </a:cubicBezTo>
                <a:lnTo>
                  <a:pt x="142875" y="19050"/>
                </a:lnTo>
                <a:close/>
                <a:moveTo>
                  <a:pt x="266700" y="223838"/>
                </a:moveTo>
                <a:lnTo>
                  <a:pt x="271463" y="223838"/>
                </a:lnTo>
                <a:lnTo>
                  <a:pt x="271463" y="252413"/>
                </a:lnTo>
                <a:lnTo>
                  <a:pt x="223838" y="252413"/>
                </a:lnTo>
                <a:lnTo>
                  <a:pt x="223838" y="223838"/>
                </a:lnTo>
                <a:lnTo>
                  <a:pt x="266700" y="223838"/>
                </a:lnTo>
                <a:close/>
                <a:moveTo>
                  <a:pt x="114300" y="223838"/>
                </a:moveTo>
                <a:lnTo>
                  <a:pt x="119062" y="223838"/>
                </a:lnTo>
                <a:lnTo>
                  <a:pt x="119062" y="252413"/>
                </a:lnTo>
                <a:lnTo>
                  <a:pt x="71438" y="252413"/>
                </a:lnTo>
                <a:lnTo>
                  <a:pt x="71438" y="223838"/>
                </a:lnTo>
                <a:lnTo>
                  <a:pt x="114300" y="223838"/>
                </a:lnTo>
                <a:close/>
              </a:path>
            </a:pathLst>
          </a:custGeom>
          <a:solidFill>
            <a:srgbClr val="5A8A9A"/>
          </a:solidFill>
          <a:ln/>
        </p:spPr>
      </p:sp>
      <p:sp>
        <p:nvSpPr>
          <p:cNvPr id="19" name="Text 17"/>
          <p:cNvSpPr/>
          <p:nvPr/>
        </p:nvSpPr>
        <p:spPr>
          <a:xfrm>
            <a:off x="1422400" y="2794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Transformer Architecture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0600" y="3200400"/>
            <a:ext cx="425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self-attention to understand context across long text sequences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78500" y="26416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0EEEA"/>
          </a:solidFill>
          <a:ln/>
        </p:spPr>
      </p:sp>
      <p:sp>
        <p:nvSpPr>
          <p:cNvPr id="22" name="Shape 20"/>
          <p:cNvSpPr/>
          <p:nvPr/>
        </p:nvSpPr>
        <p:spPr>
          <a:xfrm>
            <a:off x="6007100" y="2819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5A8A9A"/>
          </a:solidFill>
          <a:ln/>
        </p:spPr>
      </p:sp>
      <p:sp>
        <p:nvSpPr>
          <p:cNvPr id="23" name="Text 21"/>
          <p:cNvSpPr/>
          <p:nvPr/>
        </p:nvSpPr>
        <p:spPr>
          <a:xfrm>
            <a:off x="6438900" y="2794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Autoregressive Generation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07100" y="3200400"/>
            <a:ext cx="425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Generates one token at a time based on probability distribution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95000" y="2641600"/>
            <a:ext cx="4699000" cy="1143000"/>
          </a:xfrm>
          <a:prstGeom prst="roundRect">
            <a:avLst>
              <a:gd name="adj" fmla="val 8000"/>
            </a:avLst>
          </a:prstGeom>
          <a:solidFill>
            <a:srgbClr val="F0EEEA"/>
          </a:solidFill>
          <a:ln/>
        </p:spPr>
      </p:sp>
      <p:sp>
        <p:nvSpPr>
          <p:cNvPr id="26" name="Shape 24"/>
          <p:cNvSpPr/>
          <p:nvPr/>
        </p:nvSpPr>
        <p:spPr>
          <a:xfrm>
            <a:off x="11080750" y="281940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95250" y="0"/>
                </a:moveTo>
                <a:cubicBezTo>
                  <a:pt x="63698" y="0"/>
                  <a:pt x="38100" y="25598"/>
                  <a:pt x="38100" y="57150"/>
                </a:cubicBezTo>
                <a:lnTo>
                  <a:pt x="38100" y="155198"/>
                </a:lnTo>
                <a:cubicBezTo>
                  <a:pt x="20538" y="170855"/>
                  <a:pt x="9525" y="193715"/>
                  <a:pt x="9525" y="219075"/>
                </a:cubicBezTo>
                <a:cubicBezTo>
                  <a:pt x="9525" y="266402"/>
                  <a:pt x="47923" y="304800"/>
                  <a:pt x="95250" y="304800"/>
                </a:cubicBezTo>
                <a:cubicBezTo>
                  <a:pt x="142577" y="304800"/>
                  <a:pt x="180975" y="266402"/>
                  <a:pt x="180975" y="219075"/>
                </a:cubicBezTo>
                <a:cubicBezTo>
                  <a:pt x="180975" y="193715"/>
                  <a:pt x="169962" y="170855"/>
                  <a:pt x="152400" y="155198"/>
                </a:cubicBezTo>
                <a:lnTo>
                  <a:pt x="152400" y="57150"/>
                </a:lnTo>
                <a:cubicBezTo>
                  <a:pt x="152400" y="25598"/>
                  <a:pt x="126802" y="0"/>
                  <a:pt x="95250" y="0"/>
                </a:cubicBezTo>
                <a:close/>
                <a:moveTo>
                  <a:pt x="133350" y="219075"/>
                </a:moveTo>
                <a:cubicBezTo>
                  <a:pt x="133350" y="240090"/>
                  <a:pt x="116265" y="257175"/>
                  <a:pt x="95250" y="257175"/>
                </a:cubicBezTo>
                <a:cubicBezTo>
                  <a:pt x="74235" y="257175"/>
                  <a:pt x="57150" y="240090"/>
                  <a:pt x="57150" y="219075"/>
                </a:cubicBezTo>
                <a:cubicBezTo>
                  <a:pt x="57150" y="203061"/>
                  <a:pt x="66973" y="189369"/>
                  <a:pt x="80962" y="183773"/>
                </a:cubicBezTo>
                <a:lnTo>
                  <a:pt x="80962" y="128588"/>
                </a:lnTo>
                <a:cubicBezTo>
                  <a:pt x="80962" y="120670"/>
                  <a:pt x="87332" y="114300"/>
                  <a:pt x="95250" y="114300"/>
                </a:cubicBezTo>
                <a:cubicBezTo>
                  <a:pt x="103168" y="114300"/>
                  <a:pt x="109537" y="120670"/>
                  <a:pt x="109537" y="128588"/>
                </a:cubicBezTo>
                <a:lnTo>
                  <a:pt x="109537" y="183773"/>
                </a:lnTo>
                <a:cubicBezTo>
                  <a:pt x="123527" y="189428"/>
                  <a:pt x="133350" y="203121"/>
                  <a:pt x="133350" y="219075"/>
                </a:cubicBezTo>
                <a:close/>
              </a:path>
            </a:pathLst>
          </a:custGeom>
          <a:solidFill>
            <a:srgbClr val="5A8A9A"/>
          </a:solidFill>
          <a:ln/>
        </p:spPr>
      </p:sp>
      <p:sp>
        <p:nvSpPr>
          <p:cNvPr id="27" name="Text 25"/>
          <p:cNvSpPr/>
          <p:nvPr/>
        </p:nvSpPr>
        <p:spPr>
          <a:xfrm>
            <a:off x="11455400" y="2794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Temperature Setting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023600" y="3200400"/>
            <a:ext cx="42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= predictable text | High = creative/random text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4038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VS. LLM WRITING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4419600"/>
            <a:ext cx="7175500" cy="2667000"/>
          </a:xfrm>
          <a:prstGeom prst="roundRect">
            <a:avLst>
              <a:gd name="adj" fmla="val 8000"/>
            </a:avLst>
          </a:prstGeom>
          <a:solidFill>
            <a:srgbClr val="E8F4F0"/>
          </a:solidFill>
          <a:ln/>
        </p:spPr>
      </p:sp>
      <p:sp>
        <p:nvSpPr>
          <p:cNvPr id="31" name="Shape 29"/>
          <p:cNvSpPr/>
          <p:nvPr/>
        </p:nvSpPr>
        <p:spPr>
          <a:xfrm>
            <a:off x="1016000" y="4597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55935" y="12710"/>
                </a:moveTo>
                <a:lnTo>
                  <a:pt x="221139" y="47506"/>
                </a:lnTo>
                <a:lnTo>
                  <a:pt x="308164" y="134531"/>
                </a:lnTo>
                <a:lnTo>
                  <a:pt x="342960" y="99735"/>
                </a:lnTo>
                <a:cubicBezTo>
                  <a:pt x="358170" y="84524"/>
                  <a:pt x="358170" y="59938"/>
                  <a:pt x="342960" y="44728"/>
                </a:cubicBezTo>
                <a:lnTo>
                  <a:pt x="310942" y="12710"/>
                </a:lnTo>
                <a:cubicBezTo>
                  <a:pt x="295731" y="-2500"/>
                  <a:pt x="271145" y="-2500"/>
                  <a:pt x="255935" y="12710"/>
                </a:cubicBezTo>
                <a:close/>
                <a:moveTo>
                  <a:pt x="193983" y="67508"/>
                </a:moveTo>
                <a:lnTo>
                  <a:pt x="193635" y="67578"/>
                </a:lnTo>
                <a:lnTo>
                  <a:pt x="93553" y="97582"/>
                </a:lnTo>
                <a:cubicBezTo>
                  <a:pt x="79732" y="101749"/>
                  <a:pt x="68759" y="112306"/>
                  <a:pt x="64175" y="126057"/>
                </a:cubicBezTo>
                <a:lnTo>
                  <a:pt x="2639" y="309622"/>
                </a:lnTo>
                <a:cubicBezTo>
                  <a:pt x="625" y="315664"/>
                  <a:pt x="1320" y="322263"/>
                  <a:pt x="4376" y="327680"/>
                </a:cubicBezTo>
                <a:lnTo>
                  <a:pt x="112306" y="219750"/>
                </a:lnTo>
                <a:cubicBezTo>
                  <a:pt x="111542" y="216972"/>
                  <a:pt x="111194" y="214124"/>
                  <a:pt x="111194" y="211138"/>
                </a:cubicBezTo>
                <a:cubicBezTo>
                  <a:pt x="111194" y="192732"/>
                  <a:pt x="126127" y="177800"/>
                  <a:pt x="144532" y="177800"/>
                </a:cubicBezTo>
                <a:cubicBezTo>
                  <a:pt x="162937" y="177800"/>
                  <a:pt x="177869" y="192732"/>
                  <a:pt x="177869" y="211138"/>
                </a:cubicBezTo>
                <a:cubicBezTo>
                  <a:pt x="177869" y="229543"/>
                  <a:pt x="162937" y="244475"/>
                  <a:pt x="144532" y="244475"/>
                </a:cubicBezTo>
                <a:cubicBezTo>
                  <a:pt x="141545" y="244475"/>
                  <a:pt x="138628" y="244058"/>
                  <a:pt x="135920" y="243364"/>
                </a:cubicBezTo>
                <a:lnTo>
                  <a:pt x="27990" y="351224"/>
                </a:lnTo>
                <a:cubicBezTo>
                  <a:pt x="33407" y="354280"/>
                  <a:pt x="39936" y="354975"/>
                  <a:pt x="46047" y="352961"/>
                </a:cubicBezTo>
                <a:lnTo>
                  <a:pt x="229612" y="291425"/>
                </a:lnTo>
                <a:cubicBezTo>
                  <a:pt x="243294" y="286841"/>
                  <a:pt x="253921" y="275868"/>
                  <a:pt x="258088" y="262047"/>
                </a:cubicBezTo>
                <a:lnTo>
                  <a:pt x="288092" y="161965"/>
                </a:lnTo>
                <a:lnTo>
                  <a:pt x="288161" y="161617"/>
                </a:lnTo>
                <a:lnTo>
                  <a:pt x="194052" y="67508"/>
                </a:lnTo>
                <a:close/>
              </a:path>
            </a:pathLst>
          </a:custGeom>
          <a:solidFill>
            <a:srgbClr val="5A8A9A"/>
          </a:solidFill>
          <a:ln/>
        </p:spPr>
      </p:sp>
      <p:sp>
        <p:nvSpPr>
          <p:cNvPr id="32" name="Text 30"/>
          <p:cNvSpPr/>
          <p:nvPr/>
        </p:nvSpPr>
        <p:spPr>
          <a:xfrm>
            <a:off x="1498600" y="45974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5A8A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Writing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16000" y="5080000"/>
            <a:ext cx="66675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Has rhythm variation and natural flow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Uses unusual words and personal style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Contains grammatical irregularities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Shows individual voice and creativity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18500" y="4419600"/>
            <a:ext cx="7175500" cy="2667000"/>
          </a:xfrm>
          <a:prstGeom prst="roundRect">
            <a:avLst>
              <a:gd name="adj" fmla="val 8000"/>
            </a:avLst>
          </a:prstGeom>
          <a:solidFill>
            <a:srgbClr val="F5EDE4"/>
          </a:solidFill>
          <a:ln/>
        </p:spPr>
      </p:sp>
      <p:sp>
        <p:nvSpPr>
          <p:cNvPr id="35" name="Shape 33"/>
          <p:cNvSpPr/>
          <p:nvPr/>
        </p:nvSpPr>
        <p:spPr>
          <a:xfrm>
            <a:off x="8528050" y="45974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36" name="Text 34"/>
          <p:cNvSpPr/>
          <p:nvPr/>
        </p:nvSpPr>
        <p:spPr>
          <a:xfrm>
            <a:off x="9055100" y="45974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Writing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72500" y="5080000"/>
            <a:ext cx="66675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Very grammatically regular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Lexically predictable — safe common words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Overly smooth and well-organized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regularity is detectable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62000" y="7340600"/>
            <a:ext cx="14732000" cy="457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39" name="Text 37"/>
          <p:cNvSpPr/>
          <p:nvPr/>
        </p:nvSpPr>
        <p:spPr>
          <a:xfrm>
            <a:off x="1016000" y="7340600"/>
            <a:ext cx="142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500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very features that make LLM text fluent and coherent — grammatical perfection, predictable vocabulary, smooth organization — also make it detectable.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324100" cy="5334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5300"/>
            <a:ext cx="23241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241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482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723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964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6205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FINDINGS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944600" y="0"/>
            <a:ext cx="2311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2000" y="736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E293B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Background — LIME and SHAP (XAI Methods)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1447800"/>
            <a:ext cx="147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methods explain WHY an AI model made a decision — which words/features caused it.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1968500"/>
            <a:ext cx="7175500" cy="4953000"/>
          </a:xfrm>
          <a:prstGeom prst="roundRect">
            <a:avLst>
              <a:gd name="adj" fmla="val 8000"/>
            </a:avLst>
          </a:prstGeom>
          <a:solidFill>
            <a:srgbClr val="F0EEEA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1968500"/>
            <a:ext cx="7175500" cy="635000"/>
          </a:xfrm>
          <a:prstGeom prst="roundRect">
            <a:avLst>
              <a:gd name="adj" fmla="val 8000"/>
            </a:avLst>
          </a:prstGeom>
          <a:solidFill>
            <a:srgbClr val="5A8A9A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1968500"/>
            <a:ext cx="7175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8F7F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LIME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2794000"/>
            <a:ext cx="66675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5A8A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Mechanism: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Masks/hides words one by one and watches how the AI prediction changes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5A8A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Builds a simple explanation — "these words caused the AI verdict"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5A8A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Fast but can be slightly unstable (random sampling process)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5A8A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Transformer models and real-time explanation needs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18500" y="1968500"/>
            <a:ext cx="7175500" cy="4953000"/>
          </a:xfrm>
          <a:prstGeom prst="roundRect">
            <a:avLst>
              <a:gd name="adj" fmla="val 8000"/>
            </a:avLst>
          </a:prstGeom>
          <a:solidFill>
            <a:srgbClr val="F0EEEA"/>
          </a:solidFill>
          <a:ln/>
        </p:spPr>
      </p:sp>
      <p:sp>
        <p:nvSpPr>
          <p:cNvPr id="20" name="Shape 18"/>
          <p:cNvSpPr/>
          <p:nvPr/>
        </p:nvSpPr>
        <p:spPr>
          <a:xfrm>
            <a:off x="8318500" y="1968500"/>
            <a:ext cx="7175500" cy="635000"/>
          </a:xfrm>
          <a:prstGeom prst="roundRect">
            <a:avLst>
              <a:gd name="adj" fmla="val 8000"/>
            </a:avLst>
          </a:prstGeom>
          <a:solidFill>
            <a:srgbClr val="D4A574"/>
          </a:solidFill>
          <a:ln/>
        </p:spPr>
      </p:sp>
      <p:sp>
        <p:nvSpPr>
          <p:cNvPr id="21" name="Text 19"/>
          <p:cNvSpPr/>
          <p:nvPr/>
        </p:nvSpPr>
        <p:spPr>
          <a:xfrm>
            <a:off x="8318500" y="1968500"/>
            <a:ext cx="7175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1E293B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SHAP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72500" y="2794000"/>
            <a:ext cx="66675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Mechanism: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Based on cooperative game theory — treats each word as a "player"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Calculates exact, fair contribution of every word to the prediction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Consistent and reproducible every time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Rigorous feature ranking and scientific reproducibility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7175500"/>
            <a:ext cx="14732000" cy="533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7175500"/>
            <a:ext cx="1422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methods are: </a:t>
            </a:r>
            <a:r>
              <a:rPr lang="en-US" sz="1400" b="1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Post-hoc</a:t>
            </a:r>
            <a:r>
              <a:rPr lang="en-US" sz="1400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· </a:t>
            </a:r>
            <a:r>
              <a:rPr lang="en-US" sz="1400" b="1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</a:t>
            </a:r>
            <a:r>
              <a:rPr lang="en-US" sz="1400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· </a:t>
            </a:r>
            <a:r>
              <a:rPr lang="en-US" sz="1400" b="1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Model-agnostic</a:t>
            </a:r>
            <a:r>
              <a:rPr lang="en-US" sz="1400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· </a:t>
            </a:r>
            <a:r>
              <a:rPr lang="en-US" sz="1400" b="1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Feature-level attribution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jazwc5fmm66m/mnt/agents/output/llm_review/images/1_Abstract_digital_technology_particle.png"/>
          <p:cNvPicPr>
            <a:picLocks noChangeAspect="1"/>
          </p:cNvPicPr>
          <p:nvPr/>
        </p:nvPicPr>
        <p:blipFill>
          <a:blip r:embed="rId3"/>
          <a:srcRect t="3175" b="31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72A">
                  <a:alpha val="20000"/>
                </a:srgbClr>
              </a:gs>
              <a:gs pos="40000">
                <a:srgbClr val="0F172A">
                  <a:alpha val="80000"/>
                </a:srgbClr>
              </a:gs>
              <a:gs pos="100000">
                <a:srgbClr val="0F172A">
                  <a:alpha val="96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324100" y="0"/>
            <a:ext cx="2324100" cy="5334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2324100" y="495300"/>
            <a:ext cx="23241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8" name="Text 5"/>
          <p:cNvSpPr/>
          <p:nvPr/>
        </p:nvSpPr>
        <p:spPr>
          <a:xfrm>
            <a:off x="23241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482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723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964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6205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FINDINGS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3944600" y="0"/>
            <a:ext cx="2311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16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D4A57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16000" y="4318000"/>
            <a:ext cx="7620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6" name="Text 13"/>
          <p:cNvSpPr/>
          <p:nvPr/>
        </p:nvSpPr>
        <p:spPr>
          <a:xfrm>
            <a:off x="1016000" y="4572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8F7F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16000" y="533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8F7F4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PRISMA systematic review process and study selection criteria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324100" y="0"/>
            <a:ext cx="2324100" cy="5334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324100" y="495300"/>
            <a:ext cx="23241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Text 4"/>
          <p:cNvSpPr/>
          <p:nvPr/>
        </p:nvSpPr>
        <p:spPr>
          <a:xfrm>
            <a:off x="23241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482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723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964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6205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FINDINGS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944600" y="0"/>
            <a:ext cx="2311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2000" y="736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E293B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Methodology — PRISMA Systematic Review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14478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were the 12 studies selected?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1968500"/>
            <a:ext cx="2032000" cy="533400"/>
          </a:xfrm>
          <a:prstGeom prst="roundRect">
            <a:avLst>
              <a:gd name="adj" fmla="val 10000"/>
            </a:avLst>
          </a:prstGeom>
          <a:solidFill>
            <a:srgbClr val="5A8A9A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1968500"/>
            <a:ext cx="203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895600" y="2159000"/>
            <a:ext cx="3048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8" name="Text 16"/>
          <p:cNvSpPr/>
          <p:nvPr/>
        </p:nvSpPr>
        <p:spPr>
          <a:xfrm>
            <a:off x="3327400" y="1905000"/>
            <a:ext cx="1219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250 records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4 databases </a:t>
            </a:r>
            <a:r>
              <a:rPr lang="en-US" sz="1500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68 duplicates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removed </a:t>
            </a:r>
            <a:r>
              <a:rPr lang="en-US" sz="1500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182 unique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records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2794000"/>
            <a:ext cx="2032000" cy="533400"/>
          </a:xfrm>
          <a:prstGeom prst="roundRect">
            <a:avLst>
              <a:gd name="adj" fmla="val 10000"/>
            </a:avLst>
          </a:prstGeom>
          <a:solidFill>
            <a:srgbClr val="5A8A9A"/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2794000"/>
            <a:ext cx="203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SCREEN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895600" y="2984500"/>
            <a:ext cx="3048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2" name="Text 20"/>
          <p:cNvSpPr/>
          <p:nvPr/>
        </p:nvSpPr>
        <p:spPr>
          <a:xfrm>
            <a:off x="3327400" y="2730500"/>
            <a:ext cx="1219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182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screened by title &amp; abstract </a:t>
            </a:r>
            <a:r>
              <a:rPr lang="en-US" sz="1500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126 excluded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(not AGTD, no XAI, pre-2023)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3619500"/>
            <a:ext cx="2032000" cy="533400"/>
          </a:xfrm>
          <a:prstGeom prst="roundRect">
            <a:avLst>
              <a:gd name="adj" fmla="val 10000"/>
            </a:avLst>
          </a:prstGeom>
          <a:solidFill>
            <a:srgbClr val="D4A574"/>
          </a:solidFill>
          <a:ln/>
        </p:spPr>
      </p:sp>
      <p:sp>
        <p:nvSpPr>
          <p:cNvPr id="24" name="Text 22"/>
          <p:cNvSpPr/>
          <p:nvPr/>
        </p:nvSpPr>
        <p:spPr>
          <a:xfrm>
            <a:off x="762000" y="3619500"/>
            <a:ext cx="203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ELIGIBLE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895600" y="3810000"/>
            <a:ext cx="3048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6" name="Text 24"/>
          <p:cNvSpPr/>
          <p:nvPr/>
        </p:nvSpPr>
        <p:spPr>
          <a:xfrm>
            <a:off x="3327400" y="3556000"/>
            <a:ext cx="1219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56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full texts assessed </a:t>
            </a:r>
            <a:r>
              <a:rPr lang="en-US" sz="1500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44 excluded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(no formal XAI, small dataset, non-English)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4445000"/>
            <a:ext cx="2032000" cy="533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762000" y="4445000"/>
            <a:ext cx="203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INCLUDE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895600" y="4635500"/>
            <a:ext cx="3048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30" name="Text 28"/>
          <p:cNvSpPr/>
          <p:nvPr/>
        </p:nvSpPr>
        <p:spPr>
          <a:xfrm>
            <a:off x="3327400" y="4381500"/>
            <a:ext cx="1219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studies included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2023–2026 | All use LIME or SHAP formally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533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INCLUSION CRITERIA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5715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/>
        </p:spPr>
      </p:sp>
      <p:sp>
        <p:nvSpPr>
          <p:cNvPr id="33" name="Shape 31"/>
          <p:cNvSpPr/>
          <p:nvPr/>
        </p:nvSpPr>
        <p:spPr>
          <a:xfrm>
            <a:off x="1287463" y="5969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34" name="Text 32"/>
          <p:cNvSpPr/>
          <p:nvPr/>
        </p:nvSpPr>
        <p:spPr>
          <a:xfrm>
            <a:off x="1676400" y="5943600"/>
            <a:ext cx="203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English language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35463" y="5969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36" name="Text 34"/>
          <p:cNvSpPr/>
          <p:nvPr/>
        </p:nvSpPr>
        <p:spPr>
          <a:xfrm>
            <a:off x="4724400" y="5943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Jan 2023 – Mar 2026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891463" y="5969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38" name="Text 36"/>
          <p:cNvSpPr/>
          <p:nvPr/>
        </p:nvSpPr>
        <p:spPr>
          <a:xfrm>
            <a:off x="8280400" y="5943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LIME or SHAP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287463" y="65405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40" name="Text 38"/>
          <p:cNvSpPr/>
          <p:nvPr/>
        </p:nvSpPr>
        <p:spPr>
          <a:xfrm>
            <a:off x="1676400" y="6515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≥ 500 samples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97463" y="65405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0" y="65151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Reports Accuracy / F1 / AUC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jazwc5fmm66m/mnt/agents/output/llm_review/images/3_Digital_technology_particles_wave.png"/>
          <p:cNvPicPr>
            <a:picLocks noChangeAspect="1"/>
          </p:cNvPicPr>
          <p:nvPr/>
        </p:nvPicPr>
        <p:blipFill>
          <a:blip r:embed="rId3"/>
          <a:srcRect t="3175" b="31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72A">
                  <a:alpha val="20000"/>
                </a:srgbClr>
              </a:gs>
              <a:gs pos="40000">
                <a:srgbClr val="0F172A">
                  <a:alpha val="80000"/>
                </a:srgbClr>
              </a:gs>
              <a:gs pos="100000">
                <a:srgbClr val="0F172A">
                  <a:alpha val="96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3241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48200" y="0"/>
            <a:ext cx="2324100" cy="5334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648200" y="495300"/>
            <a:ext cx="23241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6"/>
          <p:cNvSpPr/>
          <p:nvPr/>
        </p:nvSpPr>
        <p:spPr>
          <a:xfrm>
            <a:off x="46482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723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964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6205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FINDINGS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3944600" y="0"/>
            <a:ext cx="2311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16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D4A57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16000" y="4318000"/>
            <a:ext cx="7620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6" name="Text 13"/>
          <p:cNvSpPr/>
          <p:nvPr/>
        </p:nvSpPr>
        <p:spPr>
          <a:xfrm>
            <a:off x="1016000" y="457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8F7F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Stylometric &amp; Classical ML Approaches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16000" y="5334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8F7F4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Handcrafted linguistic features + classical classifiers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241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648200" y="0"/>
            <a:ext cx="2324100" cy="5334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48200" y="495300"/>
            <a:ext cx="23241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7" name="Text 5"/>
          <p:cNvSpPr/>
          <p:nvPr/>
        </p:nvSpPr>
        <p:spPr>
          <a:xfrm>
            <a:off x="46482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723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964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6205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FINDINGS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944600" y="0"/>
            <a:ext cx="2311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2000" y="736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E293B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Stylometric &amp; Classical ML Approaches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14224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studies using handcrafted linguistic features + classical classifiers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1879600"/>
            <a:ext cx="4699000" cy="3556000"/>
          </a:xfrm>
          <a:prstGeom prst="roundRect">
            <a:avLst>
              <a:gd name="adj" fmla="val 8000"/>
            </a:avLst>
          </a:prstGeom>
          <a:solidFill>
            <a:srgbClr val="F0EEEA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1879600"/>
            <a:ext cx="4699000" cy="508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1879600"/>
            <a:ext cx="469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Shah et al. (2023)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5200" y="2514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5A8A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XAI: LIME + SHAP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5200" y="2870200"/>
            <a:ext cx="42926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Simpson's Index &amp; punctuation regularity are the </a:t>
            </a: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strongest AI markers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Both LIME and SHAP agreed — across different mechanisms.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5200" y="4699000"/>
            <a:ext cx="429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i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English general domain only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78500" y="1879600"/>
            <a:ext cx="4699000" cy="3556000"/>
          </a:xfrm>
          <a:prstGeom prst="roundRect">
            <a:avLst>
              <a:gd name="adj" fmla="val 8000"/>
            </a:avLst>
          </a:prstGeom>
          <a:solidFill>
            <a:srgbClr val="F0EEEA"/>
          </a:solidFill>
          <a:ln/>
        </p:spPr>
      </p:sp>
      <p:sp>
        <p:nvSpPr>
          <p:cNvPr id="22" name="Shape 20"/>
          <p:cNvSpPr/>
          <p:nvPr/>
        </p:nvSpPr>
        <p:spPr>
          <a:xfrm>
            <a:off x="5778500" y="1879600"/>
            <a:ext cx="4699000" cy="508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5778500" y="1879600"/>
            <a:ext cx="469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McGovern et al. (2024)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81700" y="25146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5A8A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XAI: Attention Visualization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81700" y="2870200"/>
            <a:ext cx="42926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LLM has a </a:t>
            </a: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stylistic fingerprint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Consistent POS tag patterns &amp; high-frequency tokens distinguish LLMs from humans.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81700" y="4699000"/>
            <a:ext cx="429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i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formal model-agnostic XAI used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795000" y="1879600"/>
            <a:ext cx="4699000" cy="3556000"/>
          </a:xfrm>
          <a:prstGeom prst="roundRect">
            <a:avLst>
              <a:gd name="adj" fmla="val 8000"/>
            </a:avLst>
          </a:prstGeom>
          <a:solidFill>
            <a:srgbClr val="F0EEE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795000" y="1879600"/>
            <a:ext cx="4699000" cy="508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10795000" y="1879600"/>
            <a:ext cx="469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Przystalski et al. (2025)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998200" y="25146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5A8A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XAI: SHAP (global + local)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98200" y="2870200"/>
            <a:ext cx="42926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 short texts (&lt;200 words): </a:t>
            </a: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Grammatical standardization has 2× the weight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any other feature. LLMs are too grammatically perfect.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998200" y="4699000"/>
            <a:ext cx="429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i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 not generalize to professional writing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5715000"/>
            <a:ext cx="14732000" cy="457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6000" y="5765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925" y="144463"/>
                </a:moveTo>
                <a:cubicBezTo>
                  <a:pt x="288925" y="176341"/>
                  <a:pt x="278576" y="205790"/>
                  <a:pt x="261144" y="229681"/>
                </a:cubicBezTo>
                <a:lnTo>
                  <a:pt x="349071" y="317679"/>
                </a:lnTo>
                <a:cubicBezTo>
                  <a:pt x="357753" y="326360"/>
                  <a:pt x="357753" y="340459"/>
                  <a:pt x="349071" y="349141"/>
                </a:cubicBezTo>
                <a:cubicBezTo>
                  <a:pt x="340390" y="357823"/>
                  <a:pt x="326291" y="357823"/>
                  <a:pt x="317609" y="349141"/>
                </a:cubicBezTo>
                <a:lnTo>
                  <a:pt x="229681" y="261144"/>
                </a:lnTo>
                <a:cubicBezTo>
                  <a:pt x="205790" y="278576"/>
                  <a:pt x="176341" y="288925"/>
                  <a:pt x="144463" y="288925"/>
                </a:cubicBezTo>
                <a:cubicBezTo>
                  <a:pt x="64661" y="288925"/>
                  <a:pt x="0" y="224264"/>
                  <a:pt x="0" y="144463"/>
                </a:cubicBezTo>
                <a:cubicBezTo>
                  <a:pt x="0" y="64661"/>
                  <a:pt x="64661" y="0"/>
                  <a:pt x="144463" y="0"/>
                </a:cubicBezTo>
                <a:cubicBezTo>
                  <a:pt x="224264" y="0"/>
                  <a:pt x="288925" y="64661"/>
                  <a:pt x="288925" y="144463"/>
                </a:cubicBezTo>
                <a:close/>
                <a:moveTo>
                  <a:pt x="144463" y="244475"/>
                </a:moveTo>
                <a:cubicBezTo>
                  <a:pt x="199661" y="244475"/>
                  <a:pt x="244475" y="199661"/>
                  <a:pt x="244475" y="144463"/>
                </a:cubicBezTo>
                <a:cubicBezTo>
                  <a:pt x="244475" y="89264"/>
                  <a:pt x="199661" y="44450"/>
                  <a:pt x="144463" y="44450"/>
                </a:cubicBezTo>
                <a:cubicBezTo>
                  <a:pt x="89264" y="44450"/>
                  <a:pt x="44450" y="89264"/>
                  <a:pt x="44450" y="144462"/>
                </a:cubicBezTo>
                <a:cubicBezTo>
                  <a:pt x="44450" y="199661"/>
                  <a:pt x="89264" y="244475"/>
                  <a:pt x="144462" y="244475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35" name="Text 33"/>
          <p:cNvSpPr/>
          <p:nvPr/>
        </p:nvSpPr>
        <p:spPr>
          <a:xfrm>
            <a:off x="1498600" y="5715000"/>
            <a:ext cx="1371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Shared finding:</a:t>
            </a:r>
            <a:r>
              <a:rPr lang="en-US" sz="1500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LLM text is more grammatically regular and lexically predictable than human text — across all 3 studies.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jazwc5fmm66m/mnt/agents/output/llm_review/images/4_Abstract_Blue_Technology_Wave_Background.png"/>
          <p:cNvPicPr>
            <a:picLocks noChangeAspect="1"/>
          </p:cNvPicPr>
          <p:nvPr/>
        </p:nvPicPr>
        <p:blipFill>
          <a:blip r:embed="rId3"/>
          <a:srcRect l="195" r="19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72A">
                  <a:alpha val="20000"/>
                </a:srgbClr>
              </a:gs>
              <a:gs pos="40000">
                <a:srgbClr val="0F172A">
                  <a:alpha val="80000"/>
                </a:srgbClr>
              </a:gs>
              <a:gs pos="100000">
                <a:srgbClr val="0F172A">
                  <a:alpha val="96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3241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6482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972300" y="0"/>
            <a:ext cx="2324100" cy="5334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972300" y="495300"/>
            <a:ext cx="23241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0" name="Text 7"/>
          <p:cNvSpPr/>
          <p:nvPr/>
        </p:nvSpPr>
        <p:spPr>
          <a:xfrm>
            <a:off x="69723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964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6205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FINDINGS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3944600" y="0"/>
            <a:ext cx="2311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16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D4A57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16000" y="4318000"/>
            <a:ext cx="7620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6" name="Text 13"/>
          <p:cNvSpPr/>
          <p:nvPr/>
        </p:nvSpPr>
        <p:spPr>
          <a:xfrm>
            <a:off x="1016000" y="4572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8F7F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Transformer-Based Detection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16000" y="5334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8F7F4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Fine-tuned transformers — higher accuracy, less interpretable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241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482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972300" y="0"/>
            <a:ext cx="2324100" cy="5334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972300" y="495300"/>
            <a:ext cx="23241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8" name="Text 6"/>
          <p:cNvSpPr/>
          <p:nvPr/>
        </p:nvSpPr>
        <p:spPr>
          <a:xfrm>
            <a:off x="69723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964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6205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FINDINGS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944600" y="0"/>
            <a:ext cx="2311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2000" y="736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E293B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Transformer-Based Detection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1422400"/>
            <a:ext cx="1016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studies using fine-tuned transformer models (RoBERTa, DistilBERT, BERT)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1879600"/>
            <a:ext cx="7175500" cy="146050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1879600"/>
            <a:ext cx="63500" cy="1460500"/>
          </a:xfrm>
          <a:prstGeom prst="rect">
            <a:avLst/>
          </a:prstGeom>
          <a:solidFill>
            <a:srgbClr val="5A8A9A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1955800"/>
            <a:ext cx="444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Mitrovic et al. (2023)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88000" y="1955800"/>
            <a:ext cx="1270000" cy="304800"/>
          </a:xfrm>
          <a:prstGeom prst="roundRect">
            <a:avLst>
              <a:gd name="adj" fmla="val 12000"/>
            </a:avLst>
          </a:prstGeom>
          <a:solidFill>
            <a:srgbClr val="E8F4F0"/>
          </a:solidFill>
          <a:ln/>
        </p:spPr>
      </p:sp>
      <p:sp>
        <p:nvSpPr>
          <p:cNvPr id="19" name="Text 17"/>
          <p:cNvSpPr/>
          <p:nvPr/>
        </p:nvSpPr>
        <p:spPr>
          <a:xfrm>
            <a:off x="5588000" y="19558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5A8A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~84% Acc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2362200"/>
            <a:ext cx="6667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 reviews overuse superlatives ("exceptional", "outstanding"). Human reviews are idiosyncratic and hedged.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18500" y="1879600"/>
            <a:ext cx="7175500" cy="146050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/>
        </p:spPr>
      </p:sp>
      <p:sp>
        <p:nvSpPr>
          <p:cNvPr id="22" name="Shape 20"/>
          <p:cNvSpPr/>
          <p:nvPr/>
        </p:nvSpPr>
        <p:spPr>
          <a:xfrm>
            <a:off x="8318500" y="1879600"/>
            <a:ext cx="63500" cy="1460500"/>
          </a:xfrm>
          <a:prstGeom prst="rect">
            <a:avLst/>
          </a:prstGeom>
          <a:solidFill>
            <a:srgbClr val="5A8A9A"/>
          </a:solidFill>
          <a:ln/>
        </p:spPr>
      </p:sp>
      <p:sp>
        <p:nvSpPr>
          <p:cNvPr id="23" name="Text 21"/>
          <p:cNvSpPr/>
          <p:nvPr/>
        </p:nvSpPr>
        <p:spPr>
          <a:xfrm>
            <a:off x="8572500" y="1955800"/>
            <a:ext cx="444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Joshi et al. — HULLMI (2024)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3208000" y="1955800"/>
            <a:ext cx="1270000" cy="304800"/>
          </a:xfrm>
          <a:prstGeom prst="roundRect">
            <a:avLst>
              <a:gd name="adj" fmla="val 12000"/>
            </a:avLst>
          </a:prstGeom>
          <a:solidFill>
            <a:srgbClr val="E8F4F0"/>
          </a:solidFill>
          <a:ln/>
        </p:spPr>
      </p:sp>
      <p:sp>
        <p:nvSpPr>
          <p:cNvPr id="25" name="Text 23"/>
          <p:cNvSpPr/>
          <p:nvPr/>
        </p:nvSpPr>
        <p:spPr>
          <a:xfrm>
            <a:off x="13208000" y="19558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5A8A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~91% Acc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72500" y="2362200"/>
            <a:ext cx="6667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RoBERTa-Sentinel is best. Adding LIME does </a:t>
            </a: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reduce accuracy — explainability and accuracy are complementary.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3556000"/>
            <a:ext cx="7175500" cy="146050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/>
        </p:spPr>
      </p:sp>
      <p:sp>
        <p:nvSpPr>
          <p:cNvPr id="28" name="Shape 26"/>
          <p:cNvSpPr/>
          <p:nvPr/>
        </p:nvSpPr>
        <p:spPr>
          <a:xfrm>
            <a:off x="762000" y="3556000"/>
            <a:ext cx="63500" cy="1460500"/>
          </a:xfrm>
          <a:prstGeom prst="rect">
            <a:avLst/>
          </a:prstGeom>
          <a:solidFill>
            <a:srgbClr val="5A8A9A"/>
          </a:solidFill>
          <a:ln/>
        </p:spPr>
      </p:sp>
      <p:sp>
        <p:nvSpPr>
          <p:cNvPr id="29" name="Text 27"/>
          <p:cNvSpPr/>
          <p:nvPr/>
        </p:nvSpPr>
        <p:spPr>
          <a:xfrm>
            <a:off x="1016000" y="3632200"/>
            <a:ext cx="444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Masih et al. (2025)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588000" y="3632200"/>
            <a:ext cx="1270000" cy="304800"/>
          </a:xfrm>
          <a:prstGeom prst="roundRect">
            <a:avLst>
              <a:gd name="adj" fmla="val 12000"/>
            </a:avLst>
          </a:prstGeom>
          <a:solidFill>
            <a:srgbClr val="E8F4F0"/>
          </a:solidFill>
          <a:ln/>
        </p:spPr>
      </p:sp>
      <p:sp>
        <p:nvSpPr>
          <p:cNvPr id="31" name="Text 29"/>
          <p:cNvSpPr/>
          <p:nvPr/>
        </p:nvSpPr>
        <p:spPr>
          <a:xfrm>
            <a:off x="5588000" y="36322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5A8A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~89% Acc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16000" y="4038600"/>
            <a:ext cx="6667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is more stable than LIME across runs. Both can expose when a model is </a:t>
            </a: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correct for the wrong reasons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18500" y="3556000"/>
            <a:ext cx="7175500" cy="1460500"/>
          </a:xfrm>
          <a:prstGeom prst="roundRect">
            <a:avLst>
              <a:gd name="adj" fmla="val 6000"/>
            </a:avLst>
          </a:prstGeom>
          <a:solidFill>
            <a:srgbClr val="FDF2E9"/>
          </a:solidFill>
          <a:ln/>
        </p:spPr>
      </p:sp>
      <p:sp>
        <p:nvSpPr>
          <p:cNvPr id="34" name="Shape 32"/>
          <p:cNvSpPr/>
          <p:nvPr/>
        </p:nvSpPr>
        <p:spPr>
          <a:xfrm>
            <a:off x="8318500" y="3556000"/>
            <a:ext cx="63500" cy="1460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5" name="Shape 33"/>
          <p:cNvSpPr/>
          <p:nvPr/>
        </p:nvSpPr>
        <p:spPr>
          <a:xfrm>
            <a:off x="8572500" y="3683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36" name="Text 34"/>
          <p:cNvSpPr/>
          <p:nvPr/>
        </p:nvSpPr>
        <p:spPr>
          <a:xfrm>
            <a:off x="8915400" y="36322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Mohammadi et al. (2025)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72500" y="4038600"/>
            <a:ext cx="6667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Adversarial Paradox: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XAI explanations tell attackers exactly which words to replace. Drops accuracy by </a:t>
            </a: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20–35%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62000" y="5308600"/>
            <a:ext cx="14732000" cy="457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39" name="Text 37"/>
          <p:cNvSpPr/>
          <p:nvPr/>
        </p:nvSpPr>
        <p:spPr>
          <a:xfrm>
            <a:off x="1016000" y="5308600"/>
            <a:ext cx="142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Takeaway:</a:t>
            </a:r>
            <a:r>
              <a:rPr lang="en-US" sz="1500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Higher accuracy comes with adversarial vulnerability — the transparency-robustness trade-off remains unresolved.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jazwc5fmm66m/mnt/agents/output/llm_review/images/6_abstract_wave_flow_line_motion_pattern.png"/>
          <p:cNvPicPr>
            <a:picLocks noChangeAspect="1"/>
          </p:cNvPicPr>
          <p:nvPr/>
        </p:nvPicPr>
        <p:blipFill>
          <a:blip r:embed="rId3"/>
          <a:srcRect l="12639" r="1263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72A">
                  <a:alpha val="20000"/>
                </a:srgbClr>
              </a:gs>
              <a:gs pos="40000">
                <a:srgbClr val="0F172A">
                  <a:alpha val="80000"/>
                </a:srgbClr>
              </a:gs>
              <a:gs pos="100000">
                <a:srgbClr val="0F172A">
                  <a:alpha val="96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3241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6482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723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296400" y="0"/>
            <a:ext cx="2324100" cy="5334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9296400" y="495300"/>
            <a:ext cx="23241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Text 8"/>
          <p:cNvSpPr/>
          <p:nvPr/>
        </p:nvSpPr>
        <p:spPr>
          <a:xfrm>
            <a:off x="92964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6205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FINDINGS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3944600" y="0"/>
            <a:ext cx="2311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16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D4A57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05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16000" y="4318000"/>
            <a:ext cx="7620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6" name="Text 13"/>
          <p:cNvSpPr/>
          <p:nvPr/>
        </p:nvSpPr>
        <p:spPr>
          <a:xfrm>
            <a:off x="1016000" y="457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8F7F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Multi-Label &amp; Generalization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16000" y="5334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8F7F4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Beyond "is it AI?" to "which AI wrote this?"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241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482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723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296400" y="0"/>
            <a:ext cx="2324100" cy="5334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296400" y="495300"/>
            <a:ext cx="23241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92964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6205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FINDINGS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944600" y="0"/>
            <a:ext cx="2311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2000" y="736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E293B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Multi-Label Attribution &amp; Domain Generalization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14224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studies on multi-label attribution and cross-domain detection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1879600"/>
            <a:ext cx="63500" cy="1016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6" name="Shape 14"/>
          <p:cNvSpPr/>
          <p:nvPr/>
        </p:nvSpPr>
        <p:spPr>
          <a:xfrm>
            <a:off x="825500" y="1879600"/>
            <a:ext cx="14668500" cy="1016000"/>
          </a:xfrm>
          <a:prstGeom prst="roundRect">
            <a:avLst>
              <a:gd name="adj" fmla="val 4000"/>
            </a:avLst>
          </a:prstGeom>
          <a:solidFill>
            <a:srgbClr val="F0EEEA"/>
          </a:solidFill>
          <a:ln/>
        </p:spPr>
      </p:sp>
      <p:sp>
        <p:nvSpPr>
          <p:cNvPr id="17" name="Text 15"/>
          <p:cNvSpPr/>
          <p:nvPr/>
        </p:nvSpPr>
        <p:spPr>
          <a:xfrm>
            <a:off x="1041400" y="1930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Adilazuarda et al. (2023)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41400" y="2286000"/>
            <a:ext cx="140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single paradigm wins across all domains. Transformers lead on single-domain; stylometry generalizes more stably cross-domain.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3073400"/>
            <a:ext cx="63500" cy="1016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0" name="Shape 18"/>
          <p:cNvSpPr/>
          <p:nvPr/>
        </p:nvSpPr>
        <p:spPr>
          <a:xfrm>
            <a:off x="825500" y="3073400"/>
            <a:ext cx="14668500" cy="1016000"/>
          </a:xfrm>
          <a:prstGeom prst="roundRect">
            <a:avLst>
              <a:gd name="adj" fmla="val 4000"/>
            </a:avLst>
          </a:prstGeom>
          <a:solidFill>
            <a:srgbClr val="F0EEEA"/>
          </a:solidFill>
          <a:ln/>
        </p:spPr>
      </p:sp>
      <p:sp>
        <p:nvSpPr>
          <p:cNvPr id="21" name="Text 19"/>
          <p:cNvSpPr/>
          <p:nvPr/>
        </p:nvSpPr>
        <p:spPr>
          <a:xfrm>
            <a:off x="1041400" y="31242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Najjar et al. (2025)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41400" y="3479800"/>
            <a:ext cx="140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 profiles create LLM fingerprints. Claude outputs are the hardest to detect — most similar to human writing stylistically.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4267200"/>
            <a:ext cx="63500" cy="1016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4" name="Shape 22"/>
          <p:cNvSpPr/>
          <p:nvPr/>
        </p:nvSpPr>
        <p:spPr>
          <a:xfrm>
            <a:off x="825500" y="4267200"/>
            <a:ext cx="14668500" cy="1016000"/>
          </a:xfrm>
          <a:prstGeom prst="roundRect">
            <a:avLst>
              <a:gd name="adj" fmla="val 4000"/>
            </a:avLst>
          </a:prstGeom>
          <a:solidFill>
            <a:srgbClr val="F0EEEA"/>
          </a:solidFill>
          <a:ln/>
        </p:spPr>
      </p:sp>
      <p:sp>
        <p:nvSpPr>
          <p:cNvPr id="25" name="Text 23"/>
          <p:cNvSpPr/>
          <p:nvPr/>
        </p:nvSpPr>
        <p:spPr>
          <a:xfrm>
            <a:off x="1041400" y="4318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Zahraa et al. (2025)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41400" y="4673600"/>
            <a:ext cx="140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Multi-label pipeline: SHAP distinguishes GPT-4 vs. Llama by syntactic complexity and hedging frequency.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5461000"/>
            <a:ext cx="63500" cy="1016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8" name="Shape 26"/>
          <p:cNvSpPr/>
          <p:nvPr/>
        </p:nvSpPr>
        <p:spPr>
          <a:xfrm>
            <a:off x="825500" y="5461000"/>
            <a:ext cx="14668500" cy="1016000"/>
          </a:xfrm>
          <a:prstGeom prst="roundRect">
            <a:avLst>
              <a:gd name="adj" fmla="val 4000"/>
            </a:avLst>
          </a:prstGeom>
          <a:solidFill>
            <a:srgbClr val="F0EEEA"/>
          </a:solidFill>
          <a:ln/>
        </p:spPr>
      </p:sp>
      <p:sp>
        <p:nvSpPr>
          <p:cNvPr id="29" name="Text 27"/>
          <p:cNvSpPr/>
          <p:nvPr/>
        </p:nvSpPr>
        <p:spPr>
          <a:xfrm>
            <a:off x="1041400" y="55118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Baharifar et al. (2025)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41400" y="5867400"/>
            <a:ext cx="140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domain: AI misinformation detected by overconfident assertions and missing hedging ("may", "suggests").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6654800"/>
            <a:ext cx="63500" cy="1016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2" name="Shape 30"/>
          <p:cNvSpPr/>
          <p:nvPr/>
        </p:nvSpPr>
        <p:spPr>
          <a:xfrm>
            <a:off x="825500" y="6654800"/>
            <a:ext cx="14668500" cy="1016000"/>
          </a:xfrm>
          <a:prstGeom prst="roundRect">
            <a:avLst>
              <a:gd name="adj" fmla="val 4000"/>
            </a:avLst>
          </a:prstGeom>
          <a:solidFill>
            <a:srgbClr val="F0EEEA"/>
          </a:solidFill>
          <a:ln/>
        </p:spPr>
      </p:sp>
      <p:sp>
        <p:nvSpPr>
          <p:cNvPr id="33" name="Text 31"/>
          <p:cNvSpPr/>
          <p:nvPr/>
        </p:nvSpPr>
        <p:spPr>
          <a:xfrm>
            <a:off x="1041400" y="6705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Iqbal &amp; Kashem (2025)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41400" y="7061200"/>
            <a:ext cx="140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ensemble framework — cheaper than transformers, suitable for resource-limited institutions.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241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482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723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964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620500" y="0"/>
            <a:ext cx="2324100" cy="5334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20500" y="495300"/>
            <a:ext cx="23241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0" name="Text 8"/>
          <p:cNvSpPr/>
          <p:nvPr/>
        </p:nvSpPr>
        <p:spPr>
          <a:xfrm>
            <a:off x="116205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FINDINGS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944600" y="0"/>
            <a:ext cx="2311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2000" y="736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E293B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Key Finding — What Makes LLM Text Detectable?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1422400"/>
            <a:ext cx="1143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LIME and SHAP agree on these 7 features across ALL 12 studies and ALL 3 paradigms: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79600"/>
          <a:ext cx="14732000" cy="5080000"/>
        </p:xfrm>
        <a:graphic>
          <a:graphicData uri="http://schemas.openxmlformats.org/drawingml/2006/table">
            <a:tbl>
              <a:tblPr/>
              <a:tblGrid>
                <a:gridCol w="412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8F7F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8F7F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What It Means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8F7F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Paradigm Found In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D4A57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Grammatical standardization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LLMs are too grammatically perfect — humans make natural errors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D4A57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#1 — ALL 3 paradigms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Formulaic transitional phrases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LLMs overuse "Furthermore", "In conclusion", "It is worth noting"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Stylometric + Transformer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Low lexical entropy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LLM vocabulary is very predictable — stays in safe common words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Stylometric + Ensemble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Superlatives &amp; assertive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LLMs say "exceptional", "outstanding" — humans say "pretty good"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Transformer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Absence of epistemic hedging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LLMs skip "may", "suggests" — sound too certain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Multi-label + Domain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POS tag anomalies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LLMs overuse adjective-noun pairs and passive voice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Stylometric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Discourse over-smoothing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LLM essays are too smooth, too well-organized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Transformer + Multi-label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Shape 13"/>
          <p:cNvSpPr/>
          <p:nvPr/>
        </p:nvSpPr>
        <p:spPr>
          <a:xfrm>
            <a:off x="762000" y="7213600"/>
            <a:ext cx="14732000" cy="457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17" name="Text 14"/>
          <p:cNvSpPr/>
          <p:nvPr/>
        </p:nvSpPr>
        <p:spPr>
          <a:xfrm>
            <a:off x="1016000" y="7213600"/>
            <a:ext cx="142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Convergent Validity:</a:t>
            </a:r>
            <a:r>
              <a:rPr lang="en-US" sz="1500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These 7 features are genuine, stable properties of AI-generated prose — confirmed across all paradigms.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241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482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723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964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620500" y="0"/>
            <a:ext cx="2324100" cy="5334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20500" y="495300"/>
            <a:ext cx="23241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0" name="Text 8"/>
          <p:cNvSpPr/>
          <p:nvPr/>
        </p:nvSpPr>
        <p:spPr>
          <a:xfrm>
            <a:off x="116205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FINDINGS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944600" y="0"/>
            <a:ext cx="2311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2000" y="736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E293B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5 Research Gaps — What Still Needs to be Solved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1524000"/>
            <a:ext cx="508000" cy="5080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1524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8F7F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22400" y="15240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Adversarial Robustness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422400" y="1930400"/>
            <a:ext cx="1143000" cy="254000"/>
          </a:xfrm>
          <a:prstGeom prst="roundRect">
            <a:avLst>
              <a:gd name="adj" fmla="val 12000"/>
            </a:avLst>
          </a:prstGeom>
          <a:solidFill>
            <a:srgbClr val="F5E0E0"/>
          </a:solidFill>
          <a:ln/>
        </p:spPr>
      </p:sp>
      <p:sp>
        <p:nvSpPr>
          <p:cNvPr id="18" name="Text 16"/>
          <p:cNvSpPr/>
          <p:nvPr/>
        </p:nvSpPr>
        <p:spPr>
          <a:xfrm>
            <a:off x="1422400" y="1930400"/>
            <a:ext cx="114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2286000"/>
            <a:ext cx="711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XAI-guided token replacement drops accuracy by 20–35%. No system is simultaneously interpretable AND robust.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2000" y="1524000"/>
            <a:ext cx="508000" cy="508000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8382000" y="1524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8F7F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42400" y="152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Standardized XAI Evaluation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042400" y="1930400"/>
            <a:ext cx="889000" cy="254000"/>
          </a:xfrm>
          <a:prstGeom prst="roundRect">
            <a:avLst>
              <a:gd name="adj" fmla="val 12000"/>
            </a:avLst>
          </a:prstGeom>
          <a:solidFill>
            <a:srgbClr val="FDEBD0"/>
          </a:solidFill>
          <a:ln/>
        </p:spPr>
      </p:sp>
      <p:sp>
        <p:nvSpPr>
          <p:cNvPr id="24" name="Text 22"/>
          <p:cNvSpPr/>
          <p:nvPr/>
        </p:nvSpPr>
        <p:spPr>
          <a:xfrm>
            <a:off x="9042400" y="19304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82000" y="2286000"/>
            <a:ext cx="711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benchmark to measure if an explanation is faithful, stable, or actually helpful. "Explainable" is still qualitative.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3276600"/>
            <a:ext cx="508000" cy="508000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/>
        </p:spPr>
      </p:sp>
      <p:sp>
        <p:nvSpPr>
          <p:cNvPr id="27" name="Text 25"/>
          <p:cNvSpPr/>
          <p:nvPr/>
        </p:nvSpPr>
        <p:spPr>
          <a:xfrm>
            <a:off x="762000" y="32766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8F7F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22400" y="3276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Fairness for Non-Native Writers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422400" y="3683000"/>
            <a:ext cx="889000" cy="254000"/>
          </a:xfrm>
          <a:prstGeom prst="roundRect">
            <a:avLst>
              <a:gd name="adj" fmla="val 12000"/>
            </a:avLst>
          </a:prstGeom>
          <a:solidFill>
            <a:srgbClr val="FDEBD0"/>
          </a:solidFill>
          <a:ln/>
        </p:spPr>
      </p:sp>
      <p:sp>
        <p:nvSpPr>
          <p:cNvPr id="30" name="Text 28"/>
          <p:cNvSpPr/>
          <p:nvPr/>
        </p:nvSpPr>
        <p:spPr>
          <a:xfrm>
            <a:off x="1422400" y="36830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4038600"/>
            <a:ext cx="711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Grammatical regularity also characterizes non-native speakers. These writers may be falsely flagged as AI. Untested.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82000" y="3276600"/>
            <a:ext cx="508000" cy="508000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/>
        </p:spPr>
      </p:sp>
      <p:sp>
        <p:nvSpPr>
          <p:cNvPr id="33" name="Text 31"/>
          <p:cNvSpPr/>
          <p:nvPr/>
        </p:nvSpPr>
        <p:spPr>
          <a:xfrm>
            <a:off x="8382000" y="32766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8F7F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42400" y="3276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Cross-Domain Generalization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042400" y="3683000"/>
            <a:ext cx="889000" cy="254000"/>
          </a:xfrm>
          <a:prstGeom prst="roundRect">
            <a:avLst>
              <a:gd name="adj" fmla="val 12000"/>
            </a:avLst>
          </a:prstGeom>
          <a:solidFill>
            <a:srgbClr val="FDEBD0"/>
          </a:solidFill>
          <a:ln/>
        </p:spPr>
      </p:sp>
      <p:sp>
        <p:nvSpPr>
          <p:cNvPr id="36" name="Text 34"/>
          <p:cNvSpPr/>
          <p:nvPr/>
        </p:nvSpPr>
        <p:spPr>
          <a:xfrm>
            <a:off x="9042400" y="36830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82000" y="4038600"/>
            <a:ext cx="711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entire legal domain is unstudied. Detection trained on web text fails on medical/legal writing.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62000" y="5029200"/>
            <a:ext cx="508000" cy="508000"/>
          </a:xfrm>
          <a:prstGeom prst="roundRect">
            <a:avLst>
              <a:gd name="adj" fmla="val 10000"/>
            </a:avLst>
          </a:prstGeom>
          <a:solidFill>
            <a:srgbClr val="5A8A9A"/>
          </a:solidFill>
          <a:ln/>
        </p:spPr>
      </p:sp>
      <p:sp>
        <p:nvSpPr>
          <p:cNvPr id="39" name="Text 37"/>
          <p:cNvSpPr/>
          <p:nvPr/>
        </p:nvSpPr>
        <p:spPr>
          <a:xfrm>
            <a:off x="762000" y="50292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8F7F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422400" y="50292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Multilingual Detection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422400" y="5435600"/>
            <a:ext cx="1270000" cy="254000"/>
          </a:xfrm>
          <a:prstGeom prst="roundRect">
            <a:avLst>
              <a:gd name="adj" fmla="val 12000"/>
            </a:avLst>
          </a:prstGeom>
          <a:solidFill>
            <a:srgbClr val="E0EBED"/>
          </a:solidFill>
          <a:ln/>
        </p:spPr>
      </p:sp>
      <p:sp>
        <p:nvSpPr>
          <p:cNvPr id="42" name="Text 40"/>
          <p:cNvSpPr/>
          <p:nvPr/>
        </p:nvSpPr>
        <p:spPr>
          <a:xfrm>
            <a:off x="1422400" y="54356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5A8A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62000" y="5791200"/>
            <a:ext cx="711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12 studies are in English only. No study applies LIME or SHAP to Arabic, Urdu, Chinese, or other languages.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241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482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723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964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620500" y="0"/>
            <a:ext cx="23241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FINDINGS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944600" y="0"/>
            <a:ext cx="2311400" cy="5334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944600" y="495300"/>
            <a:ext cx="23114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Text 9"/>
          <p:cNvSpPr/>
          <p:nvPr/>
        </p:nvSpPr>
        <p:spPr>
          <a:xfrm>
            <a:off x="13944600" y="0"/>
            <a:ext cx="2311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50" dirty="0">
                <a:solidFill>
                  <a:srgbClr val="F8F7F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2000" y="736600"/>
            <a:ext cx="508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E293B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1524000"/>
            <a:ext cx="7175500" cy="279400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1524000"/>
            <a:ext cx="63500" cy="2794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1400" y="167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1473200" y="1651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 Positive Finding — Convergent Validity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41400" y="2133600"/>
            <a:ext cx="6667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LIME and SHAP consistently identify the same </a:t>
            </a: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markers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LLM text across all architectures: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Grammatical standardization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Formulaic transitions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Low lexical entropy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Suppressed epistemic hedging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18500" y="1524000"/>
            <a:ext cx="7175500" cy="2794000"/>
          </a:xfrm>
          <a:prstGeom prst="roundRect">
            <a:avLst>
              <a:gd name="adj" fmla="val 6000"/>
            </a:avLst>
          </a:prstGeom>
          <a:solidFill>
            <a:srgbClr val="FDF2E9"/>
          </a:solidFill>
          <a:ln/>
        </p:spPr>
      </p:sp>
      <p:sp>
        <p:nvSpPr>
          <p:cNvPr id="20" name="Shape 18"/>
          <p:cNvSpPr/>
          <p:nvPr/>
        </p:nvSpPr>
        <p:spPr>
          <a:xfrm>
            <a:off x="8318500" y="1524000"/>
            <a:ext cx="63500" cy="2794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Shape 19"/>
          <p:cNvSpPr/>
          <p:nvPr/>
        </p:nvSpPr>
        <p:spPr>
          <a:xfrm>
            <a:off x="8597900" y="167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99417" y="99417"/>
                </a:moveTo>
                <a:cubicBezTo>
                  <a:pt x="105013" y="93821"/>
                  <a:pt x="114062" y="93821"/>
                  <a:pt x="119598" y="99417"/>
                </a:cubicBezTo>
                <a:lnTo>
                  <a:pt x="152340" y="132159"/>
                </a:lnTo>
                <a:lnTo>
                  <a:pt x="185083" y="99417"/>
                </a:lnTo>
                <a:cubicBezTo>
                  <a:pt x="190679" y="93821"/>
                  <a:pt x="199727" y="93821"/>
                  <a:pt x="205264" y="99417"/>
                </a:cubicBezTo>
                <a:cubicBezTo>
                  <a:pt x="210800" y="105013"/>
                  <a:pt x="210860" y="114062"/>
                  <a:pt x="205264" y="119598"/>
                </a:cubicBezTo>
                <a:lnTo>
                  <a:pt x="172522" y="152340"/>
                </a:lnTo>
                <a:lnTo>
                  <a:pt x="205264" y="185083"/>
                </a:lnTo>
                <a:cubicBezTo>
                  <a:pt x="210860" y="190679"/>
                  <a:pt x="210860" y="199727"/>
                  <a:pt x="205264" y="205264"/>
                </a:cubicBezTo>
                <a:cubicBezTo>
                  <a:pt x="199668" y="210800"/>
                  <a:pt x="190619" y="210860"/>
                  <a:pt x="185083" y="205264"/>
                </a:cubicBezTo>
                <a:lnTo>
                  <a:pt x="152340" y="172522"/>
                </a:lnTo>
                <a:lnTo>
                  <a:pt x="119598" y="205264"/>
                </a:lnTo>
                <a:cubicBezTo>
                  <a:pt x="114002" y="210860"/>
                  <a:pt x="104954" y="210860"/>
                  <a:pt x="99417" y="205264"/>
                </a:cubicBezTo>
                <a:cubicBezTo>
                  <a:pt x="93881" y="199668"/>
                  <a:pt x="93821" y="190619"/>
                  <a:pt x="99417" y="185083"/>
                </a:cubicBezTo>
                <a:lnTo>
                  <a:pt x="132159" y="152340"/>
                </a:lnTo>
                <a:lnTo>
                  <a:pt x="99417" y="119598"/>
                </a:lnTo>
                <a:cubicBezTo>
                  <a:pt x="93821" y="114002"/>
                  <a:pt x="93821" y="104954"/>
                  <a:pt x="99417" y="99417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9029700" y="1651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 Critical Finding — Transparency ≠ Robustness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97900" y="2133600"/>
            <a:ext cx="6667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adversarial paradox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unresolved. Most domain-by-LLM combinations are unstudied.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Fairness for non-native writers is </a:t>
            </a: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unaddressed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No current system is simultaneously interpretable and adversarially robust.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4445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IMPLICATIONS FOR INSTITUTIONS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4851400"/>
            <a:ext cx="7175500" cy="50800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4851400"/>
            <a:ext cx="63500" cy="508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7" name="Text 25"/>
          <p:cNvSpPr/>
          <p:nvPr/>
        </p:nvSpPr>
        <p:spPr>
          <a:xfrm>
            <a:off x="1041400" y="48514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 alone is not enough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explain the decision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18500" y="4851400"/>
            <a:ext cx="7175500" cy="50800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/>
        </p:spPr>
      </p:sp>
      <p:sp>
        <p:nvSpPr>
          <p:cNvPr id="29" name="Shape 27"/>
          <p:cNvSpPr/>
          <p:nvPr/>
        </p:nvSpPr>
        <p:spPr>
          <a:xfrm>
            <a:off x="8318500" y="4851400"/>
            <a:ext cx="63500" cy="508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0" name="Text 28"/>
          <p:cNvSpPr/>
          <p:nvPr/>
        </p:nvSpPr>
        <p:spPr>
          <a:xfrm>
            <a:off x="8597900" y="48514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 explanation quality with </a:t>
            </a: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standardized benchmarks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5486400"/>
            <a:ext cx="7175500" cy="50800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/>
        </p:spPr>
      </p:sp>
      <p:sp>
        <p:nvSpPr>
          <p:cNvPr id="32" name="Shape 30"/>
          <p:cNvSpPr/>
          <p:nvPr/>
        </p:nvSpPr>
        <p:spPr>
          <a:xfrm>
            <a:off x="762000" y="5486400"/>
            <a:ext cx="63500" cy="508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3" name="Text 31"/>
          <p:cNvSpPr/>
          <p:nvPr/>
        </p:nvSpPr>
        <p:spPr>
          <a:xfrm>
            <a:off x="1041400" y="54864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on </a:t>
            </a: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non-native writers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just native English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18500" y="5486400"/>
            <a:ext cx="7175500" cy="50800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/>
        </p:spPr>
      </p:sp>
      <p:sp>
        <p:nvSpPr>
          <p:cNvPr id="35" name="Shape 33"/>
          <p:cNvSpPr/>
          <p:nvPr/>
        </p:nvSpPr>
        <p:spPr>
          <a:xfrm>
            <a:off x="8318500" y="5486400"/>
            <a:ext cx="63500" cy="508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6" name="Text 34"/>
          <p:cNvSpPr/>
          <p:nvPr/>
        </p:nvSpPr>
        <p:spPr>
          <a:xfrm>
            <a:off x="8597900" y="54864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Pursue </a:t>
            </a: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adversarial robustness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together with interpretability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jazwc5fmm66m/mnt/agents/output/llm_review/images/4_Abstract_Blue_Technology_Wave_Background.png"/>
          <p:cNvPicPr>
            <a:picLocks noChangeAspect="1"/>
          </p:cNvPicPr>
          <p:nvPr/>
        </p:nvPicPr>
        <p:blipFill>
          <a:blip r:embed="rId3"/>
          <a:srcRect l="195" r="19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72A">
                  <a:alpha val="94000"/>
                </a:srgbClr>
              </a:gs>
              <a:gs pos="50000">
                <a:srgbClr val="0F172A">
                  <a:alpha val="87000"/>
                </a:srgbClr>
              </a:gs>
              <a:gs pos="100000">
                <a:srgbClr val="0F172A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2032000"/>
            <a:ext cx="1625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b="1" dirty="0">
                <a:solidFill>
                  <a:srgbClr val="F8F7F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175500" y="3048000"/>
            <a:ext cx="19050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Text 3"/>
          <p:cNvSpPr/>
          <p:nvPr/>
        </p:nvSpPr>
        <p:spPr>
          <a:xfrm>
            <a:off x="0" y="3276600"/>
            <a:ext cx="162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4064000"/>
            <a:ext cx="1625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70000"/>
              </a:lnSpc>
            </a:pPr>
            <a:r>
              <a:rPr lang="en-US" sz="1500" b="1" dirty="0">
                <a:solidFill>
                  <a:srgbClr val="F8F7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Jawwad Ahmad</a:t>
            </a:r>
            <a:r>
              <a:rPr lang="en-US" sz="1500" dirty="0">
                <a:solidFill>
                  <a:srgbClr val="F8F7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F25NDOCS3W04013 | MSCS 2nd Semester</a:t>
            </a:r>
            <a:endParaRPr lang="en-US" sz="1600" dirty="0"/>
          </a:p>
          <a:p>
            <a:pPr algn="ctr">
              <a:lnSpc>
                <a:spcPct val="170000"/>
              </a:lnSpc>
            </a:pPr>
            <a:r>
              <a:rPr lang="en-US" sz="1500" dirty="0">
                <a:solidFill>
                  <a:srgbClr val="F8F7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Islamia University of Bahawalpur | Supervisor: Dr. Ahmad Niaz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540000" y="5461000"/>
            <a:ext cx="2286000" cy="1397000"/>
          </a:xfrm>
          <a:prstGeom prst="roundRect">
            <a:avLst>
              <a:gd name="adj" fmla="val 8000"/>
            </a:avLst>
          </a:prstGeom>
          <a:solidFill>
            <a:srgbClr val="FFFFFF">
              <a:alpha val="7059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2540000" y="5588000"/>
            <a:ext cx="228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D4A57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12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540000" y="63246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8F7F4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Studies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270500" y="5461000"/>
            <a:ext cx="2286000" cy="1397000"/>
          </a:xfrm>
          <a:prstGeom prst="roundRect">
            <a:avLst>
              <a:gd name="adj" fmla="val 8000"/>
            </a:avLst>
          </a:prstGeom>
          <a:solidFill>
            <a:srgbClr val="FFFFFF">
              <a:alpha val="7059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5270500" y="5588000"/>
            <a:ext cx="228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D4A57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70500" y="63246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8F7F4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Themes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001000" y="5461000"/>
            <a:ext cx="2286000" cy="1397000"/>
          </a:xfrm>
          <a:prstGeom prst="roundRect">
            <a:avLst>
              <a:gd name="adj" fmla="val 8000"/>
            </a:avLst>
          </a:prstGeom>
          <a:solidFill>
            <a:srgbClr val="FFFFFF">
              <a:alpha val="7059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8001000" y="5588000"/>
            <a:ext cx="228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D4A57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01000" y="63246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8F7F4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Gaps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731500" y="5461000"/>
            <a:ext cx="2286000" cy="1397000"/>
          </a:xfrm>
          <a:prstGeom prst="roundRect">
            <a:avLst>
              <a:gd name="adj" fmla="val 8000"/>
            </a:avLst>
          </a:prstGeom>
          <a:solidFill>
            <a:srgbClr val="FFFFFF">
              <a:alpha val="7059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0731500" y="5588000"/>
            <a:ext cx="228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D4A57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731500" y="63246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8F7F4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 Methods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solidFill>
            <a:srgbClr val="D4A574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1802</Words>
  <Application>Microsoft Office PowerPoint</Application>
  <PresentationFormat>Custom</PresentationFormat>
  <Paragraphs>357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Unna</vt:lpstr>
      <vt:lpstr>Arial</vt:lpstr>
      <vt:lpstr>Quattrocento Sans</vt:lpstr>
      <vt:lpstr>QuattrocentoSans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Identification of Human vs. LLM-Generated Text</dc:title>
  <dc:subject>Explainable Identification of Human vs. LLM-Generated Text</dc:subject>
  <dc:creator>Kimi</dc:creator>
  <cp:lastModifiedBy>Jawwad Ahmad</cp:lastModifiedBy>
  <cp:revision>6</cp:revision>
  <dcterms:created xsi:type="dcterms:W3CDTF">2026-04-23T16:38:44Z</dcterms:created>
  <dcterms:modified xsi:type="dcterms:W3CDTF">2026-04-26T10:31:49Z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{"Label":"Explainable Identification of Human vs. LLM-Generated Text","ContentProducer":"001191110108MACG2KBH8F10000","ProduceID":"19db96aa-0282-8ebe-8000-00003d155d1d","ReservedCode1":"","ContentPropagator":"001191110108MACG2KBH8F20000","PropagateID":"19db96aa-0282-8ebe-8000-00003d155d1d","ReservedCode2":""}</vt:lpwstr>
  </property>
</Properties>
</file>