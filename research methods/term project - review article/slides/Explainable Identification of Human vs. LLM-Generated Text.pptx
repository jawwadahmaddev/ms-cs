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6256000" cy="9144000"/>
  <p:notesSz cx="9144000" cy="16256000"/>
  <p:embeddedFontLst>
    <p:embeddedFont>
      <p:font typeface="Quattrocento Sans" panose="020B0502050000020003" pitchFamily="34" charset="0"/>
      <p:regular r:id="rId21"/>
    </p:embeddedFont>
    <p:embeddedFont>
      <p:font typeface="Unna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4" d="100"/>
          <a:sy n="64" d="100"/>
        </p:scale>
        <p:origin x="58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9739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yjazwc5fmm66m/mnt/agents/output/llm_review/images/4_Abstract_Blue_Technology_Wave_Background.png"/>
          <p:cNvPicPr>
            <a:picLocks noChangeAspect="1"/>
          </p:cNvPicPr>
          <p:nvPr/>
        </p:nvPicPr>
        <p:blipFill>
          <a:blip r:embed="rId3"/>
          <a:srcRect l="195" r="195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F172A">
                  <a:alpha val="94000"/>
                </a:srgbClr>
              </a:gs>
              <a:gs pos="55000">
                <a:srgbClr val="0F172A">
                  <a:alpha val="80000"/>
                </a:srgbClr>
              </a:gs>
              <a:gs pos="100000">
                <a:srgbClr val="0F172A">
                  <a:alpha val="40000"/>
                </a:srgbClr>
              </a:gs>
            </a:gsLst>
            <a:lin ang="0" scaled="1"/>
          </a:gra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016000" y="2476500"/>
            <a:ext cx="1016000" cy="508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5" name="Text 2"/>
          <p:cNvSpPr/>
          <p:nvPr/>
        </p:nvSpPr>
        <p:spPr>
          <a:xfrm>
            <a:off x="1016000" y="2730500"/>
            <a:ext cx="889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kern="0" spc="3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EXPLAINABLE IDENTIFICATION OF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1016000" y="3238500"/>
            <a:ext cx="11544968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6600" b="1" dirty="0">
                <a:solidFill>
                  <a:srgbClr val="F8F7F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Human vs. LLM-Generated Text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1016000" y="4762500"/>
            <a:ext cx="635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dirty="0">
                <a:solidFill>
                  <a:srgbClr val="F8F7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 Systematic Review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1016000" y="5397500"/>
            <a:ext cx="2540000" cy="254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9" name="Text 6"/>
          <p:cNvSpPr/>
          <p:nvPr/>
        </p:nvSpPr>
        <p:spPr>
          <a:xfrm>
            <a:off x="1016000" y="5715000"/>
            <a:ext cx="825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70000"/>
              </a:lnSpc>
            </a:pPr>
            <a:r>
              <a:rPr lang="en-US" b="1" dirty="0">
                <a:solidFill>
                  <a:srgbClr val="F8F7F4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Jawwad Ahmad</a:t>
            </a:r>
            <a:r>
              <a:rPr lang="en-US" dirty="0">
                <a:solidFill>
                  <a:srgbClr val="F8F7F4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| F25NDOCS3W04013 | MSCS 2nd Semester</a:t>
            </a:r>
            <a:endParaRPr lang="en-US" sz="2000" dirty="0"/>
          </a:p>
          <a:p>
            <a:pPr>
              <a:lnSpc>
                <a:spcPct val="170000"/>
              </a:lnSpc>
            </a:pPr>
            <a:r>
              <a:rPr lang="en-US" dirty="0">
                <a:solidFill>
                  <a:srgbClr val="F8F7F4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Supervisor: Dr. Ahmad Niaz — The Islamia University of Bahawalpur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0" y="9017000"/>
            <a:ext cx="16256000" cy="127000"/>
          </a:xfrm>
          <a:prstGeom prst="rect">
            <a:avLst/>
          </a:prstGeom>
          <a:solidFill>
            <a:srgbClr val="D4A574"/>
          </a:solidFill>
          <a:ln/>
        </p:spPr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08000"/>
            <a:ext cx="381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kern="0" spc="3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PRESENTATION OVERVIEW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62000" y="825500"/>
            <a:ext cx="5080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1E293B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Contents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62000" y="1498600"/>
            <a:ext cx="10160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1905000"/>
            <a:ext cx="4699000" cy="1460500"/>
          </a:xfrm>
          <a:prstGeom prst="roundRect">
            <a:avLst>
              <a:gd name="adj" fmla="val 8000"/>
            </a:avLst>
          </a:prstGeom>
          <a:solidFill>
            <a:srgbClr val="F0EEEA"/>
          </a:solidFill>
          <a:ln/>
        </p:spPr>
      </p:sp>
      <p:sp>
        <p:nvSpPr>
          <p:cNvPr id="6" name="Text 4"/>
          <p:cNvSpPr/>
          <p:nvPr/>
        </p:nvSpPr>
        <p:spPr>
          <a:xfrm>
            <a:off x="1016000" y="20320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D4A57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778000" y="2095500"/>
            <a:ext cx="3429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Background &amp; Problem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78000" y="2476500"/>
            <a:ext cx="3429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LLMs, XAI methods, and why AI text detection matters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78500" y="1905000"/>
            <a:ext cx="4699000" cy="1460500"/>
          </a:xfrm>
          <a:prstGeom prst="roundRect">
            <a:avLst>
              <a:gd name="adj" fmla="val 8000"/>
            </a:avLst>
          </a:prstGeom>
          <a:solidFill>
            <a:srgbClr val="F0EEEA"/>
          </a:solidFill>
          <a:ln/>
        </p:spPr>
      </p:sp>
      <p:sp>
        <p:nvSpPr>
          <p:cNvPr id="10" name="Text 8"/>
          <p:cNvSpPr/>
          <p:nvPr/>
        </p:nvSpPr>
        <p:spPr>
          <a:xfrm>
            <a:off x="6032500" y="20320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D4A57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94500" y="2095500"/>
            <a:ext cx="3429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Methodology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794500" y="2476500"/>
            <a:ext cx="3429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PRISMA systematic review and study selection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0795000" y="1905000"/>
            <a:ext cx="4699000" cy="1460500"/>
          </a:xfrm>
          <a:prstGeom prst="roundRect">
            <a:avLst>
              <a:gd name="adj" fmla="val 8000"/>
            </a:avLst>
          </a:prstGeom>
          <a:solidFill>
            <a:srgbClr val="F0EEEA"/>
          </a:solidFill>
          <a:ln/>
        </p:spPr>
      </p:sp>
      <p:sp>
        <p:nvSpPr>
          <p:cNvPr id="14" name="Text 12"/>
          <p:cNvSpPr/>
          <p:nvPr/>
        </p:nvSpPr>
        <p:spPr>
          <a:xfrm>
            <a:off x="11049000" y="20320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D4A57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11000" y="2095500"/>
            <a:ext cx="3429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Stylometric &amp; Classical ML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11000" y="2476500"/>
            <a:ext cx="3429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Handcrafted features and classical classifiers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62000" y="3683000"/>
            <a:ext cx="4699000" cy="1460500"/>
          </a:xfrm>
          <a:prstGeom prst="roundRect">
            <a:avLst>
              <a:gd name="adj" fmla="val 8000"/>
            </a:avLst>
          </a:prstGeom>
          <a:solidFill>
            <a:srgbClr val="F0EEEA"/>
          </a:solidFill>
          <a:ln/>
        </p:spPr>
      </p:sp>
      <p:sp>
        <p:nvSpPr>
          <p:cNvPr id="18" name="Text 16"/>
          <p:cNvSpPr/>
          <p:nvPr/>
        </p:nvSpPr>
        <p:spPr>
          <a:xfrm>
            <a:off x="1016000" y="38100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D4A57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778000" y="3873500"/>
            <a:ext cx="3429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Transformer-Based Detection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778000" y="4254500"/>
            <a:ext cx="3429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Fine-tuned transformers and adversarial risks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778500" y="3683000"/>
            <a:ext cx="4699000" cy="1460500"/>
          </a:xfrm>
          <a:prstGeom prst="roundRect">
            <a:avLst>
              <a:gd name="adj" fmla="val 8000"/>
            </a:avLst>
          </a:prstGeom>
          <a:solidFill>
            <a:srgbClr val="F0EEEA"/>
          </a:solidFill>
          <a:ln/>
        </p:spPr>
      </p:sp>
      <p:sp>
        <p:nvSpPr>
          <p:cNvPr id="22" name="Text 20"/>
          <p:cNvSpPr/>
          <p:nvPr/>
        </p:nvSpPr>
        <p:spPr>
          <a:xfrm>
            <a:off x="6032500" y="38100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D4A57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794500" y="3873500"/>
            <a:ext cx="3429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Multi-Label &amp; Generalization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794500" y="4254500"/>
            <a:ext cx="3429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Attribution across domains and LLM fingerprinting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0795000" y="3683000"/>
            <a:ext cx="4699000" cy="1460500"/>
          </a:xfrm>
          <a:prstGeom prst="roundRect">
            <a:avLst>
              <a:gd name="adj" fmla="val 8000"/>
            </a:avLst>
          </a:prstGeom>
          <a:solidFill>
            <a:srgbClr val="F0EEEA"/>
          </a:solidFill>
          <a:ln/>
        </p:spPr>
      </p:sp>
      <p:sp>
        <p:nvSpPr>
          <p:cNvPr id="26" name="Text 24"/>
          <p:cNvSpPr/>
          <p:nvPr/>
        </p:nvSpPr>
        <p:spPr>
          <a:xfrm>
            <a:off x="11049000" y="38100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D4A57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06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1811000" y="3873500"/>
            <a:ext cx="3429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Findings &amp; Gaps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811000" y="4254500"/>
            <a:ext cx="3429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Detectable features and unresolved challenges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62000" y="5461000"/>
            <a:ext cx="4699000" cy="1460500"/>
          </a:xfrm>
          <a:prstGeom prst="roundRect">
            <a:avLst>
              <a:gd name="adj" fmla="val 8000"/>
            </a:avLst>
          </a:prstGeom>
          <a:solidFill>
            <a:srgbClr val="F0EEEA"/>
          </a:solidFill>
          <a:ln/>
        </p:spPr>
      </p:sp>
      <p:sp>
        <p:nvSpPr>
          <p:cNvPr id="30" name="Text 28"/>
          <p:cNvSpPr/>
          <p:nvPr/>
        </p:nvSpPr>
        <p:spPr>
          <a:xfrm>
            <a:off x="1016000" y="55880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D4A57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07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778000" y="5651500"/>
            <a:ext cx="3429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778000" y="6032500"/>
            <a:ext cx="3429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Summary, implications, and future directions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0" y="9017000"/>
            <a:ext cx="16256000" cy="127000"/>
          </a:xfrm>
          <a:prstGeom prst="rect">
            <a:avLst/>
          </a:prstGeom>
          <a:solidFill>
            <a:srgbClr val="1E293B"/>
          </a:solidFill>
          <a:ln/>
        </p:spPr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yjazwc5fmm66m/mnt/agents/output/llm_review/images/6_abstract_wave_flow_line_motion_pattern.png"/>
          <p:cNvPicPr>
            <a:picLocks noChangeAspect="1"/>
          </p:cNvPicPr>
          <p:nvPr/>
        </p:nvPicPr>
        <p:blipFill>
          <a:blip r:embed="rId3"/>
          <a:srcRect l="12639" r="12639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F172A">
                  <a:alpha val="20000"/>
                </a:srgbClr>
              </a:gs>
              <a:gs pos="40000">
                <a:srgbClr val="0F172A">
                  <a:alpha val="80000"/>
                </a:srgbClr>
              </a:gs>
              <a:gs pos="100000">
                <a:srgbClr val="0F172A">
                  <a:alpha val="96000"/>
                </a:srgbClr>
              </a:gs>
            </a:gsLst>
            <a:lin ang="5400000" scaled="1"/>
          </a:gra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6256000" cy="533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0"/>
            <a:ext cx="2324100" cy="533400"/>
          </a:xfrm>
          <a:prstGeom prst="rect">
            <a:avLst/>
          </a:prstGeom>
          <a:solidFill>
            <a:srgbClr val="FFFFFF">
              <a:alpha val="8235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0" y="495300"/>
            <a:ext cx="23241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7" name="Text 4"/>
          <p:cNvSpPr/>
          <p:nvPr/>
        </p:nvSpPr>
        <p:spPr>
          <a:xfrm>
            <a:off x="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3241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6482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9723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2964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3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6205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3944600" y="0"/>
            <a:ext cx="23114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016000" y="3175000"/>
            <a:ext cx="254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6400" b="1" dirty="0">
                <a:solidFill>
                  <a:srgbClr val="D4A57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01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1016000" y="4318000"/>
            <a:ext cx="7620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6" name="Text 13"/>
          <p:cNvSpPr/>
          <p:nvPr/>
        </p:nvSpPr>
        <p:spPr>
          <a:xfrm>
            <a:off x="1016000" y="4572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F8F7F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Background &amp; Problem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016000" y="5334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F8F7F4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Understanding LLMs, XAI methods, and why AI text detection matters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33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324100" cy="533400"/>
          </a:xfrm>
          <a:prstGeom prst="rect">
            <a:avLst/>
          </a:prstGeom>
          <a:solidFill>
            <a:srgbClr val="FFFFFF">
              <a:alpha val="8235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95300"/>
            <a:ext cx="23241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5" name="Text 3"/>
          <p:cNvSpPr/>
          <p:nvPr/>
        </p:nvSpPr>
        <p:spPr>
          <a:xfrm>
            <a:off x="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3241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482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9723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2964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6205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944600" y="0"/>
            <a:ext cx="23114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62000" y="7366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E293B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The Problem — Why Detecting AI Text Matters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762000" y="1270000"/>
            <a:ext cx="7620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Shape 12"/>
          <p:cNvSpPr/>
          <p:nvPr/>
        </p:nvSpPr>
        <p:spPr>
          <a:xfrm>
            <a:off x="762000" y="1498600"/>
            <a:ext cx="14732000" cy="6350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/>
        </p:spPr>
      </p:sp>
      <p:sp>
        <p:nvSpPr>
          <p:cNvPr id="15" name="Shape 13"/>
          <p:cNvSpPr/>
          <p:nvPr/>
        </p:nvSpPr>
        <p:spPr>
          <a:xfrm>
            <a:off x="990600" y="1651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304800"/>
                </a:moveTo>
                <a:cubicBezTo>
                  <a:pt x="236512" y="304800"/>
                  <a:pt x="304800" y="236512"/>
                  <a:pt x="304800" y="152400"/>
                </a:cubicBezTo>
                <a:cubicBezTo>
                  <a:pt x="304800" y="68288"/>
                  <a:pt x="236512" y="0"/>
                  <a:pt x="152400" y="0"/>
                </a:cubicBezTo>
                <a:cubicBezTo>
                  <a:pt x="68288" y="0"/>
                  <a:pt x="0" y="68288"/>
                  <a:pt x="0" y="152400"/>
                </a:cubicBezTo>
                <a:cubicBezTo>
                  <a:pt x="0" y="236512"/>
                  <a:pt x="68288" y="304800"/>
                  <a:pt x="152400" y="304800"/>
                </a:cubicBezTo>
                <a:close/>
                <a:moveTo>
                  <a:pt x="152400" y="80962"/>
                </a:moveTo>
                <a:cubicBezTo>
                  <a:pt x="160318" y="80962"/>
                  <a:pt x="166688" y="87332"/>
                  <a:pt x="166688" y="95250"/>
                </a:cubicBezTo>
                <a:lnTo>
                  <a:pt x="166688" y="161925"/>
                </a:lnTo>
                <a:cubicBezTo>
                  <a:pt x="166688" y="169843"/>
                  <a:pt x="160318" y="176212"/>
                  <a:pt x="152400" y="176212"/>
                </a:cubicBezTo>
                <a:cubicBezTo>
                  <a:pt x="144482" y="176212"/>
                  <a:pt x="138113" y="169843"/>
                  <a:pt x="138113" y="161925"/>
                </a:cubicBezTo>
                <a:lnTo>
                  <a:pt x="138113" y="95250"/>
                </a:lnTo>
                <a:cubicBezTo>
                  <a:pt x="138113" y="87332"/>
                  <a:pt x="144482" y="80962"/>
                  <a:pt x="152400" y="80962"/>
                </a:cubicBezTo>
                <a:close/>
                <a:moveTo>
                  <a:pt x="136505" y="209550"/>
                </a:moveTo>
                <a:cubicBezTo>
                  <a:pt x="136144" y="203650"/>
                  <a:pt x="139086" y="198037"/>
                  <a:pt x="144144" y="194977"/>
                </a:cubicBezTo>
                <a:cubicBezTo>
                  <a:pt x="149201" y="191918"/>
                  <a:pt x="155539" y="191918"/>
                  <a:pt x="160597" y="194977"/>
                </a:cubicBezTo>
                <a:cubicBezTo>
                  <a:pt x="165655" y="198037"/>
                  <a:pt x="168597" y="203650"/>
                  <a:pt x="168235" y="209550"/>
                </a:cubicBezTo>
                <a:cubicBezTo>
                  <a:pt x="168597" y="215450"/>
                  <a:pt x="165655" y="221063"/>
                  <a:pt x="160597" y="224123"/>
                </a:cubicBezTo>
                <a:cubicBezTo>
                  <a:pt x="155539" y="227182"/>
                  <a:pt x="149201" y="227182"/>
                  <a:pt x="144144" y="224123"/>
                </a:cubicBezTo>
                <a:cubicBezTo>
                  <a:pt x="139086" y="221063"/>
                  <a:pt x="136144" y="215450"/>
                  <a:pt x="136505" y="209550"/>
                </a:cubicBezTo>
                <a:close/>
              </a:path>
            </a:pathLst>
          </a:custGeom>
          <a:solidFill>
            <a:srgbClr val="D4A574"/>
          </a:solidFill>
          <a:ln/>
        </p:spPr>
      </p:sp>
      <p:sp>
        <p:nvSpPr>
          <p:cNvPr id="16" name="Text 14"/>
          <p:cNvSpPr/>
          <p:nvPr/>
        </p:nvSpPr>
        <p:spPr>
          <a:xfrm>
            <a:off x="1422400" y="1498600"/>
            <a:ext cx="13716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rgbClr val="F8F7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AI models now write text that looks exactly like human writing — creating risks across academia, journalism, medicine, and law.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14400" y="2438400"/>
            <a:ext cx="101600" cy="101600"/>
          </a:xfrm>
          <a:prstGeom prst="ellipse">
            <a:avLst/>
          </a:prstGeom>
          <a:solidFill>
            <a:srgbClr val="D4A574"/>
          </a:solidFill>
          <a:ln/>
        </p:spPr>
      </p:sp>
      <p:sp>
        <p:nvSpPr>
          <p:cNvPr id="18" name="Text 16"/>
          <p:cNvSpPr/>
          <p:nvPr/>
        </p:nvSpPr>
        <p:spPr>
          <a:xfrm>
            <a:off x="1168400" y="2311400"/>
            <a:ext cx="6731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GPT-4, Claude, Llama, Gemini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produce fluent, coherent, human-like text indistinguishable to casual readers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14400" y="3200400"/>
            <a:ext cx="101600" cy="101600"/>
          </a:xfrm>
          <a:prstGeom prst="ellipse">
            <a:avLst/>
          </a:prstGeom>
          <a:solidFill>
            <a:srgbClr val="D4A574"/>
          </a:solidFill>
          <a:ln/>
        </p:spPr>
      </p:sp>
      <p:sp>
        <p:nvSpPr>
          <p:cNvPr id="20" name="Text 18"/>
          <p:cNvSpPr/>
          <p:nvPr/>
        </p:nvSpPr>
        <p:spPr>
          <a:xfrm>
            <a:off x="1168400" y="3073400"/>
            <a:ext cx="6731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Risks across domains: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cheating in academia, fake news in journalism, misinformation in medicine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14400" y="3962400"/>
            <a:ext cx="101600" cy="101600"/>
          </a:xfrm>
          <a:prstGeom prst="ellipse">
            <a:avLst/>
          </a:prstGeom>
          <a:solidFill>
            <a:srgbClr val="D4A574"/>
          </a:solidFill>
          <a:ln/>
        </p:spPr>
      </p:sp>
      <p:sp>
        <p:nvSpPr>
          <p:cNvPr id="22" name="Text 20"/>
          <p:cNvSpPr/>
          <p:nvPr/>
        </p:nvSpPr>
        <p:spPr>
          <a:xfrm>
            <a:off x="1168400" y="3835400"/>
            <a:ext cx="6731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Early detectors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used perplexity scores and writing style analysis — not very accurate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914400" y="4724400"/>
            <a:ext cx="101600" cy="101600"/>
          </a:xfrm>
          <a:prstGeom prst="ellipse">
            <a:avLst/>
          </a:prstGeom>
          <a:solidFill>
            <a:srgbClr val="D4A574"/>
          </a:solidFill>
          <a:ln/>
        </p:spPr>
      </p:sp>
      <p:sp>
        <p:nvSpPr>
          <p:cNvPr id="24" name="Text 22"/>
          <p:cNvSpPr/>
          <p:nvPr/>
        </p:nvSpPr>
        <p:spPr>
          <a:xfrm>
            <a:off x="1168400" y="4597400"/>
            <a:ext cx="6731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Transformer models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(RoBERTa, DistilBERT) improved accuracy but work as "black boxes"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14400" y="5486400"/>
            <a:ext cx="101600" cy="101600"/>
          </a:xfrm>
          <a:prstGeom prst="ellipse">
            <a:avLst/>
          </a:prstGeom>
          <a:solidFill>
            <a:srgbClr val="D4A574"/>
          </a:solidFill>
          <a:ln/>
        </p:spPr>
      </p:sp>
      <p:sp>
        <p:nvSpPr>
          <p:cNvPr id="26" name="Text 24"/>
          <p:cNvSpPr/>
          <p:nvPr/>
        </p:nvSpPr>
        <p:spPr>
          <a:xfrm>
            <a:off x="1168400" y="5359400"/>
            <a:ext cx="6731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Black box problem: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the system says "AI-generated" but cannot tell you WHY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914400" y="6248400"/>
            <a:ext cx="101600" cy="101600"/>
          </a:xfrm>
          <a:prstGeom prst="ellipse">
            <a:avLst/>
          </a:prstGeom>
          <a:solidFill>
            <a:srgbClr val="D4A574"/>
          </a:solidFill>
          <a:ln/>
        </p:spPr>
      </p:sp>
      <p:sp>
        <p:nvSpPr>
          <p:cNvPr id="28" name="Text 26"/>
          <p:cNvSpPr/>
          <p:nvPr/>
        </p:nvSpPr>
        <p:spPr>
          <a:xfrm>
            <a:off x="1168400" y="6121400"/>
            <a:ext cx="6731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Without explanation, educators, courts, and journals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cannot act on the verdict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382000" y="2311400"/>
            <a:ext cx="7112000" cy="4546600"/>
          </a:xfrm>
          <a:prstGeom prst="roundRect">
            <a:avLst>
              <a:gd name="adj" fmla="val 8000"/>
            </a:avLst>
          </a:prstGeom>
          <a:solidFill>
            <a:srgbClr val="F0EEEA"/>
          </a:solidFill>
          <a:ln/>
        </p:spPr>
      </p:sp>
      <p:sp>
        <p:nvSpPr>
          <p:cNvPr id="30" name="Shape 28"/>
          <p:cNvSpPr/>
          <p:nvPr/>
        </p:nvSpPr>
        <p:spPr>
          <a:xfrm>
            <a:off x="8813800" y="2603500"/>
            <a:ext cx="304800" cy="406400"/>
          </a:xfrm>
          <a:custGeom>
            <a:avLst/>
            <a:gdLst/>
            <a:ahLst/>
            <a:cxnLst/>
            <a:rect l="l" t="t" r="r" b="b"/>
            <a:pathLst>
              <a:path w="304800" h="406400">
                <a:moveTo>
                  <a:pt x="232489" y="304800"/>
                </a:moveTo>
                <a:cubicBezTo>
                  <a:pt x="238284" y="287099"/>
                  <a:pt x="249872" y="271066"/>
                  <a:pt x="262969" y="257254"/>
                </a:cubicBezTo>
                <a:cubicBezTo>
                  <a:pt x="288925" y="229949"/>
                  <a:pt x="304800" y="193040"/>
                  <a:pt x="304800" y="152400"/>
                </a:cubicBezTo>
                <a:cubicBezTo>
                  <a:pt x="304800" y="68263"/>
                  <a:pt x="236537" y="0"/>
                  <a:pt x="152400" y="0"/>
                </a:cubicBezTo>
                <a:cubicBezTo>
                  <a:pt x="68262" y="0"/>
                  <a:pt x="0" y="68263"/>
                  <a:pt x="0" y="152400"/>
                </a:cubicBezTo>
                <a:cubicBezTo>
                  <a:pt x="0" y="193040"/>
                  <a:pt x="15875" y="229949"/>
                  <a:pt x="41831" y="257254"/>
                </a:cubicBezTo>
                <a:cubicBezTo>
                  <a:pt x="54928" y="271066"/>
                  <a:pt x="66596" y="287099"/>
                  <a:pt x="72311" y="304800"/>
                </a:cubicBezTo>
                <a:lnTo>
                  <a:pt x="232410" y="304800"/>
                </a:lnTo>
                <a:close/>
                <a:moveTo>
                  <a:pt x="228600" y="342900"/>
                </a:moveTo>
                <a:lnTo>
                  <a:pt x="76200" y="342900"/>
                </a:lnTo>
                <a:lnTo>
                  <a:pt x="76200" y="355600"/>
                </a:lnTo>
                <a:cubicBezTo>
                  <a:pt x="76200" y="390684"/>
                  <a:pt x="104616" y="419100"/>
                  <a:pt x="139700" y="419100"/>
                </a:cubicBezTo>
                <a:lnTo>
                  <a:pt x="165100" y="419100"/>
                </a:lnTo>
                <a:cubicBezTo>
                  <a:pt x="200184" y="419100"/>
                  <a:pt x="228600" y="390684"/>
                  <a:pt x="228600" y="355600"/>
                </a:cubicBezTo>
                <a:lnTo>
                  <a:pt x="228600" y="342900"/>
                </a:lnTo>
                <a:close/>
                <a:moveTo>
                  <a:pt x="146050" y="88900"/>
                </a:moveTo>
                <a:cubicBezTo>
                  <a:pt x="114459" y="88900"/>
                  <a:pt x="88900" y="114459"/>
                  <a:pt x="88900" y="146050"/>
                </a:cubicBezTo>
                <a:cubicBezTo>
                  <a:pt x="88900" y="156607"/>
                  <a:pt x="80407" y="165100"/>
                  <a:pt x="69850" y="165100"/>
                </a:cubicBezTo>
                <a:cubicBezTo>
                  <a:pt x="59293" y="165100"/>
                  <a:pt x="50800" y="156607"/>
                  <a:pt x="50800" y="146050"/>
                </a:cubicBezTo>
                <a:cubicBezTo>
                  <a:pt x="50800" y="93424"/>
                  <a:pt x="93424" y="50800"/>
                  <a:pt x="146050" y="50800"/>
                </a:cubicBezTo>
                <a:cubicBezTo>
                  <a:pt x="156607" y="50800"/>
                  <a:pt x="165100" y="59293"/>
                  <a:pt x="165100" y="69850"/>
                </a:cubicBezTo>
                <a:cubicBezTo>
                  <a:pt x="165100" y="80407"/>
                  <a:pt x="156607" y="88900"/>
                  <a:pt x="146050" y="88900"/>
                </a:cubicBezTo>
                <a:close/>
              </a:path>
            </a:pathLst>
          </a:custGeom>
          <a:solidFill>
            <a:srgbClr val="D4A574"/>
          </a:solidFill>
          <a:ln/>
        </p:spPr>
      </p:sp>
      <p:sp>
        <p:nvSpPr>
          <p:cNvPr id="31" name="Text 29"/>
          <p:cNvSpPr/>
          <p:nvPr/>
        </p:nvSpPr>
        <p:spPr>
          <a:xfrm>
            <a:off x="9321800" y="2603500"/>
            <a:ext cx="254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Solution: XAI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763000" y="3149600"/>
            <a:ext cx="6350000" cy="12700"/>
          </a:xfrm>
          <a:prstGeom prst="rect">
            <a:avLst/>
          </a:prstGeom>
          <a:solidFill>
            <a:srgbClr val="E2E0DC"/>
          </a:solidFill>
          <a:ln/>
        </p:spPr>
      </p:sp>
      <p:sp>
        <p:nvSpPr>
          <p:cNvPr id="33" name="Text 31"/>
          <p:cNvSpPr/>
          <p:nvPr/>
        </p:nvSpPr>
        <p:spPr>
          <a:xfrm>
            <a:off x="8763000" y="3327400"/>
            <a:ext cx="6350000" cy="330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Explainable AI (XAI)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bridges the gap between accuracy and interpretability.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Using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LIME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and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SHAP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detection systems can: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▶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Identify AI-generated text with high accuracy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400"/>
              </a:spcBef>
            </a:pPr>
            <a:r>
              <a:rPr lang="en-US" sz="16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▶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Explain </a:t>
            </a: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which words/features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led to the decision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400"/>
              </a:spcBef>
            </a:pPr>
            <a:r>
              <a:rPr lang="en-US" sz="16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▶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Provide evidence educators and courts can evaluate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1000"/>
              </a:spcBef>
            </a:pPr>
            <a:r>
              <a:rPr lang="en-US" sz="1600" i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Detect AND explain the decision.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5240000" y="8763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300" dirty="0">
                <a:solidFill>
                  <a:srgbClr val="64748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04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33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324100" cy="533400"/>
          </a:xfrm>
          <a:prstGeom prst="rect">
            <a:avLst/>
          </a:prstGeom>
          <a:solidFill>
            <a:srgbClr val="FFFFFF">
              <a:alpha val="8235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95300"/>
            <a:ext cx="23241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5" name="Text 3"/>
          <p:cNvSpPr/>
          <p:nvPr/>
        </p:nvSpPr>
        <p:spPr>
          <a:xfrm>
            <a:off x="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3241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482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9723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2964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6205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944600" y="0"/>
            <a:ext cx="23114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62000" y="7366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E293B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Background — How LLMs Generate Text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762000" y="1270000"/>
            <a:ext cx="7620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Shape 12"/>
          <p:cNvSpPr/>
          <p:nvPr/>
        </p:nvSpPr>
        <p:spPr>
          <a:xfrm>
            <a:off x="762000" y="1498600"/>
            <a:ext cx="14732000" cy="53340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/>
        </p:spPr>
      </p:sp>
      <p:sp>
        <p:nvSpPr>
          <p:cNvPr id="15" name="Text 13"/>
          <p:cNvSpPr/>
          <p:nvPr/>
        </p:nvSpPr>
        <p:spPr>
          <a:xfrm>
            <a:off x="1016000" y="1498600"/>
            <a:ext cx="14224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Simple explanation: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LLMs predict the next word, one at a time, based on probability — like autocomplete but vastly more powerful.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62000" y="22606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kern="0" spc="2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CONCEPTS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62000" y="2641600"/>
            <a:ext cx="4699000" cy="1270000"/>
          </a:xfrm>
          <a:prstGeom prst="roundRect">
            <a:avLst>
              <a:gd name="adj" fmla="val 8000"/>
            </a:avLst>
          </a:prstGeom>
          <a:solidFill>
            <a:srgbClr val="F0EEEA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550" y="2819400"/>
            <a:ext cx="342900" cy="304800"/>
          </a:xfrm>
          <a:custGeom>
            <a:avLst/>
            <a:gdLst/>
            <a:ahLst/>
            <a:cxnLst/>
            <a:rect l="l" t="t" r="r" b="b"/>
            <a:pathLst>
              <a:path w="342900" h="304800">
                <a:moveTo>
                  <a:pt x="147638" y="52388"/>
                </a:moveTo>
                <a:lnTo>
                  <a:pt x="195263" y="52388"/>
                </a:lnTo>
                <a:lnTo>
                  <a:pt x="195263" y="80962"/>
                </a:lnTo>
                <a:lnTo>
                  <a:pt x="147638" y="80962"/>
                </a:lnTo>
                <a:lnTo>
                  <a:pt x="147638" y="52388"/>
                </a:lnTo>
                <a:close/>
                <a:moveTo>
                  <a:pt x="142875" y="19050"/>
                </a:moveTo>
                <a:cubicBezTo>
                  <a:pt x="127099" y="19050"/>
                  <a:pt x="114300" y="31849"/>
                  <a:pt x="114300" y="47625"/>
                </a:cubicBezTo>
                <a:lnTo>
                  <a:pt x="114300" y="85725"/>
                </a:lnTo>
                <a:cubicBezTo>
                  <a:pt x="114300" y="101501"/>
                  <a:pt x="127099" y="114300"/>
                  <a:pt x="142875" y="114300"/>
                </a:cubicBezTo>
                <a:lnTo>
                  <a:pt x="152400" y="114300"/>
                </a:lnTo>
                <a:lnTo>
                  <a:pt x="152400" y="133350"/>
                </a:lnTo>
                <a:lnTo>
                  <a:pt x="19050" y="133350"/>
                </a:lnTo>
                <a:cubicBezTo>
                  <a:pt x="8513" y="133350"/>
                  <a:pt x="0" y="141863"/>
                  <a:pt x="0" y="152400"/>
                </a:cubicBezTo>
                <a:cubicBezTo>
                  <a:pt x="0" y="162937"/>
                  <a:pt x="8513" y="171450"/>
                  <a:pt x="19050" y="171450"/>
                </a:cubicBezTo>
                <a:lnTo>
                  <a:pt x="76200" y="171450"/>
                </a:lnTo>
                <a:lnTo>
                  <a:pt x="76200" y="190500"/>
                </a:lnTo>
                <a:lnTo>
                  <a:pt x="66675" y="190500"/>
                </a:lnTo>
                <a:cubicBezTo>
                  <a:pt x="50899" y="190500"/>
                  <a:pt x="38100" y="203299"/>
                  <a:pt x="38100" y="219075"/>
                </a:cubicBezTo>
                <a:lnTo>
                  <a:pt x="38100" y="257175"/>
                </a:lnTo>
                <a:cubicBezTo>
                  <a:pt x="38100" y="272951"/>
                  <a:pt x="50899" y="285750"/>
                  <a:pt x="66675" y="285750"/>
                </a:cubicBezTo>
                <a:lnTo>
                  <a:pt x="123825" y="285750"/>
                </a:lnTo>
                <a:cubicBezTo>
                  <a:pt x="139601" y="285750"/>
                  <a:pt x="152400" y="272951"/>
                  <a:pt x="152400" y="257175"/>
                </a:cubicBezTo>
                <a:lnTo>
                  <a:pt x="152400" y="219075"/>
                </a:lnTo>
                <a:cubicBezTo>
                  <a:pt x="152400" y="203299"/>
                  <a:pt x="139601" y="190500"/>
                  <a:pt x="123825" y="190500"/>
                </a:cubicBezTo>
                <a:lnTo>
                  <a:pt x="114300" y="190500"/>
                </a:lnTo>
                <a:lnTo>
                  <a:pt x="114300" y="171450"/>
                </a:lnTo>
                <a:lnTo>
                  <a:pt x="228600" y="171450"/>
                </a:lnTo>
                <a:lnTo>
                  <a:pt x="228600" y="190500"/>
                </a:lnTo>
                <a:lnTo>
                  <a:pt x="219075" y="190500"/>
                </a:lnTo>
                <a:cubicBezTo>
                  <a:pt x="203299" y="190500"/>
                  <a:pt x="190500" y="203299"/>
                  <a:pt x="190500" y="219075"/>
                </a:cubicBezTo>
                <a:lnTo>
                  <a:pt x="190500" y="257175"/>
                </a:lnTo>
                <a:cubicBezTo>
                  <a:pt x="190500" y="272951"/>
                  <a:pt x="203299" y="285750"/>
                  <a:pt x="219075" y="285750"/>
                </a:cubicBezTo>
                <a:lnTo>
                  <a:pt x="276225" y="285750"/>
                </a:lnTo>
                <a:cubicBezTo>
                  <a:pt x="292001" y="285750"/>
                  <a:pt x="304800" y="272951"/>
                  <a:pt x="304800" y="257175"/>
                </a:cubicBezTo>
                <a:lnTo>
                  <a:pt x="304800" y="219075"/>
                </a:lnTo>
                <a:cubicBezTo>
                  <a:pt x="304800" y="203299"/>
                  <a:pt x="292001" y="190500"/>
                  <a:pt x="276225" y="190500"/>
                </a:cubicBezTo>
                <a:lnTo>
                  <a:pt x="266700" y="190500"/>
                </a:lnTo>
                <a:lnTo>
                  <a:pt x="266700" y="171450"/>
                </a:lnTo>
                <a:lnTo>
                  <a:pt x="323850" y="171450"/>
                </a:lnTo>
                <a:cubicBezTo>
                  <a:pt x="334387" y="171450"/>
                  <a:pt x="342900" y="162937"/>
                  <a:pt x="342900" y="152400"/>
                </a:cubicBezTo>
                <a:cubicBezTo>
                  <a:pt x="342900" y="141863"/>
                  <a:pt x="334387" y="133350"/>
                  <a:pt x="323850" y="133350"/>
                </a:cubicBezTo>
                <a:lnTo>
                  <a:pt x="190500" y="133350"/>
                </a:lnTo>
                <a:lnTo>
                  <a:pt x="190500" y="114300"/>
                </a:lnTo>
                <a:lnTo>
                  <a:pt x="200025" y="114300"/>
                </a:lnTo>
                <a:cubicBezTo>
                  <a:pt x="215801" y="114300"/>
                  <a:pt x="228600" y="101501"/>
                  <a:pt x="228600" y="85725"/>
                </a:cubicBezTo>
                <a:lnTo>
                  <a:pt x="228600" y="47625"/>
                </a:lnTo>
                <a:cubicBezTo>
                  <a:pt x="228600" y="31849"/>
                  <a:pt x="215801" y="19050"/>
                  <a:pt x="200025" y="19050"/>
                </a:cubicBezTo>
                <a:lnTo>
                  <a:pt x="142875" y="19050"/>
                </a:lnTo>
                <a:close/>
                <a:moveTo>
                  <a:pt x="266700" y="223838"/>
                </a:moveTo>
                <a:lnTo>
                  <a:pt x="271463" y="223838"/>
                </a:lnTo>
                <a:lnTo>
                  <a:pt x="271463" y="252413"/>
                </a:lnTo>
                <a:lnTo>
                  <a:pt x="223838" y="252413"/>
                </a:lnTo>
                <a:lnTo>
                  <a:pt x="223838" y="223838"/>
                </a:lnTo>
                <a:lnTo>
                  <a:pt x="266700" y="223838"/>
                </a:lnTo>
                <a:close/>
                <a:moveTo>
                  <a:pt x="114300" y="223838"/>
                </a:moveTo>
                <a:lnTo>
                  <a:pt x="119062" y="223838"/>
                </a:lnTo>
                <a:lnTo>
                  <a:pt x="119062" y="252413"/>
                </a:lnTo>
                <a:lnTo>
                  <a:pt x="71438" y="252413"/>
                </a:lnTo>
                <a:lnTo>
                  <a:pt x="71438" y="223838"/>
                </a:lnTo>
                <a:lnTo>
                  <a:pt x="114300" y="223838"/>
                </a:lnTo>
                <a:close/>
              </a:path>
            </a:pathLst>
          </a:custGeom>
          <a:solidFill>
            <a:srgbClr val="5A8A9A"/>
          </a:solidFill>
          <a:ln/>
        </p:spPr>
      </p:sp>
      <p:sp>
        <p:nvSpPr>
          <p:cNvPr id="19" name="Text 17"/>
          <p:cNvSpPr/>
          <p:nvPr/>
        </p:nvSpPr>
        <p:spPr>
          <a:xfrm>
            <a:off x="1422400" y="2794000"/>
            <a:ext cx="381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Transformer Architecture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90600" y="3200400"/>
            <a:ext cx="4254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Uses self-attention to understand context across long text sequences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778500" y="2641600"/>
            <a:ext cx="4699000" cy="1270000"/>
          </a:xfrm>
          <a:prstGeom prst="roundRect">
            <a:avLst>
              <a:gd name="adj" fmla="val 8000"/>
            </a:avLst>
          </a:prstGeom>
          <a:solidFill>
            <a:srgbClr val="F0EEEA"/>
          </a:solidFill>
          <a:ln/>
        </p:spPr>
      </p:sp>
      <p:sp>
        <p:nvSpPr>
          <p:cNvPr id="22" name="Shape 20"/>
          <p:cNvSpPr/>
          <p:nvPr/>
        </p:nvSpPr>
        <p:spPr>
          <a:xfrm>
            <a:off x="60071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299204" y="165854"/>
                </a:moveTo>
                <a:cubicBezTo>
                  <a:pt x="306645" y="158413"/>
                  <a:pt x="306645" y="146328"/>
                  <a:pt x="299204" y="138886"/>
                </a:cubicBezTo>
                <a:lnTo>
                  <a:pt x="203954" y="43636"/>
                </a:lnTo>
                <a:cubicBezTo>
                  <a:pt x="196513" y="36195"/>
                  <a:pt x="184428" y="36195"/>
                  <a:pt x="176986" y="43636"/>
                </a:cubicBezTo>
                <a:cubicBezTo>
                  <a:pt x="169545" y="51078"/>
                  <a:pt x="169545" y="63163"/>
                  <a:pt x="176986" y="70604"/>
                </a:cubicBezTo>
                <a:lnTo>
                  <a:pt x="239732" y="133350"/>
                </a:lnTo>
                <a:lnTo>
                  <a:pt x="19050" y="133350"/>
                </a:lnTo>
                <a:cubicBezTo>
                  <a:pt x="8513" y="133350"/>
                  <a:pt x="0" y="141863"/>
                  <a:pt x="0" y="152400"/>
                </a:cubicBezTo>
                <a:cubicBezTo>
                  <a:pt x="0" y="162937"/>
                  <a:pt x="8513" y="171450"/>
                  <a:pt x="19050" y="171450"/>
                </a:cubicBezTo>
                <a:lnTo>
                  <a:pt x="239732" y="171450"/>
                </a:lnTo>
                <a:lnTo>
                  <a:pt x="176986" y="234196"/>
                </a:lnTo>
                <a:cubicBezTo>
                  <a:pt x="169545" y="241637"/>
                  <a:pt x="169545" y="253722"/>
                  <a:pt x="176986" y="261164"/>
                </a:cubicBezTo>
                <a:cubicBezTo>
                  <a:pt x="184428" y="268605"/>
                  <a:pt x="196513" y="268605"/>
                  <a:pt x="203954" y="261164"/>
                </a:cubicBezTo>
                <a:lnTo>
                  <a:pt x="299204" y="165914"/>
                </a:lnTo>
                <a:close/>
              </a:path>
            </a:pathLst>
          </a:custGeom>
          <a:solidFill>
            <a:srgbClr val="5A8A9A"/>
          </a:solidFill>
          <a:ln/>
        </p:spPr>
      </p:sp>
      <p:sp>
        <p:nvSpPr>
          <p:cNvPr id="23" name="Text 21"/>
          <p:cNvSpPr/>
          <p:nvPr/>
        </p:nvSpPr>
        <p:spPr>
          <a:xfrm>
            <a:off x="6438900" y="2794000"/>
            <a:ext cx="381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Autoregressive Generation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007100" y="3200400"/>
            <a:ext cx="4254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Generates one token at a time based on probability distribution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0795000" y="2641600"/>
            <a:ext cx="4699000" cy="1143000"/>
          </a:xfrm>
          <a:prstGeom prst="roundRect">
            <a:avLst>
              <a:gd name="adj" fmla="val 8000"/>
            </a:avLst>
          </a:prstGeom>
          <a:solidFill>
            <a:srgbClr val="F0EEEA"/>
          </a:solidFill>
          <a:ln/>
        </p:spPr>
      </p:sp>
      <p:sp>
        <p:nvSpPr>
          <p:cNvPr id="26" name="Shape 24"/>
          <p:cNvSpPr/>
          <p:nvPr/>
        </p:nvSpPr>
        <p:spPr>
          <a:xfrm>
            <a:off x="11080750" y="2819400"/>
            <a:ext cx="190500" cy="304800"/>
          </a:xfrm>
          <a:custGeom>
            <a:avLst/>
            <a:gdLst/>
            <a:ahLst/>
            <a:cxnLst/>
            <a:rect l="l" t="t" r="r" b="b"/>
            <a:pathLst>
              <a:path w="190500" h="304800">
                <a:moveTo>
                  <a:pt x="95250" y="0"/>
                </a:moveTo>
                <a:cubicBezTo>
                  <a:pt x="63698" y="0"/>
                  <a:pt x="38100" y="25598"/>
                  <a:pt x="38100" y="57150"/>
                </a:cubicBezTo>
                <a:lnTo>
                  <a:pt x="38100" y="155198"/>
                </a:lnTo>
                <a:cubicBezTo>
                  <a:pt x="20538" y="170855"/>
                  <a:pt x="9525" y="193715"/>
                  <a:pt x="9525" y="219075"/>
                </a:cubicBezTo>
                <a:cubicBezTo>
                  <a:pt x="9525" y="266402"/>
                  <a:pt x="47923" y="304800"/>
                  <a:pt x="95250" y="304800"/>
                </a:cubicBezTo>
                <a:cubicBezTo>
                  <a:pt x="142577" y="304800"/>
                  <a:pt x="180975" y="266402"/>
                  <a:pt x="180975" y="219075"/>
                </a:cubicBezTo>
                <a:cubicBezTo>
                  <a:pt x="180975" y="193715"/>
                  <a:pt x="169962" y="170855"/>
                  <a:pt x="152400" y="155198"/>
                </a:cubicBezTo>
                <a:lnTo>
                  <a:pt x="152400" y="57150"/>
                </a:lnTo>
                <a:cubicBezTo>
                  <a:pt x="152400" y="25598"/>
                  <a:pt x="126802" y="0"/>
                  <a:pt x="95250" y="0"/>
                </a:cubicBezTo>
                <a:close/>
                <a:moveTo>
                  <a:pt x="133350" y="219075"/>
                </a:moveTo>
                <a:cubicBezTo>
                  <a:pt x="133350" y="240090"/>
                  <a:pt x="116265" y="257175"/>
                  <a:pt x="95250" y="257175"/>
                </a:cubicBezTo>
                <a:cubicBezTo>
                  <a:pt x="74235" y="257175"/>
                  <a:pt x="57150" y="240090"/>
                  <a:pt x="57150" y="219075"/>
                </a:cubicBezTo>
                <a:cubicBezTo>
                  <a:pt x="57150" y="203061"/>
                  <a:pt x="66973" y="189369"/>
                  <a:pt x="80962" y="183773"/>
                </a:cubicBezTo>
                <a:lnTo>
                  <a:pt x="80962" y="128588"/>
                </a:lnTo>
                <a:cubicBezTo>
                  <a:pt x="80962" y="120670"/>
                  <a:pt x="87332" y="114300"/>
                  <a:pt x="95250" y="114300"/>
                </a:cubicBezTo>
                <a:cubicBezTo>
                  <a:pt x="103168" y="114300"/>
                  <a:pt x="109537" y="120670"/>
                  <a:pt x="109537" y="128588"/>
                </a:cubicBezTo>
                <a:lnTo>
                  <a:pt x="109537" y="183773"/>
                </a:lnTo>
                <a:cubicBezTo>
                  <a:pt x="123527" y="189428"/>
                  <a:pt x="133350" y="203121"/>
                  <a:pt x="133350" y="219075"/>
                </a:cubicBezTo>
                <a:close/>
              </a:path>
            </a:pathLst>
          </a:custGeom>
          <a:solidFill>
            <a:srgbClr val="5A8A9A"/>
          </a:solidFill>
          <a:ln/>
        </p:spPr>
      </p:sp>
      <p:sp>
        <p:nvSpPr>
          <p:cNvPr id="27" name="Text 25"/>
          <p:cNvSpPr/>
          <p:nvPr/>
        </p:nvSpPr>
        <p:spPr>
          <a:xfrm>
            <a:off x="11455400" y="2794000"/>
            <a:ext cx="381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Temperature Setting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023600" y="3200400"/>
            <a:ext cx="425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Low = predictable text | High = creative/random text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62000" y="40386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kern="0" spc="2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HUMAN VS. LLM WRITING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62000" y="4419600"/>
            <a:ext cx="7175500" cy="2667000"/>
          </a:xfrm>
          <a:prstGeom prst="roundRect">
            <a:avLst>
              <a:gd name="adj" fmla="val 8000"/>
            </a:avLst>
          </a:prstGeom>
          <a:solidFill>
            <a:srgbClr val="E8F4F0"/>
          </a:solidFill>
          <a:ln/>
        </p:spPr>
      </p:sp>
      <p:sp>
        <p:nvSpPr>
          <p:cNvPr id="31" name="Shape 29"/>
          <p:cNvSpPr/>
          <p:nvPr/>
        </p:nvSpPr>
        <p:spPr>
          <a:xfrm>
            <a:off x="1016000" y="45974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255935" y="12710"/>
                </a:moveTo>
                <a:lnTo>
                  <a:pt x="221139" y="47506"/>
                </a:lnTo>
                <a:lnTo>
                  <a:pt x="308164" y="134531"/>
                </a:lnTo>
                <a:lnTo>
                  <a:pt x="342960" y="99735"/>
                </a:lnTo>
                <a:cubicBezTo>
                  <a:pt x="358170" y="84524"/>
                  <a:pt x="358170" y="59938"/>
                  <a:pt x="342960" y="44728"/>
                </a:cubicBezTo>
                <a:lnTo>
                  <a:pt x="310942" y="12710"/>
                </a:lnTo>
                <a:cubicBezTo>
                  <a:pt x="295731" y="-2500"/>
                  <a:pt x="271145" y="-2500"/>
                  <a:pt x="255935" y="12710"/>
                </a:cubicBezTo>
                <a:close/>
                <a:moveTo>
                  <a:pt x="193983" y="67508"/>
                </a:moveTo>
                <a:lnTo>
                  <a:pt x="193635" y="67578"/>
                </a:lnTo>
                <a:lnTo>
                  <a:pt x="93553" y="97582"/>
                </a:lnTo>
                <a:cubicBezTo>
                  <a:pt x="79732" y="101749"/>
                  <a:pt x="68759" y="112306"/>
                  <a:pt x="64175" y="126057"/>
                </a:cubicBezTo>
                <a:lnTo>
                  <a:pt x="2639" y="309622"/>
                </a:lnTo>
                <a:cubicBezTo>
                  <a:pt x="625" y="315664"/>
                  <a:pt x="1320" y="322263"/>
                  <a:pt x="4376" y="327680"/>
                </a:cubicBezTo>
                <a:lnTo>
                  <a:pt x="112306" y="219750"/>
                </a:lnTo>
                <a:cubicBezTo>
                  <a:pt x="111542" y="216972"/>
                  <a:pt x="111194" y="214124"/>
                  <a:pt x="111194" y="211138"/>
                </a:cubicBezTo>
                <a:cubicBezTo>
                  <a:pt x="111194" y="192732"/>
                  <a:pt x="126127" y="177800"/>
                  <a:pt x="144532" y="177800"/>
                </a:cubicBezTo>
                <a:cubicBezTo>
                  <a:pt x="162937" y="177800"/>
                  <a:pt x="177869" y="192732"/>
                  <a:pt x="177869" y="211138"/>
                </a:cubicBezTo>
                <a:cubicBezTo>
                  <a:pt x="177869" y="229543"/>
                  <a:pt x="162937" y="244475"/>
                  <a:pt x="144532" y="244475"/>
                </a:cubicBezTo>
                <a:cubicBezTo>
                  <a:pt x="141545" y="244475"/>
                  <a:pt x="138628" y="244058"/>
                  <a:pt x="135920" y="243364"/>
                </a:cubicBezTo>
                <a:lnTo>
                  <a:pt x="27990" y="351224"/>
                </a:lnTo>
                <a:cubicBezTo>
                  <a:pt x="33407" y="354280"/>
                  <a:pt x="39936" y="354975"/>
                  <a:pt x="46047" y="352961"/>
                </a:cubicBezTo>
                <a:lnTo>
                  <a:pt x="229612" y="291425"/>
                </a:lnTo>
                <a:cubicBezTo>
                  <a:pt x="243294" y="286841"/>
                  <a:pt x="253921" y="275868"/>
                  <a:pt x="258088" y="262047"/>
                </a:cubicBezTo>
                <a:lnTo>
                  <a:pt x="288092" y="161965"/>
                </a:lnTo>
                <a:lnTo>
                  <a:pt x="288161" y="161617"/>
                </a:lnTo>
                <a:lnTo>
                  <a:pt x="194052" y="67508"/>
                </a:lnTo>
                <a:close/>
              </a:path>
            </a:pathLst>
          </a:custGeom>
          <a:solidFill>
            <a:srgbClr val="5A8A9A"/>
          </a:solidFill>
          <a:ln/>
        </p:spPr>
      </p:sp>
      <p:sp>
        <p:nvSpPr>
          <p:cNvPr id="32" name="Text 30"/>
          <p:cNvSpPr/>
          <p:nvPr/>
        </p:nvSpPr>
        <p:spPr>
          <a:xfrm>
            <a:off x="1498600" y="4597400"/>
            <a:ext cx="254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5A8A9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Human Writing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016000" y="5080000"/>
            <a:ext cx="66675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5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rhythm variation and natural flow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5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Uses unusual words and personal style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5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Contains grammatical irregularities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5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Shows individual voice and creativity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318500" y="4419600"/>
            <a:ext cx="7175500" cy="2667000"/>
          </a:xfrm>
          <a:prstGeom prst="roundRect">
            <a:avLst>
              <a:gd name="adj" fmla="val 8000"/>
            </a:avLst>
          </a:prstGeom>
          <a:solidFill>
            <a:srgbClr val="F5EDE4"/>
          </a:solidFill>
          <a:ln/>
        </p:spPr>
      </p:sp>
      <p:sp>
        <p:nvSpPr>
          <p:cNvPr id="35" name="Shape 33"/>
          <p:cNvSpPr/>
          <p:nvPr/>
        </p:nvSpPr>
        <p:spPr>
          <a:xfrm>
            <a:off x="8528050" y="4597400"/>
            <a:ext cx="444500" cy="355600"/>
          </a:xfrm>
          <a:custGeom>
            <a:avLst/>
            <a:gdLst/>
            <a:ahLst/>
            <a:cxnLst/>
            <a:rect l="l" t="t" r="r" b="b"/>
            <a:pathLst>
              <a:path w="444500" h="355600">
                <a:moveTo>
                  <a:pt x="244475" y="0"/>
                </a:moveTo>
                <a:cubicBezTo>
                  <a:pt x="244475" y="-12293"/>
                  <a:pt x="234543" y="-22225"/>
                  <a:pt x="222250" y="-22225"/>
                </a:cubicBezTo>
                <a:cubicBezTo>
                  <a:pt x="209957" y="-22225"/>
                  <a:pt x="200025" y="-12293"/>
                  <a:pt x="200025" y="0"/>
                </a:cubicBezTo>
                <a:lnTo>
                  <a:pt x="200025" y="44450"/>
                </a:lnTo>
                <a:lnTo>
                  <a:pt x="133350" y="44450"/>
                </a:lnTo>
                <a:cubicBezTo>
                  <a:pt x="96540" y="44450"/>
                  <a:pt x="66675" y="74315"/>
                  <a:pt x="66675" y="111125"/>
                </a:cubicBezTo>
                <a:lnTo>
                  <a:pt x="66675" y="266700"/>
                </a:lnTo>
                <a:cubicBezTo>
                  <a:pt x="66675" y="303510"/>
                  <a:pt x="96540" y="333375"/>
                  <a:pt x="133350" y="333375"/>
                </a:cubicBezTo>
                <a:lnTo>
                  <a:pt x="311150" y="333375"/>
                </a:lnTo>
                <a:cubicBezTo>
                  <a:pt x="347960" y="333375"/>
                  <a:pt x="377825" y="303510"/>
                  <a:pt x="377825" y="266700"/>
                </a:cubicBezTo>
                <a:lnTo>
                  <a:pt x="377825" y="111125"/>
                </a:lnTo>
                <a:cubicBezTo>
                  <a:pt x="377825" y="74315"/>
                  <a:pt x="347960" y="44450"/>
                  <a:pt x="311150" y="44450"/>
                </a:cubicBezTo>
                <a:lnTo>
                  <a:pt x="244475" y="44450"/>
                </a:lnTo>
                <a:lnTo>
                  <a:pt x="244475" y="0"/>
                </a:lnTo>
                <a:close/>
                <a:moveTo>
                  <a:pt x="111125" y="255587"/>
                </a:moveTo>
                <a:cubicBezTo>
                  <a:pt x="111125" y="246350"/>
                  <a:pt x="118556" y="238919"/>
                  <a:pt x="127794" y="238919"/>
                </a:cubicBezTo>
                <a:lnTo>
                  <a:pt x="150019" y="238919"/>
                </a:lnTo>
                <a:cubicBezTo>
                  <a:pt x="159256" y="238919"/>
                  <a:pt x="166688" y="246350"/>
                  <a:pt x="166688" y="255587"/>
                </a:cubicBezTo>
                <a:cubicBezTo>
                  <a:pt x="166688" y="264825"/>
                  <a:pt x="159256" y="272256"/>
                  <a:pt x="150019" y="272256"/>
                </a:cubicBezTo>
                <a:lnTo>
                  <a:pt x="127794" y="272256"/>
                </a:lnTo>
                <a:cubicBezTo>
                  <a:pt x="118556" y="272256"/>
                  <a:pt x="111125" y="264825"/>
                  <a:pt x="111125" y="255587"/>
                </a:cubicBezTo>
                <a:close/>
                <a:moveTo>
                  <a:pt x="194469" y="255587"/>
                </a:moveTo>
                <a:cubicBezTo>
                  <a:pt x="194469" y="246350"/>
                  <a:pt x="201900" y="238919"/>
                  <a:pt x="211138" y="238919"/>
                </a:cubicBezTo>
                <a:lnTo>
                  <a:pt x="233363" y="238919"/>
                </a:lnTo>
                <a:cubicBezTo>
                  <a:pt x="242600" y="238919"/>
                  <a:pt x="250031" y="246350"/>
                  <a:pt x="250031" y="255587"/>
                </a:cubicBezTo>
                <a:cubicBezTo>
                  <a:pt x="250031" y="264825"/>
                  <a:pt x="242600" y="272256"/>
                  <a:pt x="233363" y="272256"/>
                </a:cubicBezTo>
                <a:lnTo>
                  <a:pt x="211138" y="272256"/>
                </a:lnTo>
                <a:cubicBezTo>
                  <a:pt x="201900" y="272256"/>
                  <a:pt x="194469" y="264825"/>
                  <a:pt x="194469" y="255587"/>
                </a:cubicBezTo>
                <a:close/>
                <a:moveTo>
                  <a:pt x="277813" y="255587"/>
                </a:moveTo>
                <a:cubicBezTo>
                  <a:pt x="277813" y="246350"/>
                  <a:pt x="285244" y="238919"/>
                  <a:pt x="294481" y="238919"/>
                </a:cubicBezTo>
                <a:lnTo>
                  <a:pt x="316706" y="238919"/>
                </a:lnTo>
                <a:cubicBezTo>
                  <a:pt x="325944" y="238919"/>
                  <a:pt x="333375" y="246350"/>
                  <a:pt x="333375" y="255587"/>
                </a:cubicBezTo>
                <a:cubicBezTo>
                  <a:pt x="333375" y="264825"/>
                  <a:pt x="325944" y="272256"/>
                  <a:pt x="316706" y="272256"/>
                </a:cubicBezTo>
                <a:lnTo>
                  <a:pt x="294481" y="272256"/>
                </a:lnTo>
                <a:cubicBezTo>
                  <a:pt x="285244" y="272256"/>
                  <a:pt x="277813" y="264825"/>
                  <a:pt x="277813" y="255587"/>
                </a:cubicBezTo>
                <a:close/>
                <a:moveTo>
                  <a:pt x="155575" y="122238"/>
                </a:moveTo>
                <a:cubicBezTo>
                  <a:pt x="173974" y="122238"/>
                  <a:pt x="188913" y="137176"/>
                  <a:pt x="188913" y="155575"/>
                </a:cubicBezTo>
                <a:cubicBezTo>
                  <a:pt x="188913" y="173974"/>
                  <a:pt x="173974" y="188913"/>
                  <a:pt x="155575" y="188913"/>
                </a:cubicBezTo>
                <a:cubicBezTo>
                  <a:pt x="137176" y="188913"/>
                  <a:pt x="122238" y="173974"/>
                  <a:pt x="122238" y="155575"/>
                </a:cubicBezTo>
                <a:cubicBezTo>
                  <a:pt x="122238" y="137176"/>
                  <a:pt x="137176" y="122238"/>
                  <a:pt x="155575" y="122238"/>
                </a:cubicBezTo>
                <a:close/>
                <a:moveTo>
                  <a:pt x="255587" y="155575"/>
                </a:moveTo>
                <a:cubicBezTo>
                  <a:pt x="255587" y="137176"/>
                  <a:pt x="270526" y="122238"/>
                  <a:pt x="288925" y="122238"/>
                </a:cubicBezTo>
                <a:cubicBezTo>
                  <a:pt x="307324" y="122238"/>
                  <a:pt x="322263" y="137176"/>
                  <a:pt x="322263" y="155575"/>
                </a:cubicBezTo>
                <a:cubicBezTo>
                  <a:pt x="322263" y="173974"/>
                  <a:pt x="307324" y="188913"/>
                  <a:pt x="288925" y="188913"/>
                </a:cubicBezTo>
                <a:cubicBezTo>
                  <a:pt x="270526" y="188913"/>
                  <a:pt x="255587" y="173974"/>
                  <a:pt x="255587" y="155575"/>
                </a:cubicBezTo>
                <a:close/>
                <a:moveTo>
                  <a:pt x="44450" y="155575"/>
                </a:moveTo>
                <a:cubicBezTo>
                  <a:pt x="44450" y="143282"/>
                  <a:pt x="34518" y="133350"/>
                  <a:pt x="22225" y="133350"/>
                </a:cubicBezTo>
                <a:cubicBezTo>
                  <a:pt x="9932" y="133350"/>
                  <a:pt x="0" y="143282"/>
                  <a:pt x="0" y="155575"/>
                </a:cubicBezTo>
                <a:lnTo>
                  <a:pt x="0" y="222250"/>
                </a:lnTo>
                <a:cubicBezTo>
                  <a:pt x="0" y="234543"/>
                  <a:pt x="9932" y="244475"/>
                  <a:pt x="22225" y="244475"/>
                </a:cubicBezTo>
                <a:cubicBezTo>
                  <a:pt x="34518" y="244475"/>
                  <a:pt x="44450" y="234543"/>
                  <a:pt x="44450" y="222250"/>
                </a:cubicBezTo>
                <a:lnTo>
                  <a:pt x="44450" y="155575"/>
                </a:lnTo>
                <a:close/>
                <a:moveTo>
                  <a:pt x="422275" y="133350"/>
                </a:moveTo>
                <a:cubicBezTo>
                  <a:pt x="409982" y="133350"/>
                  <a:pt x="400050" y="143282"/>
                  <a:pt x="400050" y="155575"/>
                </a:cubicBezTo>
                <a:lnTo>
                  <a:pt x="400050" y="222250"/>
                </a:lnTo>
                <a:cubicBezTo>
                  <a:pt x="400050" y="234543"/>
                  <a:pt x="409982" y="244475"/>
                  <a:pt x="422275" y="244475"/>
                </a:cubicBezTo>
                <a:cubicBezTo>
                  <a:pt x="434568" y="244475"/>
                  <a:pt x="444500" y="234543"/>
                  <a:pt x="444500" y="222250"/>
                </a:cubicBezTo>
                <a:lnTo>
                  <a:pt x="444500" y="155575"/>
                </a:lnTo>
                <a:cubicBezTo>
                  <a:pt x="444500" y="143282"/>
                  <a:pt x="434568" y="133350"/>
                  <a:pt x="422275" y="133350"/>
                </a:cubicBezTo>
                <a:close/>
              </a:path>
            </a:pathLst>
          </a:custGeom>
          <a:solidFill>
            <a:srgbClr val="D4A574"/>
          </a:solidFill>
          <a:ln/>
        </p:spPr>
      </p:sp>
      <p:sp>
        <p:nvSpPr>
          <p:cNvPr id="36" name="Text 34"/>
          <p:cNvSpPr/>
          <p:nvPr/>
        </p:nvSpPr>
        <p:spPr>
          <a:xfrm>
            <a:off x="9055100" y="4597400"/>
            <a:ext cx="254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LLM Writing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72500" y="5080000"/>
            <a:ext cx="6667500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5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Very grammatically regular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5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Lexically predictable — safe common words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5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Overly smooth and well-organized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5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This regularity is detectable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62000" y="7340600"/>
            <a:ext cx="14732000" cy="4572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/>
        </p:spPr>
      </p:sp>
      <p:sp>
        <p:nvSpPr>
          <p:cNvPr id="39" name="Text 37"/>
          <p:cNvSpPr/>
          <p:nvPr/>
        </p:nvSpPr>
        <p:spPr>
          <a:xfrm>
            <a:off x="1016000" y="7340600"/>
            <a:ext cx="1422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Insight:</a:t>
            </a:r>
            <a:r>
              <a:rPr lang="en-US" sz="1500" dirty="0">
                <a:solidFill>
                  <a:srgbClr val="F8F7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The very features that make LLM text fluent and coherent — grammatical perfection, predictable vocabulary, smooth organization — also make it detectable.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15240000" y="8763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300" dirty="0">
                <a:solidFill>
                  <a:srgbClr val="64748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05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33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324100" cy="533400"/>
          </a:xfrm>
          <a:prstGeom prst="rect">
            <a:avLst/>
          </a:prstGeom>
          <a:solidFill>
            <a:srgbClr val="FFFFFF">
              <a:alpha val="8235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95300"/>
            <a:ext cx="23241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5" name="Text 3"/>
          <p:cNvSpPr/>
          <p:nvPr/>
        </p:nvSpPr>
        <p:spPr>
          <a:xfrm>
            <a:off x="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3241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482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9723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2964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6205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944600" y="0"/>
            <a:ext cx="23114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62000" y="7366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E293B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Background — LIME and SHAP (XAI Methods)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762000" y="1270000"/>
            <a:ext cx="7620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Text 12"/>
          <p:cNvSpPr/>
          <p:nvPr/>
        </p:nvSpPr>
        <p:spPr>
          <a:xfrm>
            <a:off x="762000" y="1447800"/>
            <a:ext cx="14732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Both methods explain WHY an AI model made a decision — which words/features caused it.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2000" y="1968500"/>
            <a:ext cx="7175500" cy="4953000"/>
          </a:xfrm>
          <a:prstGeom prst="roundRect">
            <a:avLst>
              <a:gd name="adj" fmla="val 8000"/>
            </a:avLst>
          </a:prstGeom>
          <a:solidFill>
            <a:srgbClr val="F0EEEA"/>
          </a:solidFill>
          <a:ln/>
        </p:spPr>
      </p:sp>
      <p:sp>
        <p:nvSpPr>
          <p:cNvPr id="16" name="Shape 14"/>
          <p:cNvSpPr/>
          <p:nvPr/>
        </p:nvSpPr>
        <p:spPr>
          <a:xfrm>
            <a:off x="762000" y="1968500"/>
            <a:ext cx="7175500" cy="635000"/>
          </a:xfrm>
          <a:prstGeom prst="roundRect">
            <a:avLst>
              <a:gd name="adj" fmla="val 8000"/>
            </a:avLst>
          </a:prstGeom>
          <a:solidFill>
            <a:srgbClr val="5A8A9A"/>
          </a:solidFill>
          <a:ln/>
        </p:spPr>
      </p:sp>
      <p:sp>
        <p:nvSpPr>
          <p:cNvPr id="17" name="Text 15"/>
          <p:cNvSpPr/>
          <p:nvPr/>
        </p:nvSpPr>
        <p:spPr>
          <a:xfrm>
            <a:off x="762000" y="1968500"/>
            <a:ext cx="71755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F8F7F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LIME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16000" y="2794000"/>
            <a:ext cx="6667500" cy="393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5A8A9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Mechanism: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Masks/hides words one by one and watches how the AI prediction changes</a:t>
            </a:r>
            <a:endParaRPr lang="en-US" sz="16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5A8A9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Output: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Builds a simple explanation — "these words caused the AI verdict"</a:t>
            </a:r>
            <a:endParaRPr lang="en-US" sz="16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5A8A9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Speed: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Fast but can be slightly unstable (random sampling process)</a:t>
            </a:r>
            <a:endParaRPr lang="en-US" sz="16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5A8A9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Best for: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Transformer models and real-time explanation needs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318500" y="1968500"/>
            <a:ext cx="7175500" cy="4953000"/>
          </a:xfrm>
          <a:prstGeom prst="roundRect">
            <a:avLst>
              <a:gd name="adj" fmla="val 8000"/>
            </a:avLst>
          </a:prstGeom>
          <a:solidFill>
            <a:srgbClr val="F0EEEA"/>
          </a:solidFill>
          <a:ln/>
        </p:spPr>
      </p:sp>
      <p:sp>
        <p:nvSpPr>
          <p:cNvPr id="20" name="Shape 18"/>
          <p:cNvSpPr/>
          <p:nvPr/>
        </p:nvSpPr>
        <p:spPr>
          <a:xfrm>
            <a:off x="8318500" y="1968500"/>
            <a:ext cx="7175500" cy="635000"/>
          </a:xfrm>
          <a:prstGeom prst="roundRect">
            <a:avLst>
              <a:gd name="adj" fmla="val 8000"/>
            </a:avLst>
          </a:prstGeom>
          <a:solidFill>
            <a:srgbClr val="D4A574"/>
          </a:solidFill>
          <a:ln/>
        </p:spPr>
      </p:sp>
      <p:sp>
        <p:nvSpPr>
          <p:cNvPr id="21" name="Text 19"/>
          <p:cNvSpPr/>
          <p:nvPr/>
        </p:nvSpPr>
        <p:spPr>
          <a:xfrm>
            <a:off x="8318500" y="1968500"/>
            <a:ext cx="71755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1E293B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SHAP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572500" y="2794000"/>
            <a:ext cx="6667500" cy="393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Mechanism: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Based on cooperative game theory — treats each word as a "player"</a:t>
            </a:r>
            <a:endParaRPr lang="en-US" sz="16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Output: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Calculates exact, fair contribution of every word to the prediction</a:t>
            </a:r>
            <a:endParaRPr lang="en-US" sz="16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Speed: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Consistent and reproducible every time</a:t>
            </a:r>
            <a:endParaRPr lang="en-US" sz="16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Best for:</a:t>
            </a:r>
            <a:r>
              <a:rPr lang="en-US" sz="16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Rigorous feature ranking and scientific reproducibility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62000" y="7175500"/>
            <a:ext cx="14732000" cy="533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/>
        </p:spPr>
      </p:sp>
      <p:sp>
        <p:nvSpPr>
          <p:cNvPr id="24" name="Text 22"/>
          <p:cNvSpPr/>
          <p:nvPr/>
        </p:nvSpPr>
        <p:spPr>
          <a:xfrm>
            <a:off x="1016000" y="7175500"/>
            <a:ext cx="14224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8F7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Both methods are: </a:t>
            </a:r>
            <a:r>
              <a:rPr lang="en-US" sz="1400" b="1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Post-hoc</a:t>
            </a:r>
            <a:r>
              <a:rPr lang="en-US" sz="1400" dirty="0">
                <a:solidFill>
                  <a:srgbClr val="F8F7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· </a:t>
            </a:r>
            <a:r>
              <a:rPr lang="en-US" sz="1400" b="1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Local</a:t>
            </a:r>
            <a:r>
              <a:rPr lang="en-US" sz="1400" dirty="0">
                <a:solidFill>
                  <a:srgbClr val="F8F7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· </a:t>
            </a:r>
            <a:r>
              <a:rPr lang="en-US" sz="1400" b="1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Model-agnostic</a:t>
            </a:r>
            <a:r>
              <a:rPr lang="en-US" sz="1400" dirty="0">
                <a:solidFill>
                  <a:srgbClr val="F8F7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· </a:t>
            </a:r>
            <a:r>
              <a:rPr lang="en-US" sz="1400" b="1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Feature-level attribution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5240000" y="8763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300" dirty="0">
                <a:solidFill>
                  <a:srgbClr val="64748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06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yjazwc5fmm66m/mnt/agents/output/llm_review/images/1_Abstract_digital_technology_particle.png"/>
          <p:cNvPicPr>
            <a:picLocks noChangeAspect="1"/>
          </p:cNvPicPr>
          <p:nvPr/>
        </p:nvPicPr>
        <p:blipFill>
          <a:blip r:embed="rId3"/>
          <a:srcRect t="3175" b="3175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F172A">
                  <a:alpha val="20000"/>
                </a:srgbClr>
              </a:gs>
              <a:gs pos="40000">
                <a:srgbClr val="0F172A">
                  <a:alpha val="80000"/>
                </a:srgbClr>
              </a:gs>
              <a:gs pos="100000">
                <a:srgbClr val="0F172A">
                  <a:alpha val="96000"/>
                </a:srgbClr>
              </a:gs>
            </a:gsLst>
            <a:lin ang="5400000" scaled="1"/>
          </a:gra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6256000" cy="533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324100" y="0"/>
            <a:ext cx="2324100" cy="533400"/>
          </a:xfrm>
          <a:prstGeom prst="rect">
            <a:avLst/>
          </a:prstGeom>
          <a:solidFill>
            <a:srgbClr val="FFFFFF">
              <a:alpha val="8235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2324100" y="495300"/>
            <a:ext cx="23241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8" name="Text 5"/>
          <p:cNvSpPr/>
          <p:nvPr/>
        </p:nvSpPr>
        <p:spPr>
          <a:xfrm>
            <a:off x="23241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6482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9723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2964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3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6205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3944600" y="0"/>
            <a:ext cx="23114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016000" y="3175000"/>
            <a:ext cx="254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6400" b="1" dirty="0">
                <a:solidFill>
                  <a:srgbClr val="D4A57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1016000" y="4318000"/>
            <a:ext cx="7620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6" name="Text 13"/>
          <p:cNvSpPr/>
          <p:nvPr/>
        </p:nvSpPr>
        <p:spPr>
          <a:xfrm>
            <a:off x="1016000" y="4572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F8F7F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Methodology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016000" y="5334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F8F7F4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PRISMA systematic review process and study selection criteria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33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324100" y="0"/>
            <a:ext cx="2324100" cy="533400"/>
          </a:xfrm>
          <a:prstGeom prst="rect">
            <a:avLst/>
          </a:prstGeom>
          <a:solidFill>
            <a:srgbClr val="FFFFFF">
              <a:alpha val="8235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324100" y="495300"/>
            <a:ext cx="23241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6" name="Text 4"/>
          <p:cNvSpPr/>
          <p:nvPr/>
        </p:nvSpPr>
        <p:spPr>
          <a:xfrm>
            <a:off x="23241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482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9723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2964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6205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944600" y="0"/>
            <a:ext cx="23114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62000" y="7366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E293B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Methodology — PRISMA Systematic Review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762000" y="1270000"/>
            <a:ext cx="7620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Text 12"/>
          <p:cNvSpPr/>
          <p:nvPr/>
        </p:nvSpPr>
        <p:spPr>
          <a:xfrm>
            <a:off x="762000" y="1447800"/>
            <a:ext cx="635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How were the 12 studies selected?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2000" y="1968500"/>
            <a:ext cx="2032000" cy="533400"/>
          </a:xfrm>
          <a:prstGeom prst="roundRect">
            <a:avLst>
              <a:gd name="adj" fmla="val 10000"/>
            </a:avLst>
          </a:prstGeom>
          <a:solidFill>
            <a:srgbClr val="5A8A9A"/>
          </a:solidFill>
          <a:ln/>
        </p:spPr>
      </p:sp>
      <p:sp>
        <p:nvSpPr>
          <p:cNvPr id="16" name="Text 14"/>
          <p:cNvSpPr/>
          <p:nvPr/>
        </p:nvSpPr>
        <p:spPr>
          <a:xfrm>
            <a:off x="762000" y="1968500"/>
            <a:ext cx="2032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8F7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IDENTIFY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895600" y="2159000"/>
            <a:ext cx="304800" cy="0"/>
          </a:xfrm>
          <a:prstGeom prst="straightConnector1">
            <a:avLst/>
          </a:prstGeom>
          <a:noFill/>
          <a:ln w="25400">
            <a:solidFill>
              <a:srgbClr val="64748B"/>
            </a:solidFill>
            <a:prstDash val="solid"/>
            <a:headEnd type="none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3327400" y="1905000"/>
            <a:ext cx="12192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250 records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from 4 databases </a:t>
            </a:r>
            <a:r>
              <a:rPr lang="en-US" sz="15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→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68 duplicates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removed </a:t>
            </a:r>
            <a:r>
              <a:rPr lang="en-US" sz="15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→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182 unique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records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2000" y="2794000"/>
            <a:ext cx="2032000" cy="533400"/>
          </a:xfrm>
          <a:prstGeom prst="roundRect">
            <a:avLst>
              <a:gd name="adj" fmla="val 10000"/>
            </a:avLst>
          </a:prstGeom>
          <a:solidFill>
            <a:srgbClr val="5A8A9A"/>
          </a:solidFill>
          <a:ln/>
        </p:spPr>
      </p:sp>
      <p:sp>
        <p:nvSpPr>
          <p:cNvPr id="20" name="Text 18"/>
          <p:cNvSpPr/>
          <p:nvPr/>
        </p:nvSpPr>
        <p:spPr>
          <a:xfrm>
            <a:off x="762000" y="2794000"/>
            <a:ext cx="2032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8F7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SCREEN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895600" y="2984500"/>
            <a:ext cx="304800" cy="0"/>
          </a:xfrm>
          <a:prstGeom prst="straightConnector1">
            <a:avLst/>
          </a:prstGeom>
          <a:noFill/>
          <a:ln w="25400">
            <a:solidFill>
              <a:srgbClr val="64748B"/>
            </a:solidFill>
            <a:prstDash val="solid"/>
            <a:headEnd type="none"/>
            <a:tailEnd type="arrow"/>
          </a:ln>
        </p:spPr>
      </p:sp>
      <p:sp>
        <p:nvSpPr>
          <p:cNvPr id="22" name="Text 20"/>
          <p:cNvSpPr/>
          <p:nvPr/>
        </p:nvSpPr>
        <p:spPr>
          <a:xfrm>
            <a:off x="3327400" y="2730500"/>
            <a:ext cx="12192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182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screened by title &amp; abstract </a:t>
            </a:r>
            <a:r>
              <a:rPr lang="en-US" sz="15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→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126 excluded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(not AGTD, no XAI, pre-2023)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62000" y="3619500"/>
            <a:ext cx="2032000" cy="533400"/>
          </a:xfrm>
          <a:prstGeom prst="roundRect">
            <a:avLst>
              <a:gd name="adj" fmla="val 10000"/>
            </a:avLst>
          </a:prstGeom>
          <a:solidFill>
            <a:srgbClr val="D4A574"/>
          </a:solidFill>
          <a:ln/>
        </p:spPr>
      </p:sp>
      <p:sp>
        <p:nvSpPr>
          <p:cNvPr id="24" name="Text 22"/>
          <p:cNvSpPr/>
          <p:nvPr/>
        </p:nvSpPr>
        <p:spPr>
          <a:xfrm>
            <a:off x="762000" y="3619500"/>
            <a:ext cx="2032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ELIGIBLE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2895600" y="3810000"/>
            <a:ext cx="304800" cy="0"/>
          </a:xfrm>
          <a:prstGeom prst="straightConnector1">
            <a:avLst/>
          </a:prstGeom>
          <a:noFill/>
          <a:ln w="25400">
            <a:solidFill>
              <a:srgbClr val="64748B"/>
            </a:solidFill>
            <a:prstDash val="solid"/>
            <a:headEnd type="none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3327400" y="3556000"/>
            <a:ext cx="12192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56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full texts assessed </a:t>
            </a:r>
            <a:r>
              <a:rPr lang="en-US" sz="15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→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44 excluded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(no formal XAI, small dataset, non-English)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62000" y="4445000"/>
            <a:ext cx="2032000" cy="53340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762000" y="4445000"/>
            <a:ext cx="2032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8F7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INCLUDE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2895600" y="4635500"/>
            <a:ext cx="304800" cy="0"/>
          </a:xfrm>
          <a:prstGeom prst="straightConnector1">
            <a:avLst/>
          </a:prstGeom>
          <a:noFill/>
          <a:ln w="25400">
            <a:solidFill>
              <a:srgbClr val="64748B"/>
            </a:solidFill>
            <a:prstDash val="solid"/>
            <a:headEnd type="none"/>
            <a:tailEnd type="arrow"/>
          </a:ln>
        </p:spPr>
      </p:sp>
      <p:sp>
        <p:nvSpPr>
          <p:cNvPr id="30" name="Text 28"/>
          <p:cNvSpPr/>
          <p:nvPr/>
        </p:nvSpPr>
        <p:spPr>
          <a:xfrm>
            <a:off x="3327400" y="4381500"/>
            <a:ext cx="12192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500" b="1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 studies included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| 2023–2026 | All use LIME or SHAP formally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62000" y="53340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kern="0" spc="2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INCLUSION CRITERIA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62000" y="5715000"/>
            <a:ext cx="14732000" cy="165100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/>
        </p:spPr>
      </p:sp>
      <p:sp>
        <p:nvSpPr>
          <p:cNvPr id="33" name="Shape 31"/>
          <p:cNvSpPr/>
          <p:nvPr/>
        </p:nvSpPr>
        <p:spPr>
          <a:xfrm>
            <a:off x="1287463" y="5969000"/>
            <a:ext cx="244475" cy="279400"/>
          </a:xfrm>
          <a:custGeom>
            <a:avLst/>
            <a:gdLst/>
            <a:ahLst/>
            <a:cxnLst/>
            <a:rect l="l" t="t" r="r" b="b"/>
            <a:pathLst>
              <a:path w="244475" h="279400">
                <a:moveTo>
                  <a:pt x="237272" y="38254"/>
                </a:moveTo>
                <a:cubicBezTo>
                  <a:pt x="245075" y="43929"/>
                  <a:pt x="246822" y="54843"/>
                  <a:pt x="241146" y="62647"/>
                </a:cubicBezTo>
                <a:lnTo>
                  <a:pt x="101446" y="254734"/>
                </a:lnTo>
                <a:cubicBezTo>
                  <a:pt x="98445" y="258882"/>
                  <a:pt x="93806" y="261446"/>
                  <a:pt x="88677" y="261883"/>
                </a:cubicBezTo>
                <a:cubicBezTo>
                  <a:pt x="83547" y="262319"/>
                  <a:pt x="78581" y="260410"/>
                  <a:pt x="74980" y="256808"/>
                </a:cubicBezTo>
                <a:lnTo>
                  <a:pt x="5130" y="186958"/>
                </a:lnTo>
                <a:cubicBezTo>
                  <a:pt x="-1692" y="180137"/>
                  <a:pt x="-1692" y="169059"/>
                  <a:pt x="5130" y="162238"/>
                </a:cubicBezTo>
                <a:cubicBezTo>
                  <a:pt x="11951" y="155416"/>
                  <a:pt x="23029" y="155416"/>
                  <a:pt x="29850" y="162238"/>
                </a:cubicBezTo>
                <a:lnTo>
                  <a:pt x="85239" y="217626"/>
                </a:lnTo>
                <a:lnTo>
                  <a:pt x="212933" y="42074"/>
                </a:lnTo>
                <a:cubicBezTo>
                  <a:pt x="218609" y="34270"/>
                  <a:pt x="229523" y="32524"/>
                  <a:pt x="237326" y="38199"/>
                </a:cubicBezTo>
                <a:close/>
              </a:path>
            </a:pathLst>
          </a:custGeom>
          <a:solidFill>
            <a:srgbClr val="D4A574"/>
          </a:solidFill>
          <a:ln/>
        </p:spPr>
      </p:sp>
      <p:sp>
        <p:nvSpPr>
          <p:cNvPr id="34" name="Text 32"/>
          <p:cNvSpPr/>
          <p:nvPr/>
        </p:nvSpPr>
        <p:spPr>
          <a:xfrm>
            <a:off x="1676400" y="5943600"/>
            <a:ext cx="2032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English language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35463" y="5969000"/>
            <a:ext cx="244475" cy="279400"/>
          </a:xfrm>
          <a:custGeom>
            <a:avLst/>
            <a:gdLst/>
            <a:ahLst/>
            <a:cxnLst/>
            <a:rect l="l" t="t" r="r" b="b"/>
            <a:pathLst>
              <a:path w="244475" h="279400">
                <a:moveTo>
                  <a:pt x="237272" y="38254"/>
                </a:moveTo>
                <a:cubicBezTo>
                  <a:pt x="245075" y="43929"/>
                  <a:pt x="246822" y="54843"/>
                  <a:pt x="241146" y="62647"/>
                </a:cubicBezTo>
                <a:lnTo>
                  <a:pt x="101446" y="254734"/>
                </a:lnTo>
                <a:cubicBezTo>
                  <a:pt x="98445" y="258882"/>
                  <a:pt x="93806" y="261446"/>
                  <a:pt x="88677" y="261883"/>
                </a:cubicBezTo>
                <a:cubicBezTo>
                  <a:pt x="83547" y="262319"/>
                  <a:pt x="78581" y="260410"/>
                  <a:pt x="74980" y="256808"/>
                </a:cubicBezTo>
                <a:lnTo>
                  <a:pt x="5130" y="186958"/>
                </a:lnTo>
                <a:cubicBezTo>
                  <a:pt x="-1692" y="180137"/>
                  <a:pt x="-1692" y="169059"/>
                  <a:pt x="5130" y="162238"/>
                </a:cubicBezTo>
                <a:cubicBezTo>
                  <a:pt x="11951" y="155416"/>
                  <a:pt x="23029" y="155416"/>
                  <a:pt x="29850" y="162238"/>
                </a:cubicBezTo>
                <a:lnTo>
                  <a:pt x="85239" y="217626"/>
                </a:lnTo>
                <a:lnTo>
                  <a:pt x="212933" y="42074"/>
                </a:lnTo>
                <a:cubicBezTo>
                  <a:pt x="218609" y="34270"/>
                  <a:pt x="229523" y="32524"/>
                  <a:pt x="237326" y="38199"/>
                </a:cubicBezTo>
                <a:close/>
              </a:path>
            </a:pathLst>
          </a:custGeom>
          <a:solidFill>
            <a:srgbClr val="D4A574"/>
          </a:solidFill>
          <a:ln/>
        </p:spPr>
      </p:sp>
      <p:sp>
        <p:nvSpPr>
          <p:cNvPr id="36" name="Text 34"/>
          <p:cNvSpPr/>
          <p:nvPr/>
        </p:nvSpPr>
        <p:spPr>
          <a:xfrm>
            <a:off x="4724400" y="59436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Jan 2023 – Mar 2026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891463" y="5969000"/>
            <a:ext cx="244475" cy="279400"/>
          </a:xfrm>
          <a:custGeom>
            <a:avLst/>
            <a:gdLst/>
            <a:ahLst/>
            <a:cxnLst/>
            <a:rect l="l" t="t" r="r" b="b"/>
            <a:pathLst>
              <a:path w="244475" h="279400">
                <a:moveTo>
                  <a:pt x="237272" y="38254"/>
                </a:moveTo>
                <a:cubicBezTo>
                  <a:pt x="245075" y="43929"/>
                  <a:pt x="246822" y="54843"/>
                  <a:pt x="241146" y="62647"/>
                </a:cubicBezTo>
                <a:lnTo>
                  <a:pt x="101446" y="254734"/>
                </a:lnTo>
                <a:cubicBezTo>
                  <a:pt x="98445" y="258882"/>
                  <a:pt x="93806" y="261446"/>
                  <a:pt x="88677" y="261883"/>
                </a:cubicBezTo>
                <a:cubicBezTo>
                  <a:pt x="83547" y="262319"/>
                  <a:pt x="78581" y="260410"/>
                  <a:pt x="74980" y="256808"/>
                </a:cubicBezTo>
                <a:lnTo>
                  <a:pt x="5130" y="186958"/>
                </a:lnTo>
                <a:cubicBezTo>
                  <a:pt x="-1692" y="180137"/>
                  <a:pt x="-1692" y="169059"/>
                  <a:pt x="5130" y="162238"/>
                </a:cubicBezTo>
                <a:cubicBezTo>
                  <a:pt x="11951" y="155416"/>
                  <a:pt x="23029" y="155416"/>
                  <a:pt x="29850" y="162238"/>
                </a:cubicBezTo>
                <a:lnTo>
                  <a:pt x="85239" y="217626"/>
                </a:lnTo>
                <a:lnTo>
                  <a:pt x="212933" y="42074"/>
                </a:lnTo>
                <a:cubicBezTo>
                  <a:pt x="218609" y="34270"/>
                  <a:pt x="229523" y="32524"/>
                  <a:pt x="237326" y="38199"/>
                </a:cubicBezTo>
                <a:close/>
              </a:path>
            </a:pathLst>
          </a:custGeom>
          <a:solidFill>
            <a:srgbClr val="D4A574"/>
          </a:solidFill>
          <a:ln/>
        </p:spPr>
      </p:sp>
      <p:sp>
        <p:nvSpPr>
          <p:cNvPr id="38" name="Text 36"/>
          <p:cNvSpPr/>
          <p:nvPr/>
        </p:nvSpPr>
        <p:spPr>
          <a:xfrm>
            <a:off x="8280400" y="59436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Uses LIME or SHAP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287463" y="6540500"/>
            <a:ext cx="244475" cy="279400"/>
          </a:xfrm>
          <a:custGeom>
            <a:avLst/>
            <a:gdLst/>
            <a:ahLst/>
            <a:cxnLst/>
            <a:rect l="l" t="t" r="r" b="b"/>
            <a:pathLst>
              <a:path w="244475" h="279400">
                <a:moveTo>
                  <a:pt x="237272" y="38254"/>
                </a:moveTo>
                <a:cubicBezTo>
                  <a:pt x="245075" y="43929"/>
                  <a:pt x="246822" y="54843"/>
                  <a:pt x="241146" y="62647"/>
                </a:cubicBezTo>
                <a:lnTo>
                  <a:pt x="101446" y="254734"/>
                </a:lnTo>
                <a:cubicBezTo>
                  <a:pt x="98445" y="258882"/>
                  <a:pt x="93806" y="261446"/>
                  <a:pt x="88677" y="261883"/>
                </a:cubicBezTo>
                <a:cubicBezTo>
                  <a:pt x="83547" y="262319"/>
                  <a:pt x="78581" y="260410"/>
                  <a:pt x="74980" y="256808"/>
                </a:cubicBezTo>
                <a:lnTo>
                  <a:pt x="5130" y="186958"/>
                </a:lnTo>
                <a:cubicBezTo>
                  <a:pt x="-1692" y="180137"/>
                  <a:pt x="-1692" y="169059"/>
                  <a:pt x="5130" y="162238"/>
                </a:cubicBezTo>
                <a:cubicBezTo>
                  <a:pt x="11951" y="155416"/>
                  <a:pt x="23029" y="155416"/>
                  <a:pt x="29850" y="162238"/>
                </a:cubicBezTo>
                <a:lnTo>
                  <a:pt x="85239" y="217626"/>
                </a:lnTo>
                <a:lnTo>
                  <a:pt x="212933" y="42074"/>
                </a:lnTo>
                <a:cubicBezTo>
                  <a:pt x="218609" y="34270"/>
                  <a:pt x="229523" y="32524"/>
                  <a:pt x="237326" y="38199"/>
                </a:cubicBezTo>
                <a:close/>
              </a:path>
            </a:pathLst>
          </a:custGeom>
          <a:solidFill>
            <a:srgbClr val="D4A574"/>
          </a:solidFill>
          <a:ln/>
        </p:spPr>
      </p:sp>
      <p:sp>
        <p:nvSpPr>
          <p:cNvPr id="40" name="Text 38"/>
          <p:cNvSpPr/>
          <p:nvPr/>
        </p:nvSpPr>
        <p:spPr>
          <a:xfrm>
            <a:off x="1676400" y="65151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Dataset ≥ 500 samples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097463" y="6540500"/>
            <a:ext cx="244475" cy="279400"/>
          </a:xfrm>
          <a:custGeom>
            <a:avLst/>
            <a:gdLst/>
            <a:ahLst/>
            <a:cxnLst/>
            <a:rect l="l" t="t" r="r" b="b"/>
            <a:pathLst>
              <a:path w="244475" h="279400">
                <a:moveTo>
                  <a:pt x="237272" y="38254"/>
                </a:moveTo>
                <a:cubicBezTo>
                  <a:pt x="245075" y="43929"/>
                  <a:pt x="246822" y="54843"/>
                  <a:pt x="241146" y="62647"/>
                </a:cubicBezTo>
                <a:lnTo>
                  <a:pt x="101446" y="254734"/>
                </a:lnTo>
                <a:cubicBezTo>
                  <a:pt x="98445" y="258882"/>
                  <a:pt x="93806" y="261446"/>
                  <a:pt x="88677" y="261883"/>
                </a:cubicBezTo>
                <a:cubicBezTo>
                  <a:pt x="83547" y="262319"/>
                  <a:pt x="78581" y="260410"/>
                  <a:pt x="74980" y="256808"/>
                </a:cubicBezTo>
                <a:lnTo>
                  <a:pt x="5130" y="186958"/>
                </a:lnTo>
                <a:cubicBezTo>
                  <a:pt x="-1692" y="180137"/>
                  <a:pt x="-1692" y="169059"/>
                  <a:pt x="5130" y="162238"/>
                </a:cubicBezTo>
                <a:cubicBezTo>
                  <a:pt x="11951" y="155416"/>
                  <a:pt x="23029" y="155416"/>
                  <a:pt x="29850" y="162238"/>
                </a:cubicBezTo>
                <a:lnTo>
                  <a:pt x="85239" y="217626"/>
                </a:lnTo>
                <a:lnTo>
                  <a:pt x="212933" y="42074"/>
                </a:lnTo>
                <a:cubicBezTo>
                  <a:pt x="218609" y="34270"/>
                  <a:pt x="229523" y="32524"/>
                  <a:pt x="237326" y="38199"/>
                </a:cubicBezTo>
                <a:close/>
              </a:path>
            </a:pathLst>
          </a:custGeom>
          <a:solidFill>
            <a:srgbClr val="D4A574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0" y="6515100"/>
            <a:ext cx="3175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Reports Accuracy / F1 / AUC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5240000" y="8763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300" dirty="0">
                <a:solidFill>
                  <a:srgbClr val="64748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08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yjazwc5fmm66m/mnt/agents/output/llm_review/images/3_Digital_technology_particles_wave.png"/>
          <p:cNvPicPr>
            <a:picLocks noChangeAspect="1"/>
          </p:cNvPicPr>
          <p:nvPr/>
        </p:nvPicPr>
        <p:blipFill>
          <a:blip r:embed="rId3"/>
          <a:srcRect t="3175" b="3175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F172A">
                  <a:alpha val="20000"/>
                </a:srgbClr>
              </a:gs>
              <a:gs pos="40000">
                <a:srgbClr val="0F172A">
                  <a:alpha val="80000"/>
                </a:srgbClr>
              </a:gs>
              <a:gs pos="100000">
                <a:srgbClr val="0F172A">
                  <a:alpha val="96000"/>
                </a:srgbClr>
              </a:gs>
            </a:gsLst>
            <a:lin ang="5400000" scaled="1"/>
          </a:gra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6256000" cy="533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23241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648200" y="0"/>
            <a:ext cx="2324100" cy="533400"/>
          </a:xfrm>
          <a:prstGeom prst="rect">
            <a:avLst/>
          </a:prstGeom>
          <a:solidFill>
            <a:srgbClr val="FFFFFF">
              <a:alpha val="8235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4648200" y="495300"/>
            <a:ext cx="23241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9" name="Text 6"/>
          <p:cNvSpPr/>
          <p:nvPr/>
        </p:nvSpPr>
        <p:spPr>
          <a:xfrm>
            <a:off x="46482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9723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2964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3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6205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3944600" y="0"/>
            <a:ext cx="23114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016000" y="3175000"/>
            <a:ext cx="254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6400" b="1" dirty="0">
                <a:solidFill>
                  <a:srgbClr val="D4A57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1016000" y="4318000"/>
            <a:ext cx="7620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6" name="Text 13"/>
          <p:cNvSpPr/>
          <p:nvPr/>
        </p:nvSpPr>
        <p:spPr>
          <a:xfrm>
            <a:off x="1016000" y="4572000"/>
            <a:ext cx="1016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F8F7F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Stylometric &amp; Classical ML Approaches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016000" y="5334000"/>
            <a:ext cx="889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F8F7F4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Handcrafted linguistic features + classical classifiers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33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3241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648200" y="0"/>
            <a:ext cx="2324100" cy="533400"/>
          </a:xfrm>
          <a:prstGeom prst="rect">
            <a:avLst/>
          </a:prstGeom>
          <a:solidFill>
            <a:srgbClr val="FFFFFF">
              <a:alpha val="8235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648200" y="495300"/>
            <a:ext cx="23241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7" name="Text 5"/>
          <p:cNvSpPr/>
          <p:nvPr/>
        </p:nvSpPr>
        <p:spPr>
          <a:xfrm>
            <a:off x="46482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9723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2964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6205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944600" y="0"/>
            <a:ext cx="23114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62000" y="7366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E293B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Stylometric &amp; Classical ML Approaches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762000" y="1270000"/>
            <a:ext cx="7620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Text 12"/>
          <p:cNvSpPr/>
          <p:nvPr/>
        </p:nvSpPr>
        <p:spPr>
          <a:xfrm>
            <a:off x="762000" y="1422400"/>
            <a:ext cx="889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 studies using handcrafted linguistic features + classical classifiers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2000" y="1879600"/>
            <a:ext cx="4699000" cy="3556000"/>
          </a:xfrm>
          <a:prstGeom prst="roundRect">
            <a:avLst>
              <a:gd name="adj" fmla="val 8000"/>
            </a:avLst>
          </a:prstGeom>
          <a:solidFill>
            <a:srgbClr val="F0EEEA"/>
          </a:solidFill>
          <a:ln/>
        </p:spPr>
      </p:sp>
      <p:sp>
        <p:nvSpPr>
          <p:cNvPr id="16" name="Shape 14"/>
          <p:cNvSpPr/>
          <p:nvPr/>
        </p:nvSpPr>
        <p:spPr>
          <a:xfrm>
            <a:off x="762000" y="1879600"/>
            <a:ext cx="4699000" cy="5080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</p:spPr>
      </p:sp>
      <p:sp>
        <p:nvSpPr>
          <p:cNvPr id="17" name="Text 15"/>
          <p:cNvSpPr/>
          <p:nvPr/>
        </p:nvSpPr>
        <p:spPr>
          <a:xfrm>
            <a:off x="762000" y="1879600"/>
            <a:ext cx="4699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F8F7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Shah et al. (2023)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5200" y="2514600"/>
            <a:ext cx="254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b="1" dirty="0">
                <a:solidFill>
                  <a:srgbClr val="5A8A9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XAI: LIME + SHAP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5200" y="2870200"/>
            <a:ext cx="42926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Simpson's Index &amp; punctuation regularity are the </a:t>
            </a: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strongest AI markers</a:t>
            </a: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Both LIME and SHAP agreed — across different mechanisms.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5200" y="4699000"/>
            <a:ext cx="4292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i="1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English general domain only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778500" y="1879600"/>
            <a:ext cx="4699000" cy="3556000"/>
          </a:xfrm>
          <a:prstGeom prst="roundRect">
            <a:avLst>
              <a:gd name="adj" fmla="val 8000"/>
            </a:avLst>
          </a:prstGeom>
          <a:solidFill>
            <a:srgbClr val="F0EEEA"/>
          </a:solidFill>
          <a:ln/>
        </p:spPr>
      </p:sp>
      <p:sp>
        <p:nvSpPr>
          <p:cNvPr id="22" name="Shape 20"/>
          <p:cNvSpPr/>
          <p:nvPr/>
        </p:nvSpPr>
        <p:spPr>
          <a:xfrm>
            <a:off x="5778500" y="1879600"/>
            <a:ext cx="4699000" cy="5080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</p:spPr>
      </p:sp>
      <p:sp>
        <p:nvSpPr>
          <p:cNvPr id="23" name="Text 21"/>
          <p:cNvSpPr/>
          <p:nvPr/>
        </p:nvSpPr>
        <p:spPr>
          <a:xfrm>
            <a:off x="5778500" y="1879600"/>
            <a:ext cx="4699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F8F7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McGovern et al. (2024)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81700" y="2514600"/>
            <a:ext cx="3175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b="1" dirty="0">
                <a:solidFill>
                  <a:srgbClr val="5A8A9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XAI: Attention Visualization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981700" y="2870200"/>
            <a:ext cx="42926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Each LLM has a </a:t>
            </a: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unique stylistic fingerprint</a:t>
            </a: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Consistent POS tag patterns &amp; high-frequency tokens distinguish LLMs from humans.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981700" y="4699000"/>
            <a:ext cx="4292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i="1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formal model-agnostic XAI used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0795000" y="1879600"/>
            <a:ext cx="4699000" cy="3556000"/>
          </a:xfrm>
          <a:prstGeom prst="roundRect">
            <a:avLst>
              <a:gd name="adj" fmla="val 8000"/>
            </a:avLst>
          </a:prstGeom>
          <a:solidFill>
            <a:srgbClr val="F0EEEA"/>
          </a:solidFill>
          <a:ln/>
        </p:spPr>
      </p:sp>
      <p:sp>
        <p:nvSpPr>
          <p:cNvPr id="28" name="Shape 26"/>
          <p:cNvSpPr/>
          <p:nvPr/>
        </p:nvSpPr>
        <p:spPr>
          <a:xfrm>
            <a:off x="10795000" y="1879600"/>
            <a:ext cx="4699000" cy="5080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</p:spPr>
      </p:sp>
      <p:sp>
        <p:nvSpPr>
          <p:cNvPr id="29" name="Text 27"/>
          <p:cNvSpPr/>
          <p:nvPr/>
        </p:nvSpPr>
        <p:spPr>
          <a:xfrm>
            <a:off x="10795000" y="1879600"/>
            <a:ext cx="4699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F8F7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Przystalski et al. (2025)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0998200" y="2514600"/>
            <a:ext cx="3175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200" b="1" dirty="0">
                <a:solidFill>
                  <a:srgbClr val="5A8A9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XAI: SHAP (global + local)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998200" y="2870200"/>
            <a:ext cx="42926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On short texts (&lt;200 words): </a:t>
            </a: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Grammatical standardization has 2× the weight</a:t>
            </a: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of any other feature. LLMs are too grammatically perfect.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0998200" y="4699000"/>
            <a:ext cx="4292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i="1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May not generalize to professional writing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62000" y="5715000"/>
            <a:ext cx="14732000" cy="4572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/>
        </p:spPr>
      </p:sp>
      <p:sp>
        <p:nvSpPr>
          <p:cNvPr id="34" name="Shape 32"/>
          <p:cNvSpPr/>
          <p:nvPr/>
        </p:nvSpPr>
        <p:spPr>
          <a:xfrm>
            <a:off x="1016000" y="57658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288925" y="144463"/>
                </a:moveTo>
                <a:cubicBezTo>
                  <a:pt x="288925" y="176341"/>
                  <a:pt x="278576" y="205790"/>
                  <a:pt x="261144" y="229681"/>
                </a:cubicBezTo>
                <a:lnTo>
                  <a:pt x="349071" y="317679"/>
                </a:lnTo>
                <a:cubicBezTo>
                  <a:pt x="357753" y="326360"/>
                  <a:pt x="357753" y="340459"/>
                  <a:pt x="349071" y="349141"/>
                </a:cubicBezTo>
                <a:cubicBezTo>
                  <a:pt x="340390" y="357823"/>
                  <a:pt x="326291" y="357823"/>
                  <a:pt x="317609" y="349141"/>
                </a:cubicBezTo>
                <a:lnTo>
                  <a:pt x="229681" y="261144"/>
                </a:lnTo>
                <a:cubicBezTo>
                  <a:pt x="205790" y="278576"/>
                  <a:pt x="176341" y="288925"/>
                  <a:pt x="144463" y="288925"/>
                </a:cubicBezTo>
                <a:cubicBezTo>
                  <a:pt x="64661" y="288925"/>
                  <a:pt x="0" y="224264"/>
                  <a:pt x="0" y="144463"/>
                </a:cubicBezTo>
                <a:cubicBezTo>
                  <a:pt x="0" y="64661"/>
                  <a:pt x="64661" y="0"/>
                  <a:pt x="144463" y="0"/>
                </a:cubicBezTo>
                <a:cubicBezTo>
                  <a:pt x="224264" y="0"/>
                  <a:pt x="288925" y="64661"/>
                  <a:pt x="288925" y="144463"/>
                </a:cubicBezTo>
                <a:close/>
                <a:moveTo>
                  <a:pt x="144463" y="244475"/>
                </a:moveTo>
                <a:cubicBezTo>
                  <a:pt x="199661" y="244475"/>
                  <a:pt x="244475" y="199661"/>
                  <a:pt x="244475" y="144463"/>
                </a:cubicBezTo>
                <a:cubicBezTo>
                  <a:pt x="244475" y="89264"/>
                  <a:pt x="199661" y="44450"/>
                  <a:pt x="144463" y="44450"/>
                </a:cubicBezTo>
                <a:cubicBezTo>
                  <a:pt x="89264" y="44450"/>
                  <a:pt x="44450" y="89264"/>
                  <a:pt x="44450" y="144462"/>
                </a:cubicBezTo>
                <a:cubicBezTo>
                  <a:pt x="44450" y="199661"/>
                  <a:pt x="89264" y="244475"/>
                  <a:pt x="144462" y="244475"/>
                </a:cubicBezTo>
                <a:close/>
              </a:path>
            </a:pathLst>
          </a:custGeom>
          <a:solidFill>
            <a:srgbClr val="D4A574"/>
          </a:solidFill>
          <a:ln/>
        </p:spPr>
      </p:sp>
      <p:sp>
        <p:nvSpPr>
          <p:cNvPr id="35" name="Text 33"/>
          <p:cNvSpPr/>
          <p:nvPr/>
        </p:nvSpPr>
        <p:spPr>
          <a:xfrm>
            <a:off x="1498600" y="5715000"/>
            <a:ext cx="1371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Shared finding:</a:t>
            </a:r>
            <a:r>
              <a:rPr lang="en-US" sz="1500" dirty="0">
                <a:solidFill>
                  <a:srgbClr val="F8F7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LLM text is more grammatically regular and lexically predictable than human text — across all 3 studies.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5240000" y="8763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300" dirty="0">
                <a:solidFill>
                  <a:srgbClr val="64748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10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yjazwc5fmm66m/mnt/agents/output/llm_review/images/4_Abstract_Blue_Technology_Wave_Background.png"/>
          <p:cNvPicPr>
            <a:picLocks noChangeAspect="1"/>
          </p:cNvPicPr>
          <p:nvPr/>
        </p:nvPicPr>
        <p:blipFill>
          <a:blip r:embed="rId3"/>
          <a:srcRect l="195" r="195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F172A">
                  <a:alpha val="20000"/>
                </a:srgbClr>
              </a:gs>
              <a:gs pos="40000">
                <a:srgbClr val="0F172A">
                  <a:alpha val="80000"/>
                </a:srgbClr>
              </a:gs>
              <a:gs pos="100000">
                <a:srgbClr val="0F172A">
                  <a:alpha val="96000"/>
                </a:srgbClr>
              </a:gs>
            </a:gsLst>
            <a:lin ang="5400000" scaled="1"/>
          </a:gra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6256000" cy="533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23241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6482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972300" y="0"/>
            <a:ext cx="2324100" cy="533400"/>
          </a:xfrm>
          <a:prstGeom prst="rect">
            <a:avLst/>
          </a:prstGeom>
          <a:solidFill>
            <a:srgbClr val="FFFFFF">
              <a:alpha val="8235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6972300" y="495300"/>
            <a:ext cx="23241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0" name="Text 7"/>
          <p:cNvSpPr/>
          <p:nvPr/>
        </p:nvSpPr>
        <p:spPr>
          <a:xfrm>
            <a:off x="69723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2964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3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6205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3944600" y="0"/>
            <a:ext cx="23114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016000" y="3175000"/>
            <a:ext cx="254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6400" b="1" dirty="0">
                <a:solidFill>
                  <a:srgbClr val="D4A57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04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1016000" y="4318000"/>
            <a:ext cx="7620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6" name="Text 13"/>
          <p:cNvSpPr/>
          <p:nvPr/>
        </p:nvSpPr>
        <p:spPr>
          <a:xfrm>
            <a:off x="1016000" y="4572000"/>
            <a:ext cx="889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F8F7F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Transformer-Based Detection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016000" y="5334000"/>
            <a:ext cx="889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F8F7F4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Fine-tuned transformers — higher accuracy, less interpretable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33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3241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6482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972300" y="0"/>
            <a:ext cx="2324100" cy="533400"/>
          </a:xfrm>
          <a:prstGeom prst="rect">
            <a:avLst/>
          </a:prstGeom>
          <a:solidFill>
            <a:srgbClr val="FFFFFF">
              <a:alpha val="8235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972300" y="495300"/>
            <a:ext cx="23241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8" name="Text 6"/>
          <p:cNvSpPr/>
          <p:nvPr/>
        </p:nvSpPr>
        <p:spPr>
          <a:xfrm>
            <a:off x="69723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2964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6205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944600" y="0"/>
            <a:ext cx="23114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62000" y="7366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E293B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Transformer-Based Detection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762000" y="1270000"/>
            <a:ext cx="7620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Text 12"/>
          <p:cNvSpPr/>
          <p:nvPr/>
        </p:nvSpPr>
        <p:spPr>
          <a:xfrm>
            <a:off x="762000" y="1422400"/>
            <a:ext cx="1016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 studies using fine-tuned transformer models (RoBERTa, DistilBERT, BERT)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2000" y="1879600"/>
            <a:ext cx="7175500" cy="146050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/>
        </p:spPr>
      </p:sp>
      <p:sp>
        <p:nvSpPr>
          <p:cNvPr id="16" name="Shape 14"/>
          <p:cNvSpPr/>
          <p:nvPr/>
        </p:nvSpPr>
        <p:spPr>
          <a:xfrm>
            <a:off x="762000" y="1879600"/>
            <a:ext cx="63500" cy="1460500"/>
          </a:xfrm>
          <a:prstGeom prst="rect">
            <a:avLst/>
          </a:prstGeom>
          <a:solidFill>
            <a:srgbClr val="5A8A9A"/>
          </a:solidFill>
          <a:ln/>
        </p:spPr>
      </p:sp>
      <p:sp>
        <p:nvSpPr>
          <p:cNvPr id="17" name="Text 15"/>
          <p:cNvSpPr/>
          <p:nvPr/>
        </p:nvSpPr>
        <p:spPr>
          <a:xfrm>
            <a:off x="1016000" y="1955800"/>
            <a:ext cx="4445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Mitrovic et al. (2023)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588000" y="1955800"/>
            <a:ext cx="1270000" cy="304800"/>
          </a:xfrm>
          <a:prstGeom prst="roundRect">
            <a:avLst>
              <a:gd name="adj" fmla="val 12000"/>
            </a:avLst>
          </a:prstGeom>
          <a:solidFill>
            <a:srgbClr val="E8F4F0"/>
          </a:solidFill>
          <a:ln/>
        </p:spPr>
      </p:sp>
      <p:sp>
        <p:nvSpPr>
          <p:cNvPr id="19" name="Text 17"/>
          <p:cNvSpPr/>
          <p:nvPr/>
        </p:nvSpPr>
        <p:spPr>
          <a:xfrm>
            <a:off x="5588000" y="1955800"/>
            <a:ext cx="127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5A8A9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~84% Acc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16000" y="2362200"/>
            <a:ext cx="66675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ChatGPT reviews overuse superlatives ("exceptional", "outstanding"). Human reviews are idiosyncratic and hedged.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318500" y="1879600"/>
            <a:ext cx="7175500" cy="146050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/>
        </p:spPr>
      </p:sp>
      <p:sp>
        <p:nvSpPr>
          <p:cNvPr id="22" name="Shape 20"/>
          <p:cNvSpPr/>
          <p:nvPr/>
        </p:nvSpPr>
        <p:spPr>
          <a:xfrm>
            <a:off x="8318500" y="1879600"/>
            <a:ext cx="63500" cy="1460500"/>
          </a:xfrm>
          <a:prstGeom prst="rect">
            <a:avLst/>
          </a:prstGeom>
          <a:solidFill>
            <a:srgbClr val="5A8A9A"/>
          </a:solidFill>
          <a:ln/>
        </p:spPr>
      </p:sp>
      <p:sp>
        <p:nvSpPr>
          <p:cNvPr id="23" name="Text 21"/>
          <p:cNvSpPr/>
          <p:nvPr/>
        </p:nvSpPr>
        <p:spPr>
          <a:xfrm>
            <a:off x="8572500" y="1955800"/>
            <a:ext cx="4445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Joshi et al. — HULLMI (2024)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3208000" y="1955800"/>
            <a:ext cx="1270000" cy="304800"/>
          </a:xfrm>
          <a:prstGeom prst="roundRect">
            <a:avLst>
              <a:gd name="adj" fmla="val 12000"/>
            </a:avLst>
          </a:prstGeom>
          <a:solidFill>
            <a:srgbClr val="E8F4F0"/>
          </a:solidFill>
          <a:ln/>
        </p:spPr>
      </p:sp>
      <p:sp>
        <p:nvSpPr>
          <p:cNvPr id="25" name="Text 23"/>
          <p:cNvSpPr/>
          <p:nvPr/>
        </p:nvSpPr>
        <p:spPr>
          <a:xfrm>
            <a:off x="13208000" y="1955800"/>
            <a:ext cx="127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5A8A9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~91% Acc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572500" y="2362200"/>
            <a:ext cx="66675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RoBERTa-Sentinel is best. Adding LIME does </a:t>
            </a: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</a:t>
            </a: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reduce accuracy — explainability and accuracy are complementary.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62000" y="3556000"/>
            <a:ext cx="7175500" cy="146050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/>
        </p:spPr>
      </p:sp>
      <p:sp>
        <p:nvSpPr>
          <p:cNvPr id="28" name="Shape 26"/>
          <p:cNvSpPr/>
          <p:nvPr/>
        </p:nvSpPr>
        <p:spPr>
          <a:xfrm>
            <a:off x="762000" y="3556000"/>
            <a:ext cx="63500" cy="1460500"/>
          </a:xfrm>
          <a:prstGeom prst="rect">
            <a:avLst/>
          </a:prstGeom>
          <a:solidFill>
            <a:srgbClr val="5A8A9A"/>
          </a:solidFill>
          <a:ln/>
        </p:spPr>
      </p:sp>
      <p:sp>
        <p:nvSpPr>
          <p:cNvPr id="29" name="Text 27"/>
          <p:cNvSpPr/>
          <p:nvPr/>
        </p:nvSpPr>
        <p:spPr>
          <a:xfrm>
            <a:off x="1016000" y="3632200"/>
            <a:ext cx="4445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Masih et al. (2025)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588000" y="3632200"/>
            <a:ext cx="1270000" cy="304800"/>
          </a:xfrm>
          <a:prstGeom prst="roundRect">
            <a:avLst>
              <a:gd name="adj" fmla="val 12000"/>
            </a:avLst>
          </a:prstGeom>
          <a:solidFill>
            <a:srgbClr val="E8F4F0"/>
          </a:solidFill>
          <a:ln/>
        </p:spPr>
      </p:sp>
      <p:sp>
        <p:nvSpPr>
          <p:cNvPr id="31" name="Text 29"/>
          <p:cNvSpPr/>
          <p:nvPr/>
        </p:nvSpPr>
        <p:spPr>
          <a:xfrm>
            <a:off x="5588000" y="3632200"/>
            <a:ext cx="127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5A8A9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~89% Acc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016000" y="4038600"/>
            <a:ext cx="66675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SHAP is more stable than LIME across runs. Both can expose when a model is </a:t>
            </a: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correct for the wrong reasons</a:t>
            </a: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8318500" y="3556000"/>
            <a:ext cx="7175500" cy="1460500"/>
          </a:xfrm>
          <a:prstGeom prst="roundRect">
            <a:avLst>
              <a:gd name="adj" fmla="val 6000"/>
            </a:avLst>
          </a:prstGeom>
          <a:solidFill>
            <a:srgbClr val="FDF2E9"/>
          </a:solidFill>
          <a:ln/>
        </p:spPr>
      </p:sp>
      <p:sp>
        <p:nvSpPr>
          <p:cNvPr id="34" name="Shape 32"/>
          <p:cNvSpPr/>
          <p:nvPr/>
        </p:nvSpPr>
        <p:spPr>
          <a:xfrm>
            <a:off x="8318500" y="3556000"/>
            <a:ext cx="63500" cy="14605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5" name="Shape 33"/>
          <p:cNvSpPr/>
          <p:nvPr/>
        </p:nvSpPr>
        <p:spPr>
          <a:xfrm>
            <a:off x="8572500" y="36830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cubicBezTo>
                  <a:pt x="134293" y="0"/>
                  <a:pt x="140990" y="4018"/>
                  <a:pt x="144463" y="10418"/>
                </a:cubicBezTo>
                <a:lnTo>
                  <a:pt x="251619" y="208855"/>
                </a:lnTo>
                <a:cubicBezTo>
                  <a:pt x="254943" y="215007"/>
                  <a:pt x="254794" y="222448"/>
                  <a:pt x="251222" y="228451"/>
                </a:cubicBezTo>
                <a:cubicBezTo>
                  <a:pt x="247650" y="234454"/>
                  <a:pt x="241151" y="238125"/>
                  <a:pt x="234156" y="238125"/>
                </a:cubicBezTo>
                <a:lnTo>
                  <a:pt x="19844" y="238125"/>
                </a:lnTo>
                <a:cubicBezTo>
                  <a:pt x="12849" y="238125"/>
                  <a:pt x="6400" y="234454"/>
                  <a:pt x="2778" y="228451"/>
                </a:cubicBezTo>
                <a:cubicBezTo>
                  <a:pt x="-843" y="222448"/>
                  <a:pt x="-943" y="215007"/>
                  <a:pt x="2381" y="208855"/>
                </a:cubicBezTo>
                <a:lnTo>
                  <a:pt x="109538" y="10418"/>
                </a:lnTo>
                <a:cubicBezTo>
                  <a:pt x="113010" y="4018"/>
                  <a:pt x="119707" y="0"/>
                  <a:pt x="127000" y="0"/>
                </a:cubicBezTo>
                <a:close/>
                <a:moveTo>
                  <a:pt x="127000" y="83344"/>
                </a:moveTo>
                <a:cubicBezTo>
                  <a:pt x="120402" y="83344"/>
                  <a:pt x="115094" y="88652"/>
                  <a:pt x="115094" y="95250"/>
                </a:cubicBezTo>
                <a:lnTo>
                  <a:pt x="115094" y="150813"/>
                </a:lnTo>
                <a:cubicBezTo>
                  <a:pt x="115094" y="157411"/>
                  <a:pt x="120402" y="162719"/>
                  <a:pt x="127000" y="162719"/>
                </a:cubicBezTo>
                <a:cubicBezTo>
                  <a:pt x="133598" y="162719"/>
                  <a:pt x="138906" y="157411"/>
                  <a:pt x="138906" y="150813"/>
                </a:cubicBezTo>
                <a:lnTo>
                  <a:pt x="138906" y="95250"/>
                </a:lnTo>
                <a:cubicBezTo>
                  <a:pt x="138906" y="88652"/>
                  <a:pt x="133598" y="83344"/>
                  <a:pt x="127000" y="83344"/>
                </a:cubicBezTo>
                <a:close/>
                <a:moveTo>
                  <a:pt x="140246" y="190500"/>
                </a:moveTo>
                <a:cubicBezTo>
                  <a:pt x="140547" y="185583"/>
                  <a:pt x="138095" y="180906"/>
                  <a:pt x="133880" y="178356"/>
                </a:cubicBezTo>
                <a:cubicBezTo>
                  <a:pt x="129666" y="175807"/>
                  <a:pt x="124384" y="175807"/>
                  <a:pt x="120169" y="178356"/>
                </a:cubicBezTo>
                <a:cubicBezTo>
                  <a:pt x="115955" y="180906"/>
                  <a:pt x="113503" y="185583"/>
                  <a:pt x="113804" y="190500"/>
                </a:cubicBezTo>
                <a:cubicBezTo>
                  <a:pt x="113503" y="195417"/>
                  <a:pt x="115955" y="200094"/>
                  <a:pt x="120169" y="202644"/>
                </a:cubicBezTo>
                <a:cubicBezTo>
                  <a:pt x="124384" y="205193"/>
                  <a:pt x="129666" y="205193"/>
                  <a:pt x="133880" y="202644"/>
                </a:cubicBezTo>
                <a:cubicBezTo>
                  <a:pt x="138095" y="200094"/>
                  <a:pt x="140547" y="195417"/>
                  <a:pt x="140246" y="190500"/>
                </a:cubicBezTo>
                <a:close/>
              </a:path>
            </a:pathLst>
          </a:custGeom>
          <a:solidFill>
            <a:srgbClr val="C0392B"/>
          </a:solidFill>
          <a:ln/>
        </p:spPr>
      </p:sp>
      <p:sp>
        <p:nvSpPr>
          <p:cNvPr id="36" name="Text 34"/>
          <p:cNvSpPr/>
          <p:nvPr/>
        </p:nvSpPr>
        <p:spPr>
          <a:xfrm>
            <a:off x="8915400" y="3632200"/>
            <a:ext cx="635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C0392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Mohammadi et al. (2025)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72500" y="4038600"/>
            <a:ext cx="66675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Adversarial Paradox:</a:t>
            </a: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XAI explanations tell attackers exactly which words to replace. Drops accuracy by </a:t>
            </a: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20–35%</a:t>
            </a: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62000" y="5308600"/>
            <a:ext cx="14732000" cy="4572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/>
        </p:spPr>
      </p:sp>
      <p:sp>
        <p:nvSpPr>
          <p:cNvPr id="39" name="Text 37"/>
          <p:cNvSpPr/>
          <p:nvPr/>
        </p:nvSpPr>
        <p:spPr>
          <a:xfrm>
            <a:off x="1016000" y="5308600"/>
            <a:ext cx="1422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Takeaway:</a:t>
            </a:r>
            <a:r>
              <a:rPr lang="en-US" sz="1500" dirty="0">
                <a:solidFill>
                  <a:srgbClr val="F8F7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Higher accuracy comes with adversarial vulnerability — the transparency-robustness trade-off remains unresolved.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15240000" y="8763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300" dirty="0">
                <a:solidFill>
                  <a:srgbClr val="64748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12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yjazwc5fmm66m/mnt/agents/output/llm_review/images/6_abstract_wave_flow_line_motion_pattern.png"/>
          <p:cNvPicPr>
            <a:picLocks noChangeAspect="1"/>
          </p:cNvPicPr>
          <p:nvPr/>
        </p:nvPicPr>
        <p:blipFill>
          <a:blip r:embed="rId3"/>
          <a:srcRect l="12639" r="12639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F172A">
                  <a:alpha val="20000"/>
                </a:srgbClr>
              </a:gs>
              <a:gs pos="40000">
                <a:srgbClr val="0F172A">
                  <a:alpha val="80000"/>
                </a:srgbClr>
              </a:gs>
              <a:gs pos="100000">
                <a:srgbClr val="0F172A">
                  <a:alpha val="96000"/>
                </a:srgbClr>
              </a:gs>
            </a:gsLst>
            <a:lin ang="5400000" scaled="1"/>
          </a:gra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6256000" cy="533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2"/>
          <p:cNvSpPr/>
          <p:nvPr/>
        </p:nvSpPr>
        <p:spPr>
          <a:xfrm>
            <a:off x="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23241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6482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9723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2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9296400" y="0"/>
            <a:ext cx="2324100" cy="533400"/>
          </a:xfrm>
          <a:prstGeom prst="rect">
            <a:avLst/>
          </a:prstGeom>
          <a:solidFill>
            <a:srgbClr val="FFFFFF">
              <a:alpha val="8235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9296400" y="495300"/>
            <a:ext cx="23241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1" name="Text 8"/>
          <p:cNvSpPr/>
          <p:nvPr/>
        </p:nvSpPr>
        <p:spPr>
          <a:xfrm>
            <a:off x="92964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3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6205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3944600" y="0"/>
            <a:ext cx="23114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016000" y="3175000"/>
            <a:ext cx="254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6400" b="1" dirty="0">
                <a:solidFill>
                  <a:srgbClr val="D4A57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05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1016000" y="4318000"/>
            <a:ext cx="7620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6" name="Text 13"/>
          <p:cNvSpPr/>
          <p:nvPr/>
        </p:nvSpPr>
        <p:spPr>
          <a:xfrm>
            <a:off x="1016000" y="4572000"/>
            <a:ext cx="1016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F8F7F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Multi-Label &amp; Generalization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016000" y="5334000"/>
            <a:ext cx="889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rgbClr val="F8F7F4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Beyond "is it AI?" to "which AI wrote this?"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33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3241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6482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9723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2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296400" y="0"/>
            <a:ext cx="2324100" cy="533400"/>
          </a:xfrm>
          <a:prstGeom prst="rect">
            <a:avLst/>
          </a:prstGeom>
          <a:solidFill>
            <a:srgbClr val="FFFFFF">
              <a:alpha val="8235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296400" y="495300"/>
            <a:ext cx="23241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9" name="Text 7"/>
          <p:cNvSpPr/>
          <p:nvPr/>
        </p:nvSpPr>
        <p:spPr>
          <a:xfrm>
            <a:off x="92964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6205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944600" y="0"/>
            <a:ext cx="23114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62000" y="7366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E293B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Multi-Label Attribution &amp; Domain Generalization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762000" y="1270000"/>
            <a:ext cx="7620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Text 12"/>
          <p:cNvSpPr/>
          <p:nvPr/>
        </p:nvSpPr>
        <p:spPr>
          <a:xfrm>
            <a:off x="762000" y="1422400"/>
            <a:ext cx="889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 studies on multi-label attribution and cross-domain detection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2000" y="1879600"/>
            <a:ext cx="63500" cy="10160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6" name="Shape 14"/>
          <p:cNvSpPr/>
          <p:nvPr/>
        </p:nvSpPr>
        <p:spPr>
          <a:xfrm>
            <a:off x="825500" y="1879600"/>
            <a:ext cx="14668500" cy="1016000"/>
          </a:xfrm>
          <a:prstGeom prst="roundRect">
            <a:avLst>
              <a:gd name="adj" fmla="val 4000"/>
            </a:avLst>
          </a:prstGeom>
          <a:solidFill>
            <a:srgbClr val="F0EEEA"/>
          </a:solidFill>
          <a:ln/>
        </p:spPr>
      </p:sp>
      <p:sp>
        <p:nvSpPr>
          <p:cNvPr id="17" name="Text 15"/>
          <p:cNvSpPr/>
          <p:nvPr/>
        </p:nvSpPr>
        <p:spPr>
          <a:xfrm>
            <a:off x="1041400" y="19304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Adilazuarda et al. (2023)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41400" y="2286000"/>
            <a:ext cx="14097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single paradigm wins across all domains. Transformers lead on single-domain; stylometry generalizes more stably cross-domain.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2000" y="3073400"/>
            <a:ext cx="63500" cy="10160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0" name="Shape 18"/>
          <p:cNvSpPr/>
          <p:nvPr/>
        </p:nvSpPr>
        <p:spPr>
          <a:xfrm>
            <a:off x="825500" y="3073400"/>
            <a:ext cx="14668500" cy="1016000"/>
          </a:xfrm>
          <a:prstGeom prst="roundRect">
            <a:avLst>
              <a:gd name="adj" fmla="val 4000"/>
            </a:avLst>
          </a:prstGeom>
          <a:solidFill>
            <a:srgbClr val="F0EEEA"/>
          </a:solidFill>
          <a:ln/>
        </p:spPr>
      </p:sp>
      <p:sp>
        <p:nvSpPr>
          <p:cNvPr id="21" name="Text 19"/>
          <p:cNvSpPr/>
          <p:nvPr/>
        </p:nvSpPr>
        <p:spPr>
          <a:xfrm>
            <a:off x="1041400" y="31242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Najjar et al. (2025)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41400" y="3479800"/>
            <a:ext cx="14097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 profiles create LLM fingerprints. Claude outputs are the hardest to detect — most similar to human writing stylistically.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62000" y="4267200"/>
            <a:ext cx="63500" cy="10160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4" name="Shape 22"/>
          <p:cNvSpPr/>
          <p:nvPr/>
        </p:nvSpPr>
        <p:spPr>
          <a:xfrm>
            <a:off x="825500" y="4267200"/>
            <a:ext cx="14668500" cy="1016000"/>
          </a:xfrm>
          <a:prstGeom prst="roundRect">
            <a:avLst>
              <a:gd name="adj" fmla="val 4000"/>
            </a:avLst>
          </a:prstGeom>
          <a:solidFill>
            <a:srgbClr val="F0EEEA"/>
          </a:solidFill>
          <a:ln/>
        </p:spPr>
      </p:sp>
      <p:sp>
        <p:nvSpPr>
          <p:cNvPr id="25" name="Text 23"/>
          <p:cNvSpPr/>
          <p:nvPr/>
        </p:nvSpPr>
        <p:spPr>
          <a:xfrm>
            <a:off x="1041400" y="43180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Zahraa et al. (2025)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41400" y="4673600"/>
            <a:ext cx="14097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Multi-label pipeline: SHAP distinguishes GPT-4 vs. Llama by syntactic complexity and hedging frequency.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62000" y="5461000"/>
            <a:ext cx="63500" cy="10160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8" name="Shape 26"/>
          <p:cNvSpPr/>
          <p:nvPr/>
        </p:nvSpPr>
        <p:spPr>
          <a:xfrm>
            <a:off x="825500" y="5461000"/>
            <a:ext cx="14668500" cy="1016000"/>
          </a:xfrm>
          <a:prstGeom prst="roundRect">
            <a:avLst>
              <a:gd name="adj" fmla="val 4000"/>
            </a:avLst>
          </a:prstGeom>
          <a:solidFill>
            <a:srgbClr val="F0EEEA"/>
          </a:solidFill>
          <a:ln/>
        </p:spPr>
      </p:sp>
      <p:sp>
        <p:nvSpPr>
          <p:cNvPr id="29" name="Text 27"/>
          <p:cNvSpPr/>
          <p:nvPr/>
        </p:nvSpPr>
        <p:spPr>
          <a:xfrm>
            <a:off x="1041400" y="55118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Baharifar et al. (2025)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041400" y="5867400"/>
            <a:ext cx="14097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Medical domain: AI misinformation detected by overconfident assertions and missing hedging ("may", "suggests").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62000" y="6654800"/>
            <a:ext cx="63500" cy="10160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2" name="Shape 30"/>
          <p:cNvSpPr/>
          <p:nvPr/>
        </p:nvSpPr>
        <p:spPr>
          <a:xfrm>
            <a:off x="825500" y="6654800"/>
            <a:ext cx="14668500" cy="1016000"/>
          </a:xfrm>
          <a:prstGeom prst="roundRect">
            <a:avLst>
              <a:gd name="adj" fmla="val 4000"/>
            </a:avLst>
          </a:prstGeom>
          <a:solidFill>
            <a:srgbClr val="F0EEEA"/>
          </a:solidFill>
          <a:ln/>
        </p:spPr>
      </p:sp>
      <p:sp>
        <p:nvSpPr>
          <p:cNvPr id="33" name="Text 31"/>
          <p:cNvSpPr/>
          <p:nvPr/>
        </p:nvSpPr>
        <p:spPr>
          <a:xfrm>
            <a:off x="1041400" y="6705600"/>
            <a:ext cx="381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Iqbal &amp; Kashem (2025)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041400" y="7061200"/>
            <a:ext cx="14097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Scalable ensemble framework — cheaper than transformers, suitable for resource-limited institutions.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5240000" y="8763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300" dirty="0">
                <a:solidFill>
                  <a:srgbClr val="64748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14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33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3241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6482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9723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2964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1620500" y="0"/>
            <a:ext cx="2324100" cy="533400"/>
          </a:xfrm>
          <a:prstGeom prst="rect">
            <a:avLst/>
          </a:prstGeom>
          <a:solidFill>
            <a:srgbClr val="FFFFFF">
              <a:alpha val="8235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620500" y="495300"/>
            <a:ext cx="23241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0" name="Text 8"/>
          <p:cNvSpPr/>
          <p:nvPr/>
        </p:nvSpPr>
        <p:spPr>
          <a:xfrm>
            <a:off x="116205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944600" y="0"/>
            <a:ext cx="23114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62000" y="7366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E293B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Key Finding — What Makes LLM Text Detectable?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762000" y="1270000"/>
            <a:ext cx="7620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Text 12"/>
          <p:cNvSpPr/>
          <p:nvPr/>
        </p:nvSpPr>
        <p:spPr>
          <a:xfrm>
            <a:off x="762000" y="1422400"/>
            <a:ext cx="1143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LIME and SHAP agree on these 7 features across ALL 12 studies and ALL 3 paradigms: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879600"/>
          <a:ext cx="14732000" cy="5080000"/>
        </p:xfrm>
        <a:graphic>
          <a:graphicData uri="http://schemas.openxmlformats.org/drawingml/2006/table">
            <a:tbl>
              <a:tblPr/>
              <a:tblGrid>
                <a:gridCol w="4124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2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F8F7F4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Feature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F8F7F4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What It Means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b="1" u="none" dirty="0">
                          <a:solidFill>
                            <a:srgbClr val="F8F7F4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Paradigm Found In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04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D4A574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Grammatical standardization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LLMs are too grammatically perfect — humans make natural errors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D4A574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#1 — ALL 3 paradigms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04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Formulaic transitional phrases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LLMs overuse "Furthermore", "In conclusion", "It is worth noting"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Stylometric + Transformer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04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Low lexical entropy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LLM vocabulary is very predictable — stays in safe common words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Stylometric + Ensemble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04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Superlatives &amp; assertive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LLMs say "exceptional", "outstanding" — humans say "pretty good"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Transformer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04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Absence of epistemic hedging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LLMs skip "may", "suggests" — sound too certain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Multi-label + Domain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04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POS tag anomalies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LLMs overuse adjective-noun pairs and passive voice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Stylometric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Discourse over-smoothing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LLM essays are too smooth, too well-organized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50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Transformer + Multi-label</a:t>
                      </a:r>
                      <a:endParaRPr lang="en-US" sz="15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8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5" name="Shape 13"/>
          <p:cNvSpPr/>
          <p:nvPr/>
        </p:nvSpPr>
        <p:spPr>
          <a:xfrm>
            <a:off x="762000" y="7213600"/>
            <a:ext cx="14732000" cy="4572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/>
        </p:spPr>
      </p:sp>
      <p:sp>
        <p:nvSpPr>
          <p:cNvPr id="17" name="Text 14"/>
          <p:cNvSpPr/>
          <p:nvPr/>
        </p:nvSpPr>
        <p:spPr>
          <a:xfrm>
            <a:off x="1016000" y="7213600"/>
            <a:ext cx="1422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Convergent Validity:</a:t>
            </a:r>
            <a:r>
              <a:rPr lang="en-US" sz="1500" dirty="0">
                <a:solidFill>
                  <a:srgbClr val="F8F7F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These 7 features are genuine, stable properties of AI-generated prose — confirmed across all paradigms.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5240000" y="8763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300" dirty="0">
                <a:solidFill>
                  <a:srgbClr val="64748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15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33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3241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6482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9723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2964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1620500" y="0"/>
            <a:ext cx="2324100" cy="533400"/>
          </a:xfrm>
          <a:prstGeom prst="rect">
            <a:avLst/>
          </a:prstGeom>
          <a:solidFill>
            <a:srgbClr val="FFFFFF">
              <a:alpha val="8235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620500" y="495300"/>
            <a:ext cx="23241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0" name="Text 8"/>
          <p:cNvSpPr/>
          <p:nvPr/>
        </p:nvSpPr>
        <p:spPr>
          <a:xfrm>
            <a:off x="116205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944600" y="0"/>
            <a:ext cx="23114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62000" y="7366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E293B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5 Research Gaps — What Still Needs to be Solved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762000" y="1270000"/>
            <a:ext cx="7620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Shape 12"/>
          <p:cNvSpPr/>
          <p:nvPr/>
        </p:nvSpPr>
        <p:spPr>
          <a:xfrm>
            <a:off x="762000" y="1524000"/>
            <a:ext cx="508000" cy="508000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/>
        </p:spPr>
      </p:sp>
      <p:sp>
        <p:nvSpPr>
          <p:cNvPr id="15" name="Text 13"/>
          <p:cNvSpPr/>
          <p:nvPr/>
        </p:nvSpPr>
        <p:spPr>
          <a:xfrm>
            <a:off x="762000" y="1524000"/>
            <a:ext cx="508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F8F7F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22400" y="1524000"/>
            <a:ext cx="4445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7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Adversarial Robustness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422400" y="1930400"/>
            <a:ext cx="1143000" cy="254000"/>
          </a:xfrm>
          <a:prstGeom prst="roundRect">
            <a:avLst>
              <a:gd name="adj" fmla="val 12000"/>
            </a:avLst>
          </a:prstGeom>
          <a:solidFill>
            <a:srgbClr val="F5E0E0"/>
          </a:solidFill>
          <a:ln/>
        </p:spPr>
      </p:sp>
      <p:sp>
        <p:nvSpPr>
          <p:cNvPr id="18" name="Text 16"/>
          <p:cNvSpPr/>
          <p:nvPr/>
        </p:nvSpPr>
        <p:spPr>
          <a:xfrm>
            <a:off x="1422400" y="1930400"/>
            <a:ext cx="1143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C0392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CRITICAL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62000" y="2286000"/>
            <a:ext cx="711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XAI-guided token replacement drops accuracy by 20–35%. No system is simultaneously interpretable AND robust.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382000" y="1524000"/>
            <a:ext cx="508000" cy="508000"/>
          </a:xfrm>
          <a:prstGeom prst="roundRect">
            <a:avLst>
              <a:gd name="adj" fmla="val 10000"/>
            </a:avLst>
          </a:prstGeom>
          <a:solidFill>
            <a:srgbClr val="E67E22"/>
          </a:solidFill>
          <a:ln/>
        </p:spPr>
      </p:sp>
      <p:sp>
        <p:nvSpPr>
          <p:cNvPr id="21" name="Text 19"/>
          <p:cNvSpPr/>
          <p:nvPr/>
        </p:nvSpPr>
        <p:spPr>
          <a:xfrm>
            <a:off x="8382000" y="1524000"/>
            <a:ext cx="508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F8F7F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42400" y="15240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7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Standardized XAI Evaluation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9042400" y="1930400"/>
            <a:ext cx="889000" cy="254000"/>
          </a:xfrm>
          <a:prstGeom prst="roundRect">
            <a:avLst>
              <a:gd name="adj" fmla="val 12000"/>
            </a:avLst>
          </a:prstGeom>
          <a:solidFill>
            <a:srgbClr val="FDEBD0"/>
          </a:solidFill>
          <a:ln/>
        </p:spPr>
      </p:sp>
      <p:sp>
        <p:nvSpPr>
          <p:cNvPr id="24" name="Text 22"/>
          <p:cNvSpPr/>
          <p:nvPr/>
        </p:nvSpPr>
        <p:spPr>
          <a:xfrm>
            <a:off x="9042400" y="1930400"/>
            <a:ext cx="88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E67E2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82000" y="2286000"/>
            <a:ext cx="711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benchmark to measure if an explanation is faithful, stable, or actually helpful. "Explainable" is still qualitative.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62000" y="3276600"/>
            <a:ext cx="508000" cy="508000"/>
          </a:xfrm>
          <a:prstGeom prst="roundRect">
            <a:avLst>
              <a:gd name="adj" fmla="val 10000"/>
            </a:avLst>
          </a:prstGeom>
          <a:solidFill>
            <a:srgbClr val="E67E22"/>
          </a:solidFill>
          <a:ln/>
        </p:spPr>
      </p:sp>
      <p:sp>
        <p:nvSpPr>
          <p:cNvPr id="27" name="Text 25"/>
          <p:cNvSpPr/>
          <p:nvPr/>
        </p:nvSpPr>
        <p:spPr>
          <a:xfrm>
            <a:off x="762000" y="3276600"/>
            <a:ext cx="508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F8F7F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22400" y="32766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7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Fairness for Non-Native Writers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422400" y="3683000"/>
            <a:ext cx="889000" cy="254000"/>
          </a:xfrm>
          <a:prstGeom prst="roundRect">
            <a:avLst>
              <a:gd name="adj" fmla="val 12000"/>
            </a:avLst>
          </a:prstGeom>
          <a:solidFill>
            <a:srgbClr val="FDEBD0"/>
          </a:solidFill>
          <a:ln/>
        </p:spPr>
      </p:sp>
      <p:sp>
        <p:nvSpPr>
          <p:cNvPr id="30" name="Text 28"/>
          <p:cNvSpPr/>
          <p:nvPr/>
        </p:nvSpPr>
        <p:spPr>
          <a:xfrm>
            <a:off x="1422400" y="3683000"/>
            <a:ext cx="88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E67E2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62000" y="4038600"/>
            <a:ext cx="711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Grammatical regularity also characterizes non-native speakers. These writers may be falsely flagged as AI. Untested.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382000" y="3276600"/>
            <a:ext cx="508000" cy="508000"/>
          </a:xfrm>
          <a:prstGeom prst="roundRect">
            <a:avLst>
              <a:gd name="adj" fmla="val 10000"/>
            </a:avLst>
          </a:prstGeom>
          <a:solidFill>
            <a:srgbClr val="E67E22"/>
          </a:solidFill>
          <a:ln/>
        </p:spPr>
      </p:sp>
      <p:sp>
        <p:nvSpPr>
          <p:cNvPr id="33" name="Text 31"/>
          <p:cNvSpPr/>
          <p:nvPr/>
        </p:nvSpPr>
        <p:spPr>
          <a:xfrm>
            <a:off x="8382000" y="3276600"/>
            <a:ext cx="508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F8F7F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042400" y="32766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7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Cross-Domain Generalization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9042400" y="3683000"/>
            <a:ext cx="889000" cy="254000"/>
          </a:xfrm>
          <a:prstGeom prst="roundRect">
            <a:avLst>
              <a:gd name="adj" fmla="val 12000"/>
            </a:avLst>
          </a:prstGeom>
          <a:solidFill>
            <a:srgbClr val="FDEBD0"/>
          </a:solidFill>
          <a:ln/>
        </p:spPr>
      </p:sp>
      <p:sp>
        <p:nvSpPr>
          <p:cNvPr id="36" name="Text 34"/>
          <p:cNvSpPr/>
          <p:nvPr/>
        </p:nvSpPr>
        <p:spPr>
          <a:xfrm>
            <a:off x="9042400" y="3683000"/>
            <a:ext cx="88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E67E2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382000" y="4038600"/>
            <a:ext cx="711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entire legal domain is unstudied. Detection trained on web text fails on medical/legal writing.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62000" y="5029200"/>
            <a:ext cx="508000" cy="508000"/>
          </a:xfrm>
          <a:prstGeom prst="roundRect">
            <a:avLst>
              <a:gd name="adj" fmla="val 10000"/>
            </a:avLst>
          </a:prstGeom>
          <a:solidFill>
            <a:srgbClr val="5A8A9A"/>
          </a:solidFill>
          <a:ln/>
        </p:spPr>
      </p:sp>
      <p:sp>
        <p:nvSpPr>
          <p:cNvPr id="39" name="Text 37"/>
          <p:cNvSpPr/>
          <p:nvPr/>
        </p:nvSpPr>
        <p:spPr>
          <a:xfrm>
            <a:off x="762000" y="5029200"/>
            <a:ext cx="508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F8F7F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5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1422400" y="50292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7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Multilingual Detection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1422400" y="5435600"/>
            <a:ext cx="1270000" cy="254000"/>
          </a:xfrm>
          <a:prstGeom prst="roundRect">
            <a:avLst>
              <a:gd name="adj" fmla="val 12000"/>
            </a:avLst>
          </a:prstGeom>
          <a:solidFill>
            <a:srgbClr val="E0EBED"/>
          </a:solidFill>
          <a:ln/>
        </p:spPr>
      </p:sp>
      <p:sp>
        <p:nvSpPr>
          <p:cNvPr id="42" name="Text 40"/>
          <p:cNvSpPr/>
          <p:nvPr/>
        </p:nvSpPr>
        <p:spPr>
          <a:xfrm>
            <a:off x="1422400" y="5435600"/>
            <a:ext cx="127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b="1" dirty="0">
                <a:solidFill>
                  <a:srgbClr val="5A8A9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MODERATE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62000" y="5791200"/>
            <a:ext cx="711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All 12 studies are in English only. No study applies LIME or SHAP to Arabic, Urdu, Chinese, or other languages.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5240000" y="8763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300" dirty="0">
                <a:solidFill>
                  <a:srgbClr val="64748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16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256000" cy="533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3241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6482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9723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2964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THEME 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620500" y="0"/>
            <a:ext cx="23241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FINDINGS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3944600" y="0"/>
            <a:ext cx="2311400" cy="533400"/>
          </a:xfrm>
          <a:prstGeom prst="rect">
            <a:avLst/>
          </a:prstGeom>
          <a:solidFill>
            <a:srgbClr val="FFFFFF">
              <a:alpha val="8235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944600" y="495300"/>
            <a:ext cx="23114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1" name="Text 9"/>
          <p:cNvSpPr/>
          <p:nvPr/>
        </p:nvSpPr>
        <p:spPr>
          <a:xfrm>
            <a:off x="13944600" y="0"/>
            <a:ext cx="23114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kern="0" spc="150" dirty="0">
                <a:solidFill>
                  <a:srgbClr val="F8F7F4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62000" y="736600"/>
            <a:ext cx="508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1E293B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762000" y="1270000"/>
            <a:ext cx="7620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Shape 12"/>
          <p:cNvSpPr/>
          <p:nvPr/>
        </p:nvSpPr>
        <p:spPr>
          <a:xfrm>
            <a:off x="762000" y="1524000"/>
            <a:ext cx="7175500" cy="2794000"/>
          </a:xfrm>
          <a:prstGeom prst="roundRect">
            <a:avLst>
              <a:gd name="adj" fmla="val 6000"/>
            </a:avLst>
          </a:prstGeom>
          <a:solidFill>
            <a:srgbClr val="E8F4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62000" y="1524000"/>
            <a:ext cx="63500" cy="279400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1400" y="1676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304800"/>
                </a:moveTo>
                <a:cubicBezTo>
                  <a:pt x="236512" y="304800"/>
                  <a:pt x="304800" y="236512"/>
                  <a:pt x="304800" y="152400"/>
                </a:cubicBezTo>
                <a:cubicBezTo>
                  <a:pt x="304800" y="68288"/>
                  <a:pt x="236512" y="0"/>
                  <a:pt x="152400" y="0"/>
                </a:cubicBezTo>
                <a:cubicBezTo>
                  <a:pt x="68288" y="0"/>
                  <a:pt x="0" y="68288"/>
                  <a:pt x="0" y="152400"/>
                </a:cubicBezTo>
                <a:cubicBezTo>
                  <a:pt x="0" y="236512"/>
                  <a:pt x="68288" y="304800"/>
                  <a:pt x="152400" y="304800"/>
                </a:cubicBezTo>
                <a:close/>
                <a:moveTo>
                  <a:pt x="202644" y="126623"/>
                </a:moveTo>
                <a:lnTo>
                  <a:pt x="155019" y="202823"/>
                </a:lnTo>
                <a:cubicBezTo>
                  <a:pt x="152519" y="206812"/>
                  <a:pt x="148233" y="209312"/>
                  <a:pt x="143530" y="209550"/>
                </a:cubicBezTo>
                <a:cubicBezTo>
                  <a:pt x="138827" y="209788"/>
                  <a:pt x="134302" y="207645"/>
                  <a:pt x="131505" y="203835"/>
                </a:cubicBezTo>
                <a:lnTo>
                  <a:pt x="102930" y="165735"/>
                </a:lnTo>
                <a:cubicBezTo>
                  <a:pt x="98167" y="159425"/>
                  <a:pt x="99477" y="150495"/>
                  <a:pt x="105787" y="145733"/>
                </a:cubicBezTo>
                <a:cubicBezTo>
                  <a:pt x="112097" y="140970"/>
                  <a:pt x="121027" y="142280"/>
                  <a:pt x="125790" y="148590"/>
                </a:cubicBezTo>
                <a:lnTo>
                  <a:pt x="141863" y="170021"/>
                </a:lnTo>
                <a:lnTo>
                  <a:pt x="178415" y="111502"/>
                </a:lnTo>
                <a:cubicBezTo>
                  <a:pt x="182582" y="104835"/>
                  <a:pt x="191393" y="102751"/>
                  <a:pt x="198120" y="106978"/>
                </a:cubicBezTo>
                <a:cubicBezTo>
                  <a:pt x="204847" y="111204"/>
                  <a:pt x="206871" y="119955"/>
                  <a:pt x="202644" y="126683"/>
                </a:cubicBezTo>
                <a:close/>
              </a:path>
            </a:pathLst>
          </a:custGeom>
          <a:solidFill>
            <a:srgbClr val="27AE60"/>
          </a:solidFill>
          <a:ln/>
        </p:spPr>
      </p:sp>
      <p:sp>
        <p:nvSpPr>
          <p:cNvPr id="17" name="Text 15"/>
          <p:cNvSpPr/>
          <p:nvPr/>
        </p:nvSpPr>
        <p:spPr>
          <a:xfrm>
            <a:off x="1473200" y="1651000"/>
            <a:ext cx="6096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700" b="1" dirty="0">
                <a:solidFill>
                  <a:srgbClr val="27AE60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Main Positive Finding — Convergent Validity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41400" y="2133600"/>
            <a:ext cx="66675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LIME and SHAP consistently identify the same </a:t>
            </a: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 markers</a:t>
            </a: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of LLM text across all architectures: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4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</a:t>
            </a: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Grammatical standardization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4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</a:t>
            </a: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Formulaic transitions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4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</a:t>
            </a: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Low lexical entropy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14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</a:t>
            </a: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Suppressed epistemic hedging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318500" y="1524000"/>
            <a:ext cx="7175500" cy="2794000"/>
          </a:xfrm>
          <a:prstGeom prst="roundRect">
            <a:avLst>
              <a:gd name="adj" fmla="val 6000"/>
            </a:avLst>
          </a:prstGeom>
          <a:solidFill>
            <a:srgbClr val="FDF2E9"/>
          </a:solidFill>
          <a:ln/>
        </p:spPr>
      </p:sp>
      <p:sp>
        <p:nvSpPr>
          <p:cNvPr id="20" name="Shape 18"/>
          <p:cNvSpPr/>
          <p:nvPr/>
        </p:nvSpPr>
        <p:spPr>
          <a:xfrm>
            <a:off x="8318500" y="1524000"/>
            <a:ext cx="63500" cy="27940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1" name="Shape 19"/>
          <p:cNvSpPr/>
          <p:nvPr/>
        </p:nvSpPr>
        <p:spPr>
          <a:xfrm>
            <a:off x="8597900" y="1676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304800"/>
                </a:moveTo>
                <a:cubicBezTo>
                  <a:pt x="236512" y="304800"/>
                  <a:pt x="304800" y="236512"/>
                  <a:pt x="304800" y="152400"/>
                </a:cubicBezTo>
                <a:cubicBezTo>
                  <a:pt x="304800" y="68288"/>
                  <a:pt x="236512" y="0"/>
                  <a:pt x="152400" y="0"/>
                </a:cubicBezTo>
                <a:cubicBezTo>
                  <a:pt x="68288" y="0"/>
                  <a:pt x="0" y="68288"/>
                  <a:pt x="0" y="152400"/>
                </a:cubicBezTo>
                <a:cubicBezTo>
                  <a:pt x="0" y="236512"/>
                  <a:pt x="68288" y="304800"/>
                  <a:pt x="152400" y="304800"/>
                </a:cubicBezTo>
                <a:close/>
                <a:moveTo>
                  <a:pt x="99417" y="99417"/>
                </a:moveTo>
                <a:cubicBezTo>
                  <a:pt x="105013" y="93821"/>
                  <a:pt x="114062" y="93821"/>
                  <a:pt x="119598" y="99417"/>
                </a:cubicBezTo>
                <a:lnTo>
                  <a:pt x="152340" y="132159"/>
                </a:lnTo>
                <a:lnTo>
                  <a:pt x="185083" y="99417"/>
                </a:lnTo>
                <a:cubicBezTo>
                  <a:pt x="190679" y="93821"/>
                  <a:pt x="199727" y="93821"/>
                  <a:pt x="205264" y="99417"/>
                </a:cubicBezTo>
                <a:cubicBezTo>
                  <a:pt x="210800" y="105013"/>
                  <a:pt x="210860" y="114062"/>
                  <a:pt x="205264" y="119598"/>
                </a:cubicBezTo>
                <a:lnTo>
                  <a:pt x="172522" y="152340"/>
                </a:lnTo>
                <a:lnTo>
                  <a:pt x="205264" y="185083"/>
                </a:lnTo>
                <a:cubicBezTo>
                  <a:pt x="210860" y="190679"/>
                  <a:pt x="210860" y="199727"/>
                  <a:pt x="205264" y="205264"/>
                </a:cubicBezTo>
                <a:cubicBezTo>
                  <a:pt x="199668" y="210800"/>
                  <a:pt x="190619" y="210860"/>
                  <a:pt x="185083" y="205264"/>
                </a:cubicBezTo>
                <a:lnTo>
                  <a:pt x="152340" y="172522"/>
                </a:lnTo>
                <a:lnTo>
                  <a:pt x="119598" y="205264"/>
                </a:lnTo>
                <a:cubicBezTo>
                  <a:pt x="114002" y="210860"/>
                  <a:pt x="104954" y="210860"/>
                  <a:pt x="99417" y="205264"/>
                </a:cubicBezTo>
                <a:cubicBezTo>
                  <a:pt x="93881" y="199668"/>
                  <a:pt x="93821" y="190619"/>
                  <a:pt x="99417" y="185083"/>
                </a:cubicBezTo>
                <a:lnTo>
                  <a:pt x="132159" y="152340"/>
                </a:lnTo>
                <a:lnTo>
                  <a:pt x="99417" y="119598"/>
                </a:lnTo>
                <a:cubicBezTo>
                  <a:pt x="93821" y="114002"/>
                  <a:pt x="93821" y="104954"/>
                  <a:pt x="99417" y="99417"/>
                </a:cubicBezTo>
                <a:close/>
              </a:path>
            </a:pathLst>
          </a:custGeom>
          <a:solidFill>
            <a:srgbClr val="C0392B"/>
          </a:solidFill>
          <a:ln/>
        </p:spPr>
      </p:sp>
      <p:sp>
        <p:nvSpPr>
          <p:cNvPr id="22" name="Text 20"/>
          <p:cNvSpPr/>
          <p:nvPr/>
        </p:nvSpPr>
        <p:spPr>
          <a:xfrm>
            <a:off x="9029700" y="1651000"/>
            <a:ext cx="6096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700" b="1" dirty="0">
                <a:solidFill>
                  <a:srgbClr val="C0392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Main Critical Finding — Transparency ≠ Robustness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597900" y="2133600"/>
            <a:ext cx="66675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</a:t>
            </a: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adversarial paradox</a:t>
            </a: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is unresolved. Most domain-by-LLM combinations are unstudied.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Fairness for non-native writers is </a:t>
            </a:r>
            <a:r>
              <a:rPr lang="en-US" sz="14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unaddressed</a:t>
            </a:r>
            <a:r>
              <a:rPr lang="en-US" sz="1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No current system is simultaneously interpretable and adversarially robust.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62000" y="4445000"/>
            <a:ext cx="508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300" kern="0" spc="2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IMPLICATIONS FOR INSTITUTIONS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62000" y="4851400"/>
            <a:ext cx="7175500" cy="50800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/>
        </p:spPr>
      </p:sp>
      <p:sp>
        <p:nvSpPr>
          <p:cNvPr id="26" name="Shape 24"/>
          <p:cNvSpPr/>
          <p:nvPr/>
        </p:nvSpPr>
        <p:spPr>
          <a:xfrm>
            <a:off x="762000" y="4851400"/>
            <a:ext cx="63500" cy="5080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7" name="Text 25"/>
          <p:cNvSpPr/>
          <p:nvPr/>
        </p:nvSpPr>
        <p:spPr>
          <a:xfrm>
            <a:off x="1041400" y="4851400"/>
            <a:ext cx="6667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Accuracy alone is not enough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explain the decision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318500" y="4851400"/>
            <a:ext cx="7175500" cy="50800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/>
        </p:spPr>
      </p:sp>
      <p:sp>
        <p:nvSpPr>
          <p:cNvPr id="29" name="Shape 27"/>
          <p:cNvSpPr/>
          <p:nvPr/>
        </p:nvSpPr>
        <p:spPr>
          <a:xfrm>
            <a:off x="8318500" y="4851400"/>
            <a:ext cx="63500" cy="5080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0" name="Text 28"/>
          <p:cNvSpPr/>
          <p:nvPr/>
        </p:nvSpPr>
        <p:spPr>
          <a:xfrm>
            <a:off x="8597900" y="4851400"/>
            <a:ext cx="6667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Measure explanation quality with </a:t>
            </a: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standardized benchmarks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62000" y="5486400"/>
            <a:ext cx="7175500" cy="50800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/>
        </p:spPr>
      </p:sp>
      <p:sp>
        <p:nvSpPr>
          <p:cNvPr id="32" name="Shape 30"/>
          <p:cNvSpPr/>
          <p:nvPr/>
        </p:nvSpPr>
        <p:spPr>
          <a:xfrm>
            <a:off x="762000" y="5486400"/>
            <a:ext cx="63500" cy="5080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3" name="Text 31"/>
          <p:cNvSpPr/>
          <p:nvPr/>
        </p:nvSpPr>
        <p:spPr>
          <a:xfrm>
            <a:off x="1041400" y="5486400"/>
            <a:ext cx="6667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Test on </a:t>
            </a: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non-native writers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not just native English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318500" y="5486400"/>
            <a:ext cx="7175500" cy="508000"/>
          </a:xfrm>
          <a:prstGeom prst="roundRect">
            <a:avLst>
              <a:gd name="adj" fmla="val 6000"/>
            </a:avLst>
          </a:prstGeom>
          <a:solidFill>
            <a:srgbClr val="F0EEEA"/>
          </a:solidFill>
          <a:ln/>
        </p:spPr>
      </p:sp>
      <p:sp>
        <p:nvSpPr>
          <p:cNvPr id="35" name="Shape 33"/>
          <p:cNvSpPr/>
          <p:nvPr/>
        </p:nvSpPr>
        <p:spPr>
          <a:xfrm>
            <a:off x="8318500" y="5486400"/>
            <a:ext cx="63500" cy="5080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6" name="Text 34"/>
          <p:cNvSpPr/>
          <p:nvPr/>
        </p:nvSpPr>
        <p:spPr>
          <a:xfrm>
            <a:off x="8597900" y="5486400"/>
            <a:ext cx="66675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Pursue </a:t>
            </a:r>
            <a:r>
              <a:rPr lang="en-US" sz="15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adversarial robustness</a:t>
            </a:r>
            <a:r>
              <a:rPr lang="en-US" sz="15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together with interpretability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5240000" y="87630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300" dirty="0">
                <a:solidFill>
                  <a:srgbClr val="64748B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17</a:t>
            </a:r>
            <a:endParaRPr lang="en-US" sz="1300" dirty="0"/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yjazwc5fmm66m/mnt/agents/output/llm_review/images/4_Abstract_Blue_Technology_Wave_Background.png"/>
          <p:cNvPicPr>
            <a:picLocks noChangeAspect="1"/>
          </p:cNvPicPr>
          <p:nvPr/>
        </p:nvPicPr>
        <p:blipFill>
          <a:blip r:embed="rId3"/>
          <a:srcRect l="195" r="195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0F172A">
                  <a:alpha val="94000"/>
                </a:srgbClr>
              </a:gs>
              <a:gs pos="50000">
                <a:srgbClr val="0F172A">
                  <a:alpha val="87000"/>
                </a:srgbClr>
              </a:gs>
              <a:gs pos="100000">
                <a:srgbClr val="0F172A">
                  <a:alpha val="60000"/>
                </a:srgbClr>
              </a:gs>
            </a:gsLst>
            <a:lin ang="0" scaled="1"/>
          </a:gra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2032000"/>
            <a:ext cx="16256000" cy="889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5200" b="1" dirty="0">
                <a:solidFill>
                  <a:srgbClr val="F8F7F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175500" y="3048000"/>
            <a:ext cx="1905000" cy="3810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6" name="Text 3"/>
          <p:cNvSpPr/>
          <p:nvPr/>
        </p:nvSpPr>
        <p:spPr>
          <a:xfrm>
            <a:off x="0" y="3276600"/>
            <a:ext cx="16256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D4A57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0" y="4064000"/>
            <a:ext cx="16256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70000"/>
              </a:lnSpc>
            </a:pPr>
            <a:r>
              <a:rPr lang="en-US" sz="1500" b="1" dirty="0">
                <a:solidFill>
                  <a:srgbClr val="F8F7F4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Jawwad Ahmad</a:t>
            </a:r>
            <a:r>
              <a:rPr lang="en-US" sz="1500" dirty="0">
                <a:solidFill>
                  <a:srgbClr val="F8F7F4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| F25NDOCS3W04013 | MSCS 2nd Semester</a:t>
            </a:r>
            <a:endParaRPr lang="en-US" sz="1600" dirty="0"/>
          </a:p>
          <a:p>
            <a:pPr algn="ctr">
              <a:lnSpc>
                <a:spcPct val="170000"/>
              </a:lnSpc>
            </a:pPr>
            <a:r>
              <a:rPr lang="en-US" sz="1500" dirty="0">
                <a:solidFill>
                  <a:srgbClr val="F8F7F4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Islamia University of Bahawalpur | Supervisor: Dr. Ahmad Niaz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2540000" y="5461000"/>
            <a:ext cx="2286000" cy="1397000"/>
          </a:xfrm>
          <a:prstGeom prst="roundRect">
            <a:avLst>
              <a:gd name="adj" fmla="val 8000"/>
            </a:avLst>
          </a:prstGeom>
          <a:solidFill>
            <a:srgbClr val="FFFFFF">
              <a:alpha val="7059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2540000" y="5588000"/>
            <a:ext cx="2286000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400" b="1" dirty="0">
                <a:solidFill>
                  <a:srgbClr val="D4A57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12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2540000" y="6324600"/>
            <a:ext cx="2286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8F7F4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Studies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270500" y="5461000"/>
            <a:ext cx="2286000" cy="1397000"/>
          </a:xfrm>
          <a:prstGeom prst="roundRect">
            <a:avLst>
              <a:gd name="adj" fmla="val 8000"/>
            </a:avLst>
          </a:prstGeom>
          <a:solidFill>
            <a:srgbClr val="FFFFFF">
              <a:alpha val="7059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5270500" y="5588000"/>
            <a:ext cx="2286000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400" b="1" dirty="0">
                <a:solidFill>
                  <a:srgbClr val="D4A57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270500" y="6324600"/>
            <a:ext cx="2286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8F7F4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Themes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001000" y="5461000"/>
            <a:ext cx="2286000" cy="1397000"/>
          </a:xfrm>
          <a:prstGeom prst="roundRect">
            <a:avLst>
              <a:gd name="adj" fmla="val 8000"/>
            </a:avLst>
          </a:prstGeom>
          <a:solidFill>
            <a:srgbClr val="FFFFFF">
              <a:alpha val="7059"/>
            </a:srgbClr>
          </a:solidFill>
          <a:ln/>
        </p:spPr>
      </p:sp>
      <p:sp>
        <p:nvSpPr>
          <p:cNvPr id="15" name="Text 12"/>
          <p:cNvSpPr/>
          <p:nvPr/>
        </p:nvSpPr>
        <p:spPr>
          <a:xfrm>
            <a:off x="8001000" y="5588000"/>
            <a:ext cx="2286000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400" b="1" dirty="0">
                <a:solidFill>
                  <a:srgbClr val="D4A57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5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001000" y="6324600"/>
            <a:ext cx="2286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8F7F4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Gaps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10731500" y="5461000"/>
            <a:ext cx="2286000" cy="1397000"/>
          </a:xfrm>
          <a:prstGeom prst="roundRect">
            <a:avLst>
              <a:gd name="adj" fmla="val 8000"/>
            </a:avLst>
          </a:prstGeom>
          <a:solidFill>
            <a:srgbClr val="FFFFFF">
              <a:alpha val="7059"/>
            </a:srgbClr>
          </a:solidFill>
          <a:ln/>
        </p:spPr>
      </p:sp>
      <p:sp>
        <p:nvSpPr>
          <p:cNvPr id="18" name="Text 15"/>
          <p:cNvSpPr/>
          <p:nvPr/>
        </p:nvSpPr>
        <p:spPr>
          <a:xfrm>
            <a:off x="10731500" y="5588000"/>
            <a:ext cx="2286000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4400" b="1" dirty="0">
                <a:solidFill>
                  <a:srgbClr val="D4A574"/>
                </a:solidFill>
                <a:latin typeface="Unna" pitchFamily="34" charset="0"/>
                <a:ea typeface="Unna" pitchFamily="34" charset="-122"/>
                <a:cs typeface="Unna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731500" y="6324600"/>
            <a:ext cx="2286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8F7F4">
                    <a:alpha val="66667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 Methods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0" y="9017000"/>
            <a:ext cx="16256000" cy="127000"/>
          </a:xfrm>
          <a:prstGeom prst="rect">
            <a:avLst/>
          </a:prstGeom>
          <a:solidFill>
            <a:srgbClr val="D4A574"/>
          </a:solidFill>
          <a:ln/>
        </p:spPr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1802</Words>
  <Application>Microsoft Office PowerPoint</Application>
  <PresentationFormat>Custom</PresentationFormat>
  <Paragraphs>357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Unna</vt:lpstr>
      <vt:lpstr>Arial</vt:lpstr>
      <vt:lpstr>Quattrocento Sans</vt:lpstr>
      <vt:lpstr>QuattrocentoSans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Explainable Identification of Human vs. LLM-Generated Text</dc:title>
  <dc:subject>Explainable Identification of Human vs. LLM-Generated Text</dc:subject>
  <dc:creator>Kimi</dc:creator>
  <cp:lastModifiedBy>Jawwad Ahmad</cp:lastModifiedBy>
  <cp:revision>5</cp:revision>
  <dcterms:created xsi:type="dcterms:W3CDTF">2026-04-23T16:38:44Z</dcterms:created>
  <dcterms:modified xsi:type="dcterms:W3CDTF">2026-04-23T16:42:24Z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{"Label":"Explainable Identification of Human vs. LLM-Generated Text","ContentProducer":"001191110108MACG2KBH8F10000","ProduceID":"19db96aa-0282-8ebe-8000-00003d155d1d","ReservedCode1":"","ContentPropagator":"001191110108MACG2KBH8F20000","PropagateID":"19db96aa-0282-8ebe-8000-00003d155d1d","ReservedCode2":""}</vt:lpwstr>
  </property>
</Properties>
</file>