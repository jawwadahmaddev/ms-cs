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9144000" cy="16256000"/>
  <p:embeddedFontLst>
    <p:embeddedFont>
      <p:font typeface="Liter" panose="020B0604020202020204" charset="0"/>
      <p:regular r:id="rId18"/>
    </p:embeddedFont>
    <p:embeddedFont>
      <p:font typeface="Quattrocento Sans" panose="020B0502050000020003" pitchFamily="34" charset="0"/>
      <p:regular r:id="rId19"/>
      <p:bold r:id="rId20"/>
      <p: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9306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cover_b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94000"/>
                </a:srgbClr>
              </a:gs>
              <a:gs pos="55000">
                <a:srgbClr val="080C17">
                  <a:alpha val="75000"/>
                </a:srgbClr>
              </a:gs>
              <a:gs pos="100000">
                <a:srgbClr val="080C17">
                  <a:alpha val="25000"/>
                </a:srgbClr>
              </a:gs>
            </a:gsLst>
            <a:lin ang="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762000" y="2794000"/>
            <a:ext cx="1016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2"/>
          <p:cNvSpPr/>
          <p:nvPr/>
        </p:nvSpPr>
        <p:spPr>
          <a:xfrm>
            <a:off x="762000" y="2286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SYSTEMATIC REVIEW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62000" y="3048000"/>
            <a:ext cx="889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b="1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Explainable Identification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2000" y="4000500"/>
            <a:ext cx="889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b="1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 Human vs. LLM Text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5080000"/>
            <a:ext cx="762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Systematic Review with LIME &amp; SHAP Attribution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2000" y="5842000"/>
            <a:ext cx="2540000" cy="25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762000" y="6096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Supervisor: </a:t>
            </a:r>
            <a:r>
              <a:rPr lang="en-US" sz="16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Dr. Ahmad Niaz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62000" y="7620000"/>
            <a:ext cx="7874000" cy="55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Text 9"/>
          <p:cNvSpPr/>
          <p:nvPr/>
        </p:nvSpPr>
        <p:spPr>
          <a:xfrm>
            <a:off x="952500" y="7620000"/>
            <a:ext cx="7493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GPT-4 LIME SHAP XAI NLP RoBERTa DistilBERT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3970000" y="1016000"/>
            <a:ext cx="508000" cy="508000"/>
          </a:xfrm>
          <a:prstGeom prst="rect">
            <a:avLst/>
          </a:prstGeom>
          <a:solidFill>
            <a:srgbClr val="FF6B35">
              <a:alpha val="30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4732000" y="1778000"/>
            <a:ext cx="304800" cy="304800"/>
          </a:xfrm>
          <a:prstGeom prst="rect">
            <a:avLst/>
          </a:prstGeom>
          <a:solidFill>
            <a:srgbClr val="00D9C0">
              <a:alpha val="40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3716000" y="2032000"/>
            <a:ext cx="203200" cy="203200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9144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2286000"/>
            <a:ext cx="4572000" cy="177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4318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762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1524000"/>
            <a:ext cx="762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6604000" y="1016000"/>
            <a:ext cx="8890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04000" y="1016000"/>
            <a:ext cx="50800" cy="1524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9" name="Text 7"/>
          <p:cNvSpPr/>
          <p:nvPr/>
        </p:nvSpPr>
        <p:spPr>
          <a:xfrm>
            <a:off x="6985000" y="1016000"/>
            <a:ext cx="1016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0" y="1143000"/>
            <a:ext cx="711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&amp; Background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AI text detection challenge — LLMs, LIME, SHAP, XAI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04000" y="2794000"/>
            <a:ext cx="8890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4000" y="2794000"/>
            <a:ext cx="50800" cy="1524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3" name="Text 11"/>
          <p:cNvSpPr/>
          <p:nvPr/>
        </p:nvSpPr>
        <p:spPr>
          <a:xfrm>
            <a:off x="6985000" y="2794000"/>
            <a:ext cx="1016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0" y="2921000"/>
            <a:ext cx="711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PRISMA systematic review — 250 records to 12 studies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604000" y="4572000"/>
            <a:ext cx="8890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4000" y="4572000"/>
            <a:ext cx="50800" cy="1524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6985000" y="4572000"/>
            <a:ext cx="1016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8000" y="4699000"/>
            <a:ext cx="711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 &amp; Findings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 research themes — Stylometric, Transformers, Multi-label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604000" y="6350000"/>
            <a:ext cx="8890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4000" y="6350000"/>
            <a:ext cx="50800" cy="1524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1" name="Text 19"/>
          <p:cNvSpPr/>
          <p:nvPr/>
        </p:nvSpPr>
        <p:spPr>
          <a:xfrm>
            <a:off x="6985000" y="6350000"/>
            <a:ext cx="1016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28000" y="6477000"/>
            <a:ext cx="711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 &amp; Future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gaps, critical findings, and the path forward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5080000"/>
            <a:ext cx="4572000" cy="127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Shape 22"/>
          <p:cNvSpPr/>
          <p:nvPr/>
        </p:nvSpPr>
        <p:spPr>
          <a:xfrm>
            <a:off x="5080000" y="7620000"/>
            <a:ext cx="381000" cy="381000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2_Abstract_Neural_Network_Web_on_Dark.png"/>
          <p:cNvPicPr>
            <a:picLocks noChangeAspect="1"/>
          </p:cNvPicPr>
          <p:nvPr/>
        </p:nvPicPr>
        <p:blipFill>
          <a:blip r:embed="rId3"/>
          <a:srcRect t="21875" b="2187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88000"/>
                </a:srgbClr>
              </a:gs>
              <a:gs pos="50000">
                <a:srgbClr val="080C17">
                  <a:alpha val="75000"/>
                </a:srgbClr>
              </a:gs>
              <a:gs pos="100000">
                <a:srgbClr val="080C17">
                  <a:alpha val="63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80C17">
              <a:alpha val="50196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62000" y="2286000"/>
            <a:ext cx="5080000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0" dirty="0">
                <a:solidFill>
                  <a:srgbClr val="FF6B35">
                    <a:alpha val="12549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2000" y="4826000"/>
            <a:ext cx="1016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080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&amp; Background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5969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AI text detection challenge — LLMs, LIME, SHAP, and the need for explainability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3970000" y="6350000"/>
            <a:ext cx="508000" cy="508000"/>
          </a:xfrm>
          <a:prstGeom prst="rect">
            <a:avLst/>
          </a:prstGeom>
          <a:solidFill>
            <a:srgbClr val="00D9C0">
              <a:alpha val="3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4732000" y="7112000"/>
            <a:ext cx="304800" cy="304800"/>
          </a:xfrm>
          <a:prstGeom prst="rect">
            <a:avLst/>
          </a:prstGeom>
          <a:solidFill>
            <a:srgbClr val="FF6B35">
              <a:alpha val="4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— The Problem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8128000" cy="67945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50800" cy="67945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1778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Does This Matter?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43000" y="2286000"/>
            <a:ext cx="7366000" cy="58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LLMs (GPT-4, Claude, Llama, Gemini) produce text indistinguishable from human writing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400"/>
              </a:spcBef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Serious risks in academia, journalism, medicine, and law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400"/>
              </a:spcBef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Early systems used perplexity scores &amp; stylometric indices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400"/>
              </a:spcBef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Transformers (RoBERTa, DistilBERT) achieve high accuracy but opaque decisions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400"/>
              </a:spcBef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Black-box decisions cannot support institutional accountability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400"/>
              </a:spcBef>
            </a:pPr>
            <a:r>
              <a:rPr lang="en-US" sz="1800" dirty="0">
                <a:solidFill>
                  <a:srgbClr val="00D9C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■</a:t>
            </a:r>
            <a:r>
              <a:rPr lang="en-US" sz="1800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800" b="1" dirty="0">
                <a:solidFill>
                  <a:srgbClr val="FF6B35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XAI is now essential — not optional — for trustworthy deployment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71000" y="1587500"/>
            <a:ext cx="6223000" cy="203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714500"/>
            <a:ext cx="1905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4+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11557000" y="1841500"/>
            <a:ext cx="368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LLMs Covered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557000" y="2286000"/>
            <a:ext cx="3683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GPT-4, Llama, Claude, Gemini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71000" y="3873500"/>
            <a:ext cx="6223000" cy="203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5000" y="4000500"/>
            <a:ext cx="1905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11557000" y="4127500"/>
            <a:ext cx="368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Studies Reviewed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557000" y="4572000"/>
            <a:ext cx="3683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2023–2026 PRISMA synthesis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271000" y="6159500"/>
            <a:ext cx="6223000" cy="22225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5000" y="6286500"/>
            <a:ext cx="1905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5600" dirty="0"/>
          </a:p>
        </p:txBody>
      </p:sp>
      <p:sp>
        <p:nvSpPr>
          <p:cNvPr id="24" name="Text 22"/>
          <p:cNvSpPr/>
          <p:nvPr/>
        </p:nvSpPr>
        <p:spPr>
          <a:xfrm>
            <a:off x="11557000" y="6413500"/>
            <a:ext cx="368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XAI Methods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557000" y="6858000"/>
            <a:ext cx="3683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LIME &amp; SHAP attribution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Background — Key Concepts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4826000" cy="67945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50800" cy="67945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9500" y="1778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Large Language Models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79500" y="2286000"/>
            <a:ext cx="4191000" cy="58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Transformer architecture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Self-attention for long-range dependencies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Autoregressive generation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Probability dist. over vocabulary at each step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1F5F9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Temperature parameter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Controls output diversity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800"/>
              </a:spcBef>
            </a:pPr>
            <a:r>
              <a:rPr lang="en-US" sz="1600" b="1" dirty="0">
                <a:solidFill>
                  <a:srgbClr val="FF6B35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Human text markers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Rhythm variation, idiosyncratic word choice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F6B35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LLM text markers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Grammatical standardization, high lexical predictability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05500" y="1587500"/>
            <a:ext cx="9588500" cy="406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3000" y="1778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LIME vs. SHAP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23000" y="2286000"/>
            <a:ext cx="4445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3000" y="2286000"/>
            <a:ext cx="50800" cy="1524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6477000" y="2387600"/>
            <a:ext cx="127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77000" y="2768600"/>
            <a:ext cx="393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Perturbs tokens, fits local linear model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Fast, flexible</a:t>
            </a: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</a:t>
            </a:r>
            <a:r>
              <a:rPr lang="en-US" sz="1400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 be unstable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858500" y="2286000"/>
            <a:ext cx="4445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58500" y="2286000"/>
            <a:ext cx="50800" cy="1524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2" name="Text 20"/>
          <p:cNvSpPr/>
          <p:nvPr/>
        </p:nvSpPr>
        <p:spPr>
          <a:xfrm>
            <a:off x="11112500" y="2387600"/>
            <a:ext cx="127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SHAP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112500" y="2768600"/>
            <a:ext cx="3937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Game-theory based, Shapley fair attribution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 &amp; reproducible</a:t>
            </a: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</a:t>
            </a:r>
            <a:r>
              <a:rPr lang="en-US" sz="1400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Higher compute cost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23000" y="4000500"/>
            <a:ext cx="889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i="1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Both: Post-hoc · Local · Model-agnostic · Feature-level attribution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05500" y="5905500"/>
            <a:ext cx="9588500" cy="24765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23000" y="6096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Detection Paradigms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6223000" y="6604000"/>
            <a:ext cx="2921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3000" y="6604000"/>
            <a:ext cx="2921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9" name="Text 27"/>
          <p:cNvSpPr/>
          <p:nvPr/>
        </p:nvSpPr>
        <p:spPr>
          <a:xfrm>
            <a:off x="6413500" y="6858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Stylometric +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Classical ML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334500" y="6604000"/>
            <a:ext cx="2921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34500" y="6604000"/>
            <a:ext cx="2921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32" name="Text 30"/>
          <p:cNvSpPr/>
          <p:nvPr/>
        </p:nvSpPr>
        <p:spPr>
          <a:xfrm>
            <a:off x="9525000" y="6858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Transformer-based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Learning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446000" y="6604000"/>
            <a:ext cx="2921000" cy="1524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446000" y="6604000"/>
            <a:ext cx="2921000" cy="508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Text 33"/>
          <p:cNvSpPr/>
          <p:nvPr/>
        </p:nvSpPr>
        <p:spPr>
          <a:xfrm>
            <a:off x="12636500" y="6858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Attribution Frameworks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9_Neural_Network_Big_Data_Flow_Visualizati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88000"/>
                </a:srgbClr>
              </a:gs>
              <a:gs pos="50000">
                <a:srgbClr val="080C17">
                  <a:alpha val="75000"/>
                </a:srgbClr>
              </a:gs>
              <a:gs pos="100000">
                <a:srgbClr val="080C17">
                  <a:alpha val="63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80C17">
              <a:alpha val="50196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62000" y="2286000"/>
            <a:ext cx="5080000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0" dirty="0">
                <a:solidFill>
                  <a:srgbClr val="00D9C0">
                    <a:alpha val="12549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2000" y="4826000"/>
            <a:ext cx="1016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080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5969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PRISMA systematic review framework — 250 records to 12 included studies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3970000" y="6350000"/>
            <a:ext cx="508000" cy="508000"/>
          </a:xfrm>
          <a:prstGeom prst="rect">
            <a:avLst/>
          </a:prstGeom>
          <a:solidFill>
            <a:srgbClr val="FF6B35">
              <a:alpha val="3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4732000" y="7112000"/>
            <a:ext cx="304800" cy="304800"/>
          </a:xfrm>
          <a:prstGeom prst="rect">
            <a:avLst/>
          </a:prstGeom>
          <a:solidFill>
            <a:srgbClr val="00D9C0">
              <a:alpha val="4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64000" y="508000"/>
            <a:ext cx="4064000" cy="254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016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 — PRISMA Framework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2286000" cy="1270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/>
          <p:nvPr/>
        </p:nvSpPr>
        <p:spPr>
          <a:xfrm>
            <a:off x="762000" y="1587500"/>
            <a:ext cx="2286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IDENTIFY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02000" y="15875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250 records from 4 databases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Scholar (120), ArXiv (72), IEEE Xplore (38), SciSpace (20)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duplicates removed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51000" y="2857500"/>
            <a:ext cx="0" cy="254000"/>
          </a:xfrm>
          <a:prstGeom prst="straightConnector1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762000" y="3238500"/>
            <a:ext cx="2286000" cy="1270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000" y="3238500"/>
            <a:ext cx="2286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080C1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SCREEN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02000" y="32385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182 records screened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126 excluded: Not AGTD, No XAI component, Pre-2023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51000" y="4508500"/>
            <a:ext cx="0" cy="254000"/>
          </a:xfrm>
          <a:prstGeom prst="straightConnector1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762000" y="4889500"/>
            <a:ext cx="2286000" cy="1270000"/>
          </a:xfrm>
          <a:prstGeom prst="rect">
            <a:avLst/>
          </a:prstGeom>
          <a:solidFill>
            <a:srgbClr val="0F172A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000" y="4889500"/>
            <a:ext cx="2286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ELIGIBLE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02000" y="48895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 full texts assessed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44 excluded: No formal XAI (n=18), Small dataset (n=12), Other (n=14)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51000" y="6159500"/>
            <a:ext cx="0" cy="254000"/>
          </a:xfrm>
          <a:prstGeom prst="straightConnector1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762000" y="6540500"/>
            <a:ext cx="2286000" cy="1270000"/>
          </a:xfrm>
          <a:prstGeom prst="rect">
            <a:avLst/>
          </a:prstGeom>
          <a:solidFill>
            <a:srgbClr val="0F172A"/>
          </a:solidFill>
          <a:ln w="25400">
            <a:solidFill>
              <a:srgbClr val="00D9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6540500"/>
            <a:ext cx="2286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302000" y="65405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studies included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(2023–2026)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/ SHAP focus · Multi-domain coverage · Thematic synthesis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160000" y="1587500"/>
            <a:ext cx="5334000" cy="6223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60000" y="1587500"/>
            <a:ext cx="50800" cy="6223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7" name="Text 25"/>
          <p:cNvSpPr/>
          <p:nvPr/>
        </p:nvSpPr>
        <p:spPr>
          <a:xfrm>
            <a:off x="10541000" y="1778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Inclusion Criteria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41000" y="2286000"/>
            <a:ext cx="4699000" cy="463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Published Jan 2023 – Mar 2026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Addresses AI text detection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Uses ≥1 XAI method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Written in English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Dataset ≥500 samples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6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Reports Accuracy / F1 / AUC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541000" y="6985000"/>
            <a:ext cx="4699000" cy="635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41000" y="6985000"/>
            <a:ext cx="469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i="1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Thematic Synthesis (not meta-analysis)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10_Abstract_Ai_Neural_Network_Concep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88000"/>
                </a:srgbClr>
              </a:gs>
              <a:gs pos="50000">
                <a:srgbClr val="080C17">
                  <a:alpha val="75000"/>
                </a:srgbClr>
              </a:gs>
              <a:gs pos="100000">
                <a:srgbClr val="080C17">
                  <a:alpha val="63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80C17">
              <a:alpha val="50196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62000" y="2286000"/>
            <a:ext cx="5080000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0" dirty="0">
                <a:solidFill>
                  <a:srgbClr val="FF6B35">
                    <a:alpha val="12549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2000" y="4826000"/>
            <a:ext cx="1016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080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 &amp; Findings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59690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research themes — Stylometric methods, Transformer deep learning, and Multi-label attribution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3970000" y="6350000"/>
            <a:ext cx="508000" cy="508000"/>
          </a:xfrm>
          <a:prstGeom prst="rect">
            <a:avLst/>
          </a:prstGeom>
          <a:solidFill>
            <a:srgbClr val="00D9C0">
              <a:alpha val="3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4732000" y="7112000"/>
            <a:ext cx="304800" cy="304800"/>
          </a:xfrm>
          <a:prstGeom prst="rect">
            <a:avLst/>
          </a:prstGeom>
          <a:solidFill>
            <a:srgbClr val="FF6B35">
              <a:alpha val="4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1 — Stylometric &amp; Classical ML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4699000" cy="5080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Shah et al. (2023)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16000" y="2349500"/>
            <a:ext cx="419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SVM, Logistic Reg., Random Forest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Simpson's Index, Punctuation regularity, Low-entropy word choice, Formulaic transitions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homogeneity (English general domain only)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78500" y="1587500"/>
            <a:ext cx="4699000" cy="5080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78500" y="1587500"/>
            <a:ext cx="4699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6" name="Text 14"/>
          <p:cNvSpPr/>
          <p:nvPr/>
        </p:nvSpPr>
        <p:spPr>
          <a:xfrm>
            <a:off x="60325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McGovern et al. (2024)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2500" y="2349500"/>
            <a:ext cx="419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 analysis, Frequency distributions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Attention visualization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 tag distributions, LLM-specific high-frequency token profiles, Adjective-noun sequences, Passive constructions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formal model-agnostic XAI; visualizations only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795000" y="1587500"/>
            <a:ext cx="4699000" cy="5080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95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/>
          <p:nvPr/>
        </p:nvSpPr>
        <p:spPr>
          <a:xfrm>
            <a:off x="110490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Przystalski et al. (2025)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049000" y="2349500"/>
            <a:ext cx="419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Random Forest on short samples (&lt;200w)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(global + local)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 (2× weight), Atypical word freq. distributions, Lexical entropy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May not generalize to professional writing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2000" y="6921500"/>
            <a:ext cx="14732000" cy="76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2000" y="6921500"/>
            <a:ext cx="50800" cy="762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4" name="Text 22"/>
          <p:cNvSpPr/>
          <p:nvPr/>
        </p:nvSpPr>
        <p:spPr>
          <a:xfrm>
            <a:off x="1079500" y="6921500"/>
            <a:ext cx="14097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15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finding:</a:t>
            </a:r>
            <a:r>
              <a:rPr lang="en-US" sz="15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 text is more grammatically regular &amp; lexically predictable than human text — confirmed across all 3 studies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2 — Transformer-Based Deep Learning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4699000" cy="431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Mitrovic et al. (2023)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16000" y="23495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DistilBERT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2794000"/>
            <a:ext cx="12700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1016000" y="2794000"/>
            <a:ext cx="127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~84%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76500" y="2794000"/>
            <a:ext cx="254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(token)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16000" y="34290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ChatGPT reviews overuse superlatives; humans use idiosyncratic vocab &amp; hedged evaluations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78500" y="1587500"/>
            <a:ext cx="4699000" cy="431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78500" y="1587500"/>
            <a:ext cx="4699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0" name="Text 18"/>
          <p:cNvSpPr/>
          <p:nvPr/>
        </p:nvSpPr>
        <p:spPr>
          <a:xfrm>
            <a:off x="60325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Joshi et al. (2024)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2500" y="23495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RoBERTa-Sentinel — HULLMI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32500" y="2794000"/>
            <a:ext cx="1270000" cy="4572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23" name="Text 21"/>
          <p:cNvSpPr/>
          <p:nvPr/>
        </p:nvSpPr>
        <p:spPr>
          <a:xfrm>
            <a:off x="6032500" y="2794000"/>
            <a:ext cx="127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080C1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~91%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3000" y="2794000"/>
            <a:ext cx="254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(token)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2500" y="34290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complements accuracy; formulaic hedging &amp; impersonal constructions are key signals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795000" y="1587500"/>
            <a:ext cx="4699000" cy="431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95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11049000" y="1841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Masih et al. (2025)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049000" y="23495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BERT, RoBERTa, GPT-2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1049000" y="2794000"/>
            <a:ext cx="12700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11049000" y="2794000"/>
            <a:ext cx="127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~89%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509500" y="2794000"/>
            <a:ext cx="254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049000" y="34290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more stable than LIME; both can expose models correct for wrong reasons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62000" y="6159500"/>
            <a:ext cx="14732000" cy="1143000"/>
          </a:xfrm>
          <a:prstGeom prst="rect">
            <a:avLst/>
          </a:prstGeom>
          <a:solidFill>
            <a:srgbClr val="0F172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2000" y="6159500"/>
            <a:ext cx="50800" cy="1143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9500" y="6413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0"/>
                </a:moveTo>
                <a:cubicBezTo>
                  <a:pt x="188010" y="0"/>
                  <a:pt x="197386" y="5626"/>
                  <a:pt x="202248" y="14585"/>
                </a:cubicBezTo>
                <a:lnTo>
                  <a:pt x="352266" y="292398"/>
                </a:lnTo>
                <a:cubicBezTo>
                  <a:pt x="356920" y="301010"/>
                  <a:pt x="356711" y="311428"/>
                  <a:pt x="351711" y="319832"/>
                </a:cubicBezTo>
                <a:cubicBezTo>
                  <a:pt x="346710" y="328235"/>
                  <a:pt x="337612" y="333375"/>
                  <a:pt x="327819" y="333375"/>
                </a:cubicBezTo>
                <a:lnTo>
                  <a:pt x="27781" y="333375"/>
                </a:lnTo>
                <a:cubicBezTo>
                  <a:pt x="17988" y="333375"/>
                  <a:pt x="8959" y="328235"/>
                  <a:pt x="3889" y="319832"/>
                </a:cubicBezTo>
                <a:cubicBezTo>
                  <a:pt x="-1181" y="311428"/>
                  <a:pt x="-1320" y="301010"/>
                  <a:pt x="3334" y="292398"/>
                </a:cubicBezTo>
                <a:lnTo>
                  <a:pt x="153353" y="14585"/>
                </a:lnTo>
                <a:cubicBezTo>
                  <a:pt x="158214" y="5626"/>
                  <a:pt x="167590" y="0"/>
                  <a:pt x="177800" y="0"/>
                </a:cubicBezTo>
                <a:close/>
                <a:moveTo>
                  <a:pt x="177800" y="116681"/>
                </a:moveTo>
                <a:cubicBezTo>
                  <a:pt x="168563" y="116681"/>
                  <a:pt x="161131" y="124113"/>
                  <a:pt x="161131" y="133350"/>
                </a:cubicBezTo>
                <a:lnTo>
                  <a:pt x="161131" y="211138"/>
                </a:lnTo>
                <a:cubicBezTo>
                  <a:pt x="161131" y="220375"/>
                  <a:pt x="168563" y="227806"/>
                  <a:pt x="177800" y="227806"/>
                </a:cubicBezTo>
                <a:cubicBezTo>
                  <a:pt x="187037" y="227806"/>
                  <a:pt x="194469" y="220375"/>
                  <a:pt x="194469" y="211138"/>
                </a:cubicBezTo>
                <a:lnTo>
                  <a:pt x="194469" y="133350"/>
                </a:lnTo>
                <a:cubicBezTo>
                  <a:pt x="194469" y="124113"/>
                  <a:pt x="187037" y="116681"/>
                  <a:pt x="177800" y="116681"/>
                </a:cubicBezTo>
                <a:close/>
                <a:moveTo>
                  <a:pt x="196344" y="266700"/>
                </a:moveTo>
                <a:cubicBezTo>
                  <a:pt x="196766" y="259817"/>
                  <a:pt x="193333" y="253268"/>
                  <a:pt x="187432" y="249699"/>
                </a:cubicBezTo>
                <a:cubicBezTo>
                  <a:pt x="181532" y="246129"/>
                  <a:pt x="174138" y="246129"/>
                  <a:pt x="168237" y="249699"/>
                </a:cubicBezTo>
                <a:cubicBezTo>
                  <a:pt x="162336" y="253268"/>
                  <a:pt x="158904" y="259817"/>
                  <a:pt x="159325" y="266700"/>
                </a:cubicBezTo>
                <a:cubicBezTo>
                  <a:pt x="158904" y="273583"/>
                  <a:pt x="162336" y="280132"/>
                  <a:pt x="168237" y="283701"/>
                </a:cubicBezTo>
                <a:cubicBezTo>
                  <a:pt x="174138" y="287271"/>
                  <a:pt x="181532" y="287271"/>
                  <a:pt x="187432" y="283701"/>
                </a:cubicBezTo>
                <a:cubicBezTo>
                  <a:pt x="193333" y="280132"/>
                  <a:pt x="196766" y="273583"/>
                  <a:pt x="196344" y="266700"/>
                </a:cubicBezTo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37" name="Text 35"/>
          <p:cNvSpPr/>
          <p:nvPr/>
        </p:nvSpPr>
        <p:spPr>
          <a:xfrm>
            <a:off x="1587500" y="6286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Mohammadi et al. (2025) — The Adversarial Paradox:</a:t>
            </a:r>
            <a:r>
              <a:rPr lang="en-US" sz="15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XAI-informed token replacement drops accuracy by 20–35 pp with minimal semantic change. Any system transparent enough to explain its decisions is, by that transparency, providing a roadmap for evasion.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270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3 — Multi-Label Attribution &amp; Cross-Domain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4699000" cy="2667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6000" y="1841500"/>
            <a:ext cx="1143000" cy="330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1841500"/>
            <a:ext cx="1143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BASELINE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2286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Adilazuarda et al. (2023)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6000" y="26670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single detection paradigm dominates across all domains and languages. Transformers lead on single-domain, stylometry generalizes more stably.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78500" y="1587500"/>
            <a:ext cx="4699000" cy="2667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78500" y="1587500"/>
            <a:ext cx="4699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2500" y="1841500"/>
            <a:ext cx="1270000" cy="3302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2500" y="1841500"/>
            <a:ext cx="127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80C1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ATTRIBUTION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2500" y="2286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Najjar et al. (2025)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2500" y="26670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profiles create LLM-specific authorship signatures. Claude outputs show highest stylometric similarity to human writing — hardest to detect.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795000" y="1587500"/>
            <a:ext cx="4699000" cy="2667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95000" y="1587500"/>
            <a:ext cx="4699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Shape 22"/>
          <p:cNvSpPr/>
          <p:nvPr/>
        </p:nvSpPr>
        <p:spPr>
          <a:xfrm>
            <a:off x="11049000" y="1841500"/>
            <a:ext cx="1270000" cy="330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/>
          <p:nvPr/>
        </p:nvSpPr>
        <p:spPr>
          <a:xfrm>
            <a:off x="11049000" y="1841500"/>
            <a:ext cx="127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MULTI-LABEL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49000" y="2286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Zahraa et al. (2025)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049000" y="26670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 LIME+SHAP shows GPT-4 vs. Llama differ in syntactic complexity and hedging frequency — granular insight for educators &amp; editors.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62000" y="4508500"/>
            <a:ext cx="7175500" cy="2667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2000" y="4508500"/>
            <a:ext cx="7175500" cy="50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16000" y="4762500"/>
            <a:ext cx="1143000" cy="330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000" y="4762500"/>
            <a:ext cx="1143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MEDICAL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16000" y="5207000"/>
            <a:ext cx="6667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Baharifar et al. (2025)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6000" y="5588000"/>
            <a:ext cx="6667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Medical misinformation: LLM text flagged by overconfident assertions, absent epistemic hedging ('may', 'suggests'), and missing numerical precision.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18500" y="4508500"/>
            <a:ext cx="7175500" cy="2667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18500" y="4508500"/>
            <a:ext cx="71755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36" name="Shape 34"/>
          <p:cNvSpPr/>
          <p:nvPr/>
        </p:nvSpPr>
        <p:spPr>
          <a:xfrm>
            <a:off x="8572500" y="4762500"/>
            <a:ext cx="1270000" cy="3302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37" name="Text 35"/>
          <p:cNvSpPr/>
          <p:nvPr/>
        </p:nvSpPr>
        <p:spPr>
          <a:xfrm>
            <a:off x="8572500" y="4762500"/>
            <a:ext cx="127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80C1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72500" y="5207000"/>
            <a:ext cx="6667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Iqbal &amp; Kashem (2025)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572500" y="5588000"/>
            <a:ext cx="6667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Ensemble ML framework for scalable source ID. Relies on vocab distribution divergence, sentence length, connective phrase frequency.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508000"/>
            <a:ext cx="4064000" cy="25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270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 — Discriminative Linguistic Features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FF6B35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87500"/>
          <a:ext cx="14732000" cy="5461000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52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F6B35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Discriminative Feature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F6B35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Studies Identifying It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F6B35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Paradigm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F6B35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Grammatical standardization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Przystalski (2025), Masih (2025), Baharifar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00D9C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All three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Formulaic transitional phrases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 (2023), Joshi (2024), Zahraa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Transformer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Low lexical entropy / predictable vocab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 (2023), Przystalski (2025), Iqbal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Ensemble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Superlatives &amp; assertive constructions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Mitrovic (2023), Baharifar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Absence of epistemic hedging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Baharifar (2025), Najjar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Multi-label, Domain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 tag distribution anomalies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McGovern (2024), Przystalski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1764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Discourse-level coherence over-smoothing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Joshi (2024), Najjar (2025)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1F5F9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Transformer, Multi-label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C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62000" y="7302500"/>
            <a:ext cx="14732000" cy="76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2000" y="7302500"/>
            <a:ext cx="50800" cy="762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10"/>
          <p:cNvSpPr/>
          <p:nvPr/>
        </p:nvSpPr>
        <p:spPr>
          <a:xfrm>
            <a:off x="1079500" y="7302500"/>
            <a:ext cx="14097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FF6B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★</a:t>
            </a:r>
            <a:r>
              <a:rPr lang="en-US" sz="15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</a:t>
            </a:r>
            <a:r>
              <a:rPr lang="en-US" sz="15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single most consistently reported feature across ALL three paradigms (LIME &amp; SHAP, multiple architectures)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3_Abstract_polygonal_brain_on_dark.png"/>
          <p:cNvPicPr>
            <a:picLocks noChangeAspect="1"/>
          </p:cNvPicPr>
          <p:nvPr/>
        </p:nvPicPr>
        <p:blipFill>
          <a:blip r:embed="rId3"/>
          <a:srcRect t="821" b="821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88000"/>
                </a:srgbClr>
              </a:gs>
              <a:gs pos="50000">
                <a:srgbClr val="080C17">
                  <a:alpha val="75000"/>
                </a:srgbClr>
              </a:gs>
              <a:gs pos="100000">
                <a:srgbClr val="080C17">
                  <a:alpha val="63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80C17">
              <a:alpha val="50196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62000" y="2286000"/>
            <a:ext cx="5080000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0" dirty="0">
                <a:solidFill>
                  <a:srgbClr val="00D9C0">
                    <a:alpha val="12549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2000" y="4826000"/>
            <a:ext cx="1016000" cy="50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080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 &amp; Future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2000" y="59690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gaps, critical findings, and the path forward for explainable AI text detection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3970000" y="6350000"/>
            <a:ext cx="508000" cy="508000"/>
          </a:xfrm>
          <a:prstGeom prst="rect">
            <a:avLst/>
          </a:prstGeom>
          <a:solidFill>
            <a:srgbClr val="FF6B35">
              <a:alpha val="3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4732000" y="7112000"/>
            <a:ext cx="304800" cy="304800"/>
          </a:xfrm>
          <a:prstGeom prst="rect">
            <a:avLst/>
          </a:prstGeom>
          <a:solidFill>
            <a:srgbClr val="00D9C0">
              <a:alpha val="4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192000" y="508000"/>
            <a:ext cx="4064000" cy="254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8" name="Text 6"/>
          <p:cNvSpPr/>
          <p:nvPr/>
        </p:nvSpPr>
        <p:spPr>
          <a:xfrm>
            <a:off x="762000" y="698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Gaps &amp; Conclusion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2000" y="1295400"/>
            <a:ext cx="635000" cy="381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15875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1587500"/>
            <a:ext cx="50800" cy="1651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6000" y="1778000"/>
            <a:ext cx="1143000" cy="304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1778000"/>
            <a:ext cx="114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49500" y="1752600"/>
            <a:ext cx="533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1 — Adversarial Robustness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6000" y="22225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XAI-informed token replacement reduces accuracy by 20–35 pp. No system is simultaneously interpretable AND robust.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2000" y="34290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3429000"/>
            <a:ext cx="50800" cy="1651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6000" y="3619500"/>
            <a:ext cx="889000" cy="304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9" name="Text 17"/>
          <p:cNvSpPr/>
          <p:nvPr/>
        </p:nvSpPr>
        <p:spPr>
          <a:xfrm>
            <a:off x="1016000" y="3619500"/>
            <a:ext cx="88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095500" y="3594100"/>
            <a:ext cx="558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2 — Standardized XAI Evaluation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16000" y="40640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benchmarks for faithfulness, stability, or human interpretability. 'Explainable' remains a qualitative claim.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2000" y="52705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2000" y="5270500"/>
            <a:ext cx="50800" cy="1651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6000" y="5461000"/>
            <a:ext cx="889000" cy="304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/>
          <p:nvPr/>
        </p:nvSpPr>
        <p:spPr>
          <a:xfrm>
            <a:off x="1016000" y="5461000"/>
            <a:ext cx="88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095500" y="5435600"/>
            <a:ext cx="558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3 — Fairness for Non-Native Writers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16000" y="59055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discriminative features equally characterize non-native English speakers. Unaddressed ethical liability.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18500" y="15875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18500" y="1587500"/>
            <a:ext cx="50800" cy="1651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0" name="Shape 28"/>
          <p:cNvSpPr/>
          <p:nvPr/>
        </p:nvSpPr>
        <p:spPr>
          <a:xfrm>
            <a:off x="8572500" y="1778000"/>
            <a:ext cx="889000" cy="304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8572500" y="1778000"/>
            <a:ext cx="88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652000" y="1752600"/>
            <a:ext cx="558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4 — Cross-Domain Generalization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572500" y="22225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Legal domain entirely unstudied. Feature drift &amp; distributional shift degrade all paradigms.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18500" y="34290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18500" y="3429000"/>
            <a:ext cx="50800" cy="1651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36" name="Shape 34"/>
          <p:cNvSpPr/>
          <p:nvPr/>
        </p:nvSpPr>
        <p:spPr>
          <a:xfrm>
            <a:off x="8572500" y="3619500"/>
            <a:ext cx="1270000" cy="3048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37" name="Text 35"/>
          <p:cNvSpPr/>
          <p:nvPr/>
        </p:nvSpPr>
        <p:spPr>
          <a:xfrm>
            <a:off x="8572500" y="36195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80C1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MODERATE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033000" y="3594100"/>
            <a:ext cx="520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5 — Multilingual Detection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572500" y="40640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study applies formal XAI to non-English text. mBERT / XLM-RoBERTa needed.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318500" y="5270500"/>
            <a:ext cx="7175500" cy="1651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18500" y="5270500"/>
            <a:ext cx="50800" cy="1651000"/>
          </a:xfrm>
          <a:prstGeom prst="rect">
            <a:avLst/>
          </a:prstGeom>
          <a:solidFill>
            <a:srgbClr val="00D9C0"/>
          </a:solidFill>
          <a:ln/>
        </p:spPr>
      </p:sp>
      <p:sp>
        <p:nvSpPr>
          <p:cNvPr id="42" name="Text 40"/>
          <p:cNvSpPr/>
          <p:nvPr/>
        </p:nvSpPr>
        <p:spPr>
          <a:xfrm>
            <a:off x="8572500" y="53975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72500" y="5778500"/>
            <a:ext cx="66675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LIME &amp; SHAP consistently identify stable LLM prose properties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r>
              <a:rPr lang="en-US" sz="1400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adversarial paradox remains unresolved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62000" y="7175500"/>
            <a:ext cx="14732000" cy="635000"/>
          </a:xfrm>
          <a:prstGeom prst="rect">
            <a:avLst/>
          </a:prstGeom>
          <a:solidFill>
            <a:srgbClr val="080C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000" y="7175500"/>
            <a:ext cx="50800" cy="6350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6" name="Text 44"/>
          <p:cNvSpPr/>
          <p:nvPr/>
        </p:nvSpPr>
        <p:spPr>
          <a:xfrm>
            <a:off x="1079500" y="7175500"/>
            <a:ext cx="14097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i="1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"Detection systems that are not only accurate, but honest about how they know what they know."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94A3B8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4p276auw2u64e/mnt/agents/output/llm_detection_review/images/cover_b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80C17">
                  <a:alpha val="88000"/>
                </a:srgbClr>
              </a:gs>
              <a:gs pos="50000">
                <a:srgbClr val="080C17">
                  <a:alpha val="75000"/>
                </a:srgbClr>
              </a:gs>
              <a:gs pos="100000">
                <a:srgbClr val="080C17">
                  <a:alpha val="63000"/>
                </a:srgbClr>
              </a:gs>
            </a:gsLst>
            <a:lin ang="54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6858000" y="2540000"/>
            <a:ext cx="25400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2794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b="1" kern="0" spc="200" dirty="0">
                <a:solidFill>
                  <a:srgbClr val="F1F5F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18000" y="3937000"/>
            <a:ext cx="762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00D9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0" y="4572000"/>
            <a:ext cx="2540000" cy="25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3683000" y="4826000"/>
            <a:ext cx="889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 | Supervisor: </a:t>
            </a:r>
            <a:r>
              <a:rPr lang="en-US" sz="1600" b="1" dirty="0">
                <a:solidFill>
                  <a:srgbClr val="F1F5F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Dr. Ahmad Niaz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540000" y="6350000"/>
            <a:ext cx="2540000" cy="152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40000" y="6477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2540000" y="7302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Studies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61000" y="6350000"/>
            <a:ext cx="2540000" cy="152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61000" y="6477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61000" y="7302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Themes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382000" y="6350000"/>
            <a:ext cx="2540000" cy="152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2000" y="6477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6B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382000" y="7302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1303000" y="6350000"/>
            <a:ext cx="2540000" cy="152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03000" y="6477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00D9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303000" y="7302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Methods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3970000" y="1016000"/>
            <a:ext cx="508000" cy="508000"/>
          </a:xfrm>
          <a:prstGeom prst="rect">
            <a:avLst/>
          </a:prstGeom>
          <a:solidFill>
            <a:srgbClr val="FF6B35">
              <a:alpha val="30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4732000" y="1778000"/>
            <a:ext cx="304800" cy="304800"/>
          </a:xfrm>
          <a:prstGeom prst="rect">
            <a:avLst/>
          </a:prstGeom>
          <a:solidFill>
            <a:srgbClr val="00D9C0">
              <a:alpha val="4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1356</Words>
  <Application>Microsoft Office PowerPoint</Application>
  <PresentationFormat>Custom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Liter</vt:lpstr>
      <vt:lpstr>Arial</vt:lpstr>
      <vt:lpstr>Quattrocento Sans</vt:lpstr>
      <vt:lpstr>QuattrocentoSans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Identification of Human vs. LLM-Generated Text</dc:title>
  <dc:subject>Explainable Identification of Human vs. LLM-Generated Text</dc:subject>
  <dc:creator>Kimi</dc:creator>
  <cp:lastModifiedBy>Jawwad Ahmad</cp:lastModifiedBy>
  <cp:revision>2</cp:revision>
  <dcterms:created xsi:type="dcterms:W3CDTF">2026-04-24T16:08:39Z</dcterms:created>
  <dcterms:modified xsi:type="dcterms:W3CDTF">2026-04-26T10:32:38Z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{"Label":"Explainable Identification of Human vs. LLM-Generated Text","ContentProducer":"001191110108MACG2KBH8F10000","ProduceID":"19dc02d5-c942-8150-8000-0000c5388ca5","ReservedCode1":"","ContentPropagator":"001191110108MACG2KBH8F20000","PropagateID":"19dc02d5-c942-8150-8000-0000c5388ca5","ReservedCode2":""}</vt:lpwstr>
  </property>
</Properties>
</file>