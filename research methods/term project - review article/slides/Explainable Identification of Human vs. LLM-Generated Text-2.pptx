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Liter" charset="-122" pitchFamily="34"/>
      <p:regular r:id="rId22"/>
    </p:embeddedFon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276auw2u64e/mnt/agents/output/llm_detection_review/images/cov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80C17">
                  <a:alpha val="94000"/>
                </a:srgbClr>
              </a:gs>
              <a:gs pos="55000">
                <a:srgbClr val="080C17">
                  <a:alpha val="75000"/>
                </a:srgbClr>
              </a:gs>
              <a:gs pos="100000">
                <a:srgbClr val="080C17">
                  <a:alpha val="25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62000" y="2794000"/>
            <a:ext cx="1016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28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 REVIEW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30480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Identification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0005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Human vs. LLM 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Systematic Review with LIME &amp; SHAP Attribution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5842000"/>
            <a:ext cx="2540000" cy="25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6096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F25NDOCS3W04013 | MSCS 2nd Semester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Ahmad Niaz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7620000"/>
            <a:ext cx="7874000" cy="55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7620000"/>
            <a:ext cx="749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 LIME SHAP XAI NLP RoBERTa DistilBERT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970000" y="1016000"/>
            <a:ext cx="508000" cy="508000"/>
          </a:xfrm>
          <a:prstGeom prst="rect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4732000" y="1778000"/>
            <a:ext cx="304800" cy="304800"/>
          </a:xfrm>
          <a:prstGeom prst="rect">
            <a:avLst/>
          </a:prstGeom>
          <a:solidFill>
            <a:srgbClr val="00D9C0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0" y="2032000"/>
            <a:ext cx="203200" cy="20320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318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6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762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6604000" y="1016000"/>
            <a:ext cx="8890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04000" y="1016000"/>
            <a:ext cx="50800" cy="1524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1016000"/>
            <a:ext cx="1016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0" y="1143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Background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text detection challenge — LLMs, LIME, SHAP, XAI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04000" y="2794000"/>
            <a:ext cx="8890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4000" y="2794000"/>
            <a:ext cx="50800" cy="1524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3" name="Text 11"/>
          <p:cNvSpPr/>
          <p:nvPr/>
        </p:nvSpPr>
        <p:spPr>
          <a:xfrm>
            <a:off x="6985000" y="2794000"/>
            <a:ext cx="1016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2921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PRISMA systematic review — 250 records to 12 studies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04000" y="4572000"/>
            <a:ext cx="8890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4000" y="4572000"/>
            <a:ext cx="50800" cy="1524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985000" y="4572000"/>
            <a:ext cx="1016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0" y="4699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Findings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research themes — Stylometric, Transformers, Multi-label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04000" y="6350000"/>
            <a:ext cx="8890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4000" y="6350000"/>
            <a:ext cx="50800" cy="1524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21" name="Text 19"/>
          <p:cNvSpPr/>
          <p:nvPr/>
        </p:nvSpPr>
        <p:spPr>
          <a:xfrm>
            <a:off x="6985000" y="6350000"/>
            <a:ext cx="1016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0" y="6477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&amp; Future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gaps, critical findings, and the path forward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080000"/>
            <a:ext cx="45720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80000" y="7620000"/>
            <a:ext cx="381000" cy="38100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276auw2u64e/mnt/agents/output/llm_detection_review/images/2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80C17">
                  <a:alpha val="88000"/>
                </a:srgbClr>
              </a:gs>
              <a:gs pos="50000">
                <a:srgbClr val="080C17">
                  <a:alpha val="75000"/>
                </a:srgbClr>
              </a:gs>
              <a:gs pos="100000">
                <a:srgbClr val="080C17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80C17">
              <a:alpha val="5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28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6B35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826000"/>
            <a:ext cx="1016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text detection challenge — LLMs, LIME, SHAP, and the need for explainability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970000" y="6350000"/>
            <a:ext cx="508000" cy="508000"/>
          </a:xfrm>
          <a:prstGeom prst="rect">
            <a:avLst/>
          </a:prstGeom>
          <a:solidFill>
            <a:srgbClr val="00D9C0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732000" y="7112000"/>
            <a:ext cx="304800" cy="304800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8000"/>
            <a:ext cx="4064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— The Problem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8128000" cy="67945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87500"/>
            <a:ext cx="50800" cy="6794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Does This Matter?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286000"/>
            <a:ext cx="7366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D9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LLMs (GPT-4, Claude, Llama, Gemini) produce text indistinguishable from human writing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0D9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Serious risks in academia, journalism, medicine, and law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0D9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Early systems used perplexity scores &amp; stylometric indices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0D9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Transformers (RoBERTa, DistilBERT) achieve high accuracy but opaque decisions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0D9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Black-box decisions cannot support institutional accountability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0D9C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FF6B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XAI is now essential — not optional — for trustworthy deployment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71000" y="1587500"/>
            <a:ext cx="6223000" cy="203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0" y="1714500"/>
            <a:ext cx="190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4+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11557000" y="1841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Covered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57000" y="2286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GPT-4, Llama, Claude, Gemini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71000" y="3873500"/>
            <a:ext cx="6223000" cy="203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5000" y="4000500"/>
            <a:ext cx="190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11557000" y="4127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Studies Reviewed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57000" y="4572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2023–2026 PRISMA synthesis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71000" y="6159500"/>
            <a:ext cx="6223000" cy="22225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5000" y="6286500"/>
            <a:ext cx="190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11557000" y="6413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XAI Methods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57000" y="6858000"/>
            <a:ext cx="368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LIME &amp; SHAP attribution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8000"/>
            <a:ext cx="4064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— Key Concepts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826000" cy="67945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87500"/>
            <a:ext cx="50800" cy="67945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1778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" y="2286000"/>
            <a:ext cx="4191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Transformer architecture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Self-attention for long-range dependencies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Autoregressive generation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Probability dist. over vocabulary at each step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Temperature parameter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Controls output diversity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lang="en-US" sz="1600" b="1" dirty="0">
                <a:solidFill>
                  <a:srgbClr val="FF6B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 text markers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Rhythm variation, idiosyncratic word choice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6B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LLM text markers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Grammatical standardization, high lexical predictability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05500" y="1587500"/>
            <a:ext cx="9588500" cy="406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3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LIME vs. SHAP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23000" y="2286000"/>
            <a:ext cx="4445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000" y="2286000"/>
            <a:ext cx="50800" cy="1524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477000" y="2387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0" y="2768600"/>
            <a:ext cx="393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Perturbs tokens, fits local linear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flexible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unstable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58500" y="2286000"/>
            <a:ext cx="4445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58500" y="2286000"/>
            <a:ext cx="50800" cy="1524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22" name="Text 20"/>
          <p:cNvSpPr/>
          <p:nvPr/>
        </p:nvSpPr>
        <p:spPr>
          <a:xfrm>
            <a:off x="11112500" y="2387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12500" y="2768600"/>
            <a:ext cx="3937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Game-theory based, Shapley fair attribution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&amp; reproducible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compute cost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23000" y="40005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Both: Post-hoc · Local · Model-agnostic · Feature-level attribution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05500" y="5905500"/>
            <a:ext cx="9588500" cy="24765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30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Paradigms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23000" y="6604000"/>
            <a:ext cx="2921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23000" y="6604000"/>
            <a:ext cx="2921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13500" y="685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Stylometric +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ML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34500" y="6604000"/>
            <a:ext cx="2921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34500" y="6604000"/>
            <a:ext cx="29210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685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Transformer-based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446000" y="6604000"/>
            <a:ext cx="2921000" cy="1524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446000" y="6604000"/>
            <a:ext cx="2921000" cy="508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12636500" y="685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Attribution Frameworks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276auw2u64e/mnt/agents/output/llm_detection_review/images/9_Neural_Network_Big_Data_Flow_Visualizat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80C17">
                  <a:alpha val="88000"/>
                </a:srgbClr>
              </a:gs>
              <a:gs pos="50000">
                <a:srgbClr val="080C17">
                  <a:alpha val="75000"/>
                </a:srgbClr>
              </a:gs>
              <a:gs pos="100000">
                <a:srgbClr val="080C17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80C17">
              <a:alpha val="5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28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00D9C0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826000"/>
            <a:ext cx="10160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PRISMA systematic review framework — 250 records to 12 included studies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970000" y="6350000"/>
            <a:ext cx="508000" cy="508000"/>
          </a:xfrm>
          <a:prstGeom prst="rect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732000" y="7112000"/>
            <a:ext cx="304800" cy="304800"/>
          </a:xfrm>
          <a:prstGeom prst="rect">
            <a:avLst/>
          </a:prstGeom>
          <a:solidFill>
            <a:srgbClr val="00D9C0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4000" y="508000"/>
            <a:ext cx="4064000" cy="254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— PRISMA Framework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2286000" cy="1270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587500"/>
            <a:ext cx="228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2000" y="1587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250 records from 4 databases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Scholar (120), ArXiv (72), IEEE Xplore (38), SciSpace (20)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duplicates removed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51000" y="2857500"/>
            <a:ext cx="0" cy="25400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" y="3238500"/>
            <a:ext cx="2286000" cy="1270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238500"/>
            <a:ext cx="228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80C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02000" y="3238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182 records screened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126 excluded: Not AGTD, No XAI component, Pre-2023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51000" y="4508500"/>
            <a:ext cx="0" cy="25400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62000" y="4889500"/>
            <a:ext cx="2286000" cy="12700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00" y="4889500"/>
            <a:ext cx="228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ELIGIBLE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02000" y="4889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 full texts assessed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excluded: No formal XAI (n=18), Small dataset (n=12), Other (n=14)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51000" y="6159500"/>
            <a:ext cx="0" cy="25400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62000" y="6540500"/>
            <a:ext cx="2286000" cy="1270000"/>
          </a:xfrm>
          <a:prstGeom prst="rect">
            <a:avLst/>
          </a:prstGeom>
          <a:solidFill>
            <a:srgbClr val="0F172A"/>
          </a:solidFill>
          <a:ln w="25400">
            <a:solidFill>
              <a:srgbClr val="00D9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6540500"/>
            <a:ext cx="228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02000" y="6540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studies included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(2023–2026)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/ SHAP focus · Multi-domain coverage · Thematic synthesis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0" y="1587500"/>
            <a:ext cx="5334000" cy="622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0000" y="1587500"/>
            <a:ext cx="50800" cy="6223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1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Inclusion Criteria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41000" y="2286000"/>
            <a:ext cx="4699000" cy="463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Published Jan 2023 – Mar 2026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Addresses AI text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≥1 XAI method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Written in English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Dataset ≥500 samples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Reports Accuracy / F1 / AUC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541000" y="6985000"/>
            <a:ext cx="4699000" cy="635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41000" y="6985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Synthesis (not meta-analysis)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276auw2u64e/mnt/agents/output/llm_detection_review/images/10_Abstract_Ai_Neural_Network_Conce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80C17">
                  <a:alpha val="88000"/>
                </a:srgbClr>
              </a:gs>
              <a:gs pos="50000">
                <a:srgbClr val="080C17">
                  <a:alpha val="75000"/>
                </a:srgbClr>
              </a:gs>
              <a:gs pos="100000">
                <a:srgbClr val="080C17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80C17">
              <a:alpha val="5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28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6B35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826000"/>
            <a:ext cx="1016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research themes — Stylometric methods, Transformer deep learning, and Multi-label attribution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970000" y="6350000"/>
            <a:ext cx="508000" cy="508000"/>
          </a:xfrm>
          <a:prstGeom prst="rect">
            <a:avLst/>
          </a:prstGeom>
          <a:solidFill>
            <a:srgbClr val="00D9C0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732000" y="7112000"/>
            <a:ext cx="304800" cy="304800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508000"/>
            <a:ext cx="4064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Theme 1 — Stylometric &amp; Classical ML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50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87500"/>
            <a:ext cx="4699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841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Shah et al. (2023)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349500"/>
            <a:ext cx="419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SVM, Logistic Reg., Random Forest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Tool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+ SHAP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Simpson's Index, Punctuation regularity, Low-entropy word choice, Formulaic transitions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homogeneity (English general domain only)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1587500"/>
            <a:ext cx="4699000" cy="50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8500" y="1587500"/>
            <a:ext cx="46990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6032500" y="1841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McGovern et al. (2024)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2349500"/>
            <a:ext cx="419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 analysis, Frequency distributions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Tool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visualization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 tag distributions, LLM-specific high-frequency token profiles, Adjective-noun sequences, Passive constructions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formal model-agnostic XAI; visualizations only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587500"/>
            <a:ext cx="4699000" cy="50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95000" y="1587500"/>
            <a:ext cx="4699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1841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Przystalski et al. (2025)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2349500"/>
            <a:ext cx="419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on short samples (&lt;200w)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Tool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(global + local)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 (2× weight), Atypical word freq. distributions, Lexical entropy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not generalize to professional writing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921500"/>
            <a:ext cx="14732000" cy="76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" y="6921500"/>
            <a:ext cx="50800" cy="762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6921500"/>
            <a:ext cx="140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finding: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text is more grammatically regular &amp; lexically predictable than human text — confirmed across all 3 studies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508000"/>
            <a:ext cx="4064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Theme 2 — Transformer-Based Deep Learning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431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87500"/>
            <a:ext cx="4699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841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Mitrovic et al. (2023)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349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DistilBERT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2794000"/>
            <a:ext cx="12700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794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~84%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76500" y="279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(token)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4290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reviews overuse superlatives; humans use idiosyncratic vocab &amp; hedged evaluations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0" y="1587500"/>
            <a:ext cx="4699000" cy="431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8500" y="1587500"/>
            <a:ext cx="46990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0" y="1841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Joshi et al. (2024)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2349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RoBERTa-Sentinel — HULLMI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2500" y="2794000"/>
            <a:ext cx="1270000" cy="4572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0" y="2794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80C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~91%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3000" y="279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(token)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34290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complements accuracy; formulaic hedging &amp; impersonal constructions are key signals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1587500"/>
            <a:ext cx="4699000" cy="431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95000" y="1587500"/>
            <a:ext cx="4699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11049000" y="1841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Masih et al. (2025)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2349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BERT, RoBERTa, GPT-2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049000" y="2794000"/>
            <a:ext cx="12700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9000" y="2794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~89%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09500" y="279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LIME + SHAP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49000" y="34290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more stable than LIME; both can expose models correct for wrong reasons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6159500"/>
            <a:ext cx="147320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000" y="6159500"/>
            <a:ext cx="50800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9500" y="641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1587500" y="6286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Mohammadi et al. (2025) — The Adversarial Paradox: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XAI-informed token replacement drops accuracy by 20–35 pp with minimal semantic change. Any system transparent enough to explain its decisions is, by that transparency, providing a roadmap for evasion.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508000"/>
            <a:ext cx="4064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Theme 3 — Multi-Label Attribution &amp; Cross-Domain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2667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87500"/>
            <a:ext cx="4699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1841500"/>
            <a:ext cx="1143000" cy="330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8415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286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Adilazuarda et al. (2023)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2667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detection paradigm dominates across all domains and languages. Transformers lead on single-domain, stylometry generalizes more stably.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0" y="1587500"/>
            <a:ext cx="4699000" cy="2667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8500" y="1587500"/>
            <a:ext cx="46990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2500" y="1841500"/>
            <a:ext cx="1270000" cy="3302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2500" y="1841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80C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2286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Najjar et al. (2025)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2667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profiles create LLM-specific authorship signatures. Claude outputs show highest stylometric similarity to human writing — hardest to detect.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95000" y="1587500"/>
            <a:ext cx="4699000" cy="2667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95000" y="1587500"/>
            <a:ext cx="4699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49000" y="1841500"/>
            <a:ext cx="1270000" cy="330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1841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MULTI-LABEL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2286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Zahraa et al. (2025)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2667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LIME+SHAP shows GPT-4 vs. Llama differ in syntactic complexity and hedging frequency — granular insight for educators &amp; editors.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508500"/>
            <a:ext cx="7175500" cy="2667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" y="4508500"/>
            <a:ext cx="7175500" cy="50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4762500"/>
            <a:ext cx="1143000" cy="33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47625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5207000"/>
            <a:ext cx="666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Baharifar et al. (2025)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55880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misinformation: LLM text flagged by overconfident assertions, absent epistemic hedging ('may', 'suggests'), and missing numerical precision.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0" y="4508500"/>
            <a:ext cx="7175500" cy="2667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8500" y="4508500"/>
            <a:ext cx="71755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36" name="Shape 34"/>
          <p:cNvSpPr/>
          <p:nvPr/>
        </p:nvSpPr>
        <p:spPr>
          <a:xfrm>
            <a:off x="8572500" y="4762500"/>
            <a:ext cx="1270000" cy="3302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37" name="Text 35"/>
          <p:cNvSpPr/>
          <p:nvPr/>
        </p:nvSpPr>
        <p:spPr>
          <a:xfrm>
            <a:off x="8572500" y="4762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80C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72500" y="5207000"/>
            <a:ext cx="6667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Iqbal &amp; Kashem (2025)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2500" y="55880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ML framework for scalable source ID. Relies on vocab distribution divergence, sentence length, connective phrase frequency.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0" y="508000"/>
            <a:ext cx="4064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 — Discriminative Linguistic Features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5461000"/>
        </p:xfrm>
        <a:graphic>
          <a:graphicData uri="http://schemas.openxmlformats.org/drawingml/2006/table">
            <a:tbl>
              <a:tblPr/>
              <a:tblGrid>
                <a:gridCol w="4419600"/>
                <a:gridCol w="6629400"/>
                <a:gridCol w="3683000"/>
              </a:tblGrid>
              <a:tr h="54865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6B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Discriminative 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6B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Studies Identifying 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6B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Paradigm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6B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Grammatical standardization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Przystalski (2025), Masih (2025), Baharifar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D9C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three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Formulaic transitional phrases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Shah (2023), Joshi (2024), Zahraa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Stylometric, Transformer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lexical entropy / predictable vocab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Shah (2023), Przystalski (2025), Iqbal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Stylometric, Ensemble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Superlatives &amp; assertive constructions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Mitrovic (2023), Baharifar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Absence of epistemic hedging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Baharifar (2025), Najjar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Multi-label, Domain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 tag distribution anomalies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McGovern (2024), Przystalski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Stylometric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017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Discourse-level coherence over-smoothing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Joshi (2024), Najjar (2025)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Transformer, Multi-label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2000" y="7302500"/>
            <a:ext cx="50800" cy="762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1079500" y="7302500"/>
            <a:ext cx="140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Grammatical standardization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single most consistently reported feature across ALL three paradigms (LIME &amp; SHAP, multiple architectures)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276auw2u64e/mnt/agents/output/llm_detection_review/images/3_Abstract_polygonal_brain_on_dark.png">    </p:cNvPr>
          <p:cNvPicPr>
            <a:picLocks noChangeAspect="1"/>
          </p:cNvPicPr>
          <p:nvPr/>
        </p:nvPicPr>
        <p:blipFill>
          <a:blip r:embed="rId1"/>
          <a:srcRect l="0" r="0" t="821" b="82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80C17">
                  <a:alpha val="88000"/>
                </a:srgbClr>
              </a:gs>
              <a:gs pos="50000">
                <a:srgbClr val="080C17">
                  <a:alpha val="75000"/>
                </a:srgbClr>
              </a:gs>
              <a:gs pos="100000">
                <a:srgbClr val="080C17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80C17">
              <a:alpha val="5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28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00D9C0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826000"/>
            <a:ext cx="1016000" cy="50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08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&amp; Future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gaps, critical findings, and the path forward for explainable AI text detection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970000" y="6350000"/>
            <a:ext cx="508000" cy="508000"/>
          </a:xfrm>
          <a:prstGeom prst="rect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732000" y="7112000"/>
            <a:ext cx="304800" cy="304800"/>
          </a:xfrm>
          <a:prstGeom prst="rect">
            <a:avLst/>
          </a:prstGeom>
          <a:solidFill>
            <a:srgbClr val="00D9C0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192000" y="508000"/>
            <a:ext cx="4064000" cy="254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698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 &amp; Conclusion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2000" y="1295400"/>
            <a:ext cx="635000" cy="381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75500" cy="1651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1587500"/>
            <a:ext cx="50800" cy="1651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1778000"/>
            <a:ext cx="1143000" cy="304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778000"/>
            <a:ext cx="11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49500" y="17526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1 — Adversarial Robustness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22225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XAI-informed token replacement reduces accuracy by 20–35 pp. No system is simultaneously interpretable AND robust.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429000"/>
            <a:ext cx="7175500" cy="1651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3429000"/>
            <a:ext cx="50800" cy="1651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3619500"/>
            <a:ext cx="889000" cy="304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36195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95500" y="35941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2 — Standardized XAI Evaluation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0640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benchmarks for faithfulness, stability, or human interpretability. 'Explainable' remains a qualitative claim.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70500"/>
            <a:ext cx="7175500" cy="1651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" y="5270500"/>
            <a:ext cx="50800" cy="1651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5461000"/>
            <a:ext cx="889000" cy="304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54610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95500" y="54356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3 — Fairness for Non-Native Writers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59055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discriminative features equally characterize non-native English speakers. Unaddressed ethical liability.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18500" y="1587500"/>
            <a:ext cx="7175500" cy="1651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18500" y="1587500"/>
            <a:ext cx="50800" cy="1651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Shape 28"/>
          <p:cNvSpPr/>
          <p:nvPr/>
        </p:nvSpPr>
        <p:spPr>
          <a:xfrm>
            <a:off x="8572500" y="1778000"/>
            <a:ext cx="889000" cy="304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8572500" y="17780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52000" y="17526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4 — Cross-Domain Generalization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72500" y="22225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domain entirely unstudied. Feature drift &amp; distributional shift degrade all paradigms.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0" y="3429000"/>
            <a:ext cx="7175500" cy="1651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8500" y="3429000"/>
            <a:ext cx="50800" cy="1651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36" name="Shape 34"/>
          <p:cNvSpPr/>
          <p:nvPr/>
        </p:nvSpPr>
        <p:spPr>
          <a:xfrm>
            <a:off x="8572500" y="3619500"/>
            <a:ext cx="1270000" cy="3048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37" name="Text 35"/>
          <p:cNvSpPr/>
          <p:nvPr/>
        </p:nvSpPr>
        <p:spPr>
          <a:xfrm>
            <a:off x="8572500" y="3619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80C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33000" y="3594100"/>
            <a:ext cx="520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5 — Multilingual Detection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2500" y="40640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study applies formal XAI to non-English text. mBERT / XLM-RoBERTa needed.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18500" y="5270500"/>
            <a:ext cx="7175500" cy="1651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18500" y="5270500"/>
            <a:ext cx="50800" cy="165100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42" name="Text 40"/>
          <p:cNvSpPr/>
          <p:nvPr/>
        </p:nvSpPr>
        <p:spPr>
          <a:xfrm>
            <a:off x="8572500" y="539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72500" y="5778500"/>
            <a:ext cx="666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LIME &amp; SHAP consistently identify stable LLM prose properties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adversarial paradox remains unresolved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7175500"/>
            <a:ext cx="14732000" cy="635000"/>
          </a:xfrm>
          <a:prstGeom prst="rect">
            <a:avLst/>
          </a:prstGeom>
          <a:solidFill>
            <a:srgbClr val="080C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2000" y="7175500"/>
            <a:ext cx="50800" cy="635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1079500" y="7175500"/>
            <a:ext cx="140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i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"Detection systems that are not only accurate, but honest about how they know what they know."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p276auw2u64e/mnt/agents/output/llm_detection_review/images/cov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80C17">
                  <a:alpha val="88000"/>
                </a:srgbClr>
              </a:gs>
              <a:gs pos="50000">
                <a:srgbClr val="080C17">
                  <a:alpha val="75000"/>
                </a:srgbClr>
              </a:gs>
              <a:gs pos="100000">
                <a:srgbClr val="080C17">
                  <a:alpha val="63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794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3937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572000"/>
            <a:ext cx="2540000" cy="25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482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Jawwad Ahmad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F25NDOCS3W04013 | MSCS 2nd Semester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Islamia University of Bahawalpur | Supervisor: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Ahmad Niaz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0" y="6350000"/>
            <a:ext cx="2540000" cy="152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40000" y="6477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40000" y="730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61000" y="6350000"/>
            <a:ext cx="2540000" cy="152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1000" y="6477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61000" y="730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82000" y="6350000"/>
            <a:ext cx="2540000" cy="152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2000" y="6477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82000" y="730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303000" y="6350000"/>
            <a:ext cx="2540000" cy="1524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03000" y="6477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00D9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03000" y="730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 Methods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970000" y="1016000"/>
            <a:ext cx="508000" cy="508000"/>
          </a:xfrm>
          <a:prstGeom prst="rect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4732000" y="1778000"/>
            <a:ext cx="304800" cy="304800"/>
          </a:xfrm>
          <a:prstGeom prst="rect">
            <a:avLst/>
          </a:prstGeom>
          <a:solidFill>
            <a:srgbClr val="00D9C0">
              <a:alpha val="4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Identification of Human vs. LLM-Generated Text</dc:title>
  <dc:subject>Explainable Identification of Human vs. LLM-Generated Text</dc:subject>
  <dc:creator>Kimi</dc:creator>
  <cp:lastModifiedBy>Kimi</cp:lastModifiedBy>
  <cp:revision>1</cp:revision>
  <dcterms:created xsi:type="dcterms:W3CDTF">2026-04-24T16:08:39Z</dcterms:created>
  <dcterms:modified xsi:type="dcterms:W3CDTF">2026-04-24T16:08:39Z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{"Label":"Explainable Identification of Human vs. LLM-Generated Text","ContentProducer":"001191110108MACG2KBH8F10000","ProduceID":"19dc02d5-c942-8150-8000-0000c5388ca5","ReservedCode1":"","ContentPropagator":"001191110108MACG2KBH8F20000","PropagateID":"19dc02d5-c942-8150-8000-0000c5388ca5","ReservedCode2":""}</vt:lpwstr>
  </property>
</Properties>
</file>