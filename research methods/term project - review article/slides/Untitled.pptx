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21678900" cy="12192000"/>
  <p:notesSz cx="12192000" cy="21678900"/>
  <p:embeddedFontLst>
    <p:embeddedFont>
      <p:font typeface="Liter" charset="-122" pitchFamily="34"/>
      <p:regular r:id="rId22"/>
    </p:embeddedFont>
    <p:embeddedFont>
      <p:font typeface="Quattrocento Sans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F8FAFC"/>
            </a:gs>
            <a:gs pos="50000">
              <a:srgbClr val="EFF6FF"/>
            </a:gs>
            <a:gs pos="100000">
              <a:srgbClr val="DBEAFE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3725291"/>
            <a:ext cx="1354709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3048000"/>
            <a:ext cx="10160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2987040"/>
            <a:ext cx="10403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spc="400" kern="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SYSTEMATIC REVIEW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4064000"/>
            <a:ext cx="11853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4080" y="4003040"/>
            <a:ext cx="12097131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930" b="1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Identification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5334000"/>
            <a:ext cx="11853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4080" y="5273040"/>
            <a:ext cx="12097131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930" b="1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Human vs. LLM Text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6773291"/>
            <a:ext cx="10160000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94080" y="6712331"/>
            <a:ext cx="10403840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Systematic Review with LIME &amp; SHAP Attribution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7789291"/>
            <a:ext cx="3386709" cy="3390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8128000"/>
            <a:ext cx="10160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8067040"/>
            <a:ext cx="1040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13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Jawwad Ahmad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F25NDOCS3W04013 | MSCS 2nd Semester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</a:t>
            </a:r>
            <a:pPr>
              <a:lnSpc>
                <a:spcPct val="160000"/>
              </a:lnSpc>
            </a:pPr>
            <a:r>
              <a:rPr lang="en-US" sz="213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Ahmad Niaz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Islamia University of Bahawalpur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10160000"/>
            <a:ext cx="10498709" cy="7451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0000" y="10160000"/>
            <a:ext cx="9990709" cy="7451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48080" y="10099040"/>
            <a:ext cx="10234549" cy="867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GPT-4 LIME SHAP XAI NLP RoBERTa DistilBERT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626709" y="1354709"/>
            <a:ext cx="677291" cy="677291"/>
          </a:xfrm>
          <a:prstGeom prst="rect">
            <a:avLst/>
          </a:prstGeom>
          <a:solidFill>
            <a:srgbClr val="2563EB">
              <a:alpha val="8941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642709" y="2370709"/>
            <a:ext cx="406400" cy="406400"/>
          </a:xfrm>
          <a:prstGeom prst="rect">
            <a:avLst/>
          </a:prstGeom>
          <a:solidFill>
            <a:srgbClr val="0891B2">
              <a:alpha val="1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0" y="2709291"/>
            <a:ext cx="270891" cy="270891"/>
          </a:xfrm>
          <a:prstGeom prst="rect">
            <a:avLst/>
          </a:prstGeom>
          <a:solidFill>
            <a:srgbClr val="2563EB">
              <a:alpha val="4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1219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3048000"/>
            <a:ext cx="6096000" cy="237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2987040"/>
            <a:ext cx="6339840" cy="2492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757291"/>
            <a:ext cx="6096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4080" y="5696331"/>
            <a:ext cx="6339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spc="4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1016000"/>
            <a:ext cx="6773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4080" y="955040"/>
            <a:ext cx="7017131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032000"/>
            <a:ext cx="1016000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8805291" y="1354709"/>
            <a:ext cx="11853291" cy="203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05291" y="1354709"/>
            <a:ext cx="67691" cy="2032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9313291" y="1354709"/>
            <a:ext cx="1354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91371" y="1293749"/>
            <a:ext cx="1598549" cy="215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837291" y="1524000"/>
            <a:ext cx="9482709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715371" y="1463040"/>
            <a:ext cx="9726549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Background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 text detection challenge — LLMs, LIME, SHAP, XAI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05291" y="3725291"/>
            <a:ext cx="11853291" cy="203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5291" y="3725291"/>
            <a:ext cx="67691" cy="2032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9313291" y="3725291"/>
            <a:ext cx="1354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91371" y="3664331"/>
            <a:ext cx="1598549" cy="215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37291" y="3894709"/>
            <a:ext cx="9482709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715371" y="3833749"/>
            <a:ext cx="9726549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PRISMA systematic review — 250 records to 12 studies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05291" y="6096000"/>
            <a:ext cx="11853291" cy="203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05291" y="6096000"/>
            <a:ext cx="67691" cy="2032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9313291" y="6096000"/>
            <a:ext cx="1354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91371" y="6035040"/>
            <a:ext cx="1598549" cy="215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837291" y="6265291"/>
            <a:ext cx="9482709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715371" y="6204331"/>
            <a:ext cx="9726549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&amp; Findings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research themes — Stylometric, Transformers, Multi-label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805291" y="8466709"/>
            <a:ext cx="11853291" cy="203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05291" y="8466709"/>
            <a:ext cx="67691" cy="2032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Shape 28"/>
          <p:cNvSpPr/>
          <p:nvPr/>
        </p:nvSpPr>
        <p:spPr>
          <a:xfrm>
            <a:off x="9313291" y="8466709"/>
            <a:ext cx="1354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191371" y="8405749"/>
            <a:ext cx="1598549" cy="215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37291" y="8636000"/>
            <a:ext cx="9482709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715371" y="8575040"/>
            <a:ext cx="9726549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 &amp; Future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gaps, critical findings, and the path forward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16000" y="6773291"/>
            <a:ext cx="6096000" cy="16891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Shape 33"/>
          <p:cNvSpPr/>
          <p:nvPr/>
        </p:nvSpPr>
        <p:spPr>
          <a:xfrm>
            <a:off x="6773291" y="10160000"/>
            <a:ext cx="508000" cy="508000"/>
          </a:xfrm>
          <a:prstGeom prst="rect">
            <a:avLst/>
          </a:prstGeom>
          <a:solidFill>
            <a:srgbClr val="2563EB">
              <a:alpha val="4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F8FAFC"/>
            </a:gs>
            <a:gs pos="50000">
              <a:srgbClr val="EFF6FF"/>
            </a:gs>
            <a:gs pos="100000">
              <a:srgbClr val="DBEAFE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3048000"/>
            <a:ext cx="6773291" cy="304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94080" y="2987040"/>
            <a:ext cx="7017131" cy="316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30" dirty="0">
                <a:solidFill>
                  <a:srgbClr val="2563EB">
                    <a:alpha val="1215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6434709"/>
            <a:ext cx="1354709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6773291"/>
            <a:ext cx="11853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4080" y="6712331"/>
            <a:ext cx="120971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7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Background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7958709"/>
            <a:ext cx="11853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4080" y="7897749"/>
            <a:ext cx="1209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 text detection challenge — LLMs, LIME, SHAP, and the need for explainability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626709" y="8466709"/>
            <a:ext cx="677291" cy="677291"/>
          </a:xfrm>
          <a:prstGeom prst="rect">
            <a:avLst/>
          </a:prstGeom>
          <a:solidFill>
            <a:srgbClr val="0891B2">
              <a:alpha val="894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642709" y="9482709"/>
            <a:ext cx="406400" cy="406400"/>
          </a:xfrm>
          <a:prstGeom prst="rect">
            <a:avLst/>
          </a:prstGeom>
          <a:solidFill>
            <a:srgbClr val="2563EB">
              <a:alpha val="16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-12192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77291"/>
            <a:ext cx="5418709" cy="3390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18709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96789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37291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15371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25600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13408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931291"/>
            <a:ext cx="11853291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870331"/>
            <a:ext cx="12097131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— The Problem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1727200"/>
            <a:ext cx="846709" cy="50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116709"/>
            <a:ext cx="10837291" cy="9059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2116709"/>
            <a:ext cx="67691" cy="90592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2370709"/>
            <a:ext cx="5080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402080" y="2309749"/>
            <a:ext cx="532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Does This Matter?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24000" y="3048000"/>
            <a:ext cx="9821291" cy="778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402080" y="2987040"/>
            <a:ext cx="10065131" cy="791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LLMs (GPT-4, Claude, Llama, Gemini) produce text indistinguishable from human writing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Serious risks in academia, journalism, medicine, and law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Early systems used perplexity scores &amp; stylometric indices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Transformers (RoBERTa, DistilBERT) achieve high accuracy but opaque decisions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Black-box decisions cannot support institutional accountability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1800"/>
              </a:spcBef>
            </a:pPr>
            <a:r>
              <a:rPr lang="en-US" sz="24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is now essential — not optional — for trustworthy deployment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361291" y="2116709"/>
            <a:ext cx="8297291" cy="2709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700000" y="2286000"/>
            <a:ext cx="2540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578080" y="2225040"/>
            <a:ext cx="2783840" cy="1476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4+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409291" y="2455291"/>
            <a:ext cx="4910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287371" y="2394331"/>
            <a:ext cx="5154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LLMs Covered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409291" y="3048000"/>
            <a:ext cx="4910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5287371" y="2987040"/>
            <a:ext cx="5154549" cy="71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GPT-4, Llama, Claude, Gemini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361291" y="5164709"/>
            <a:ext cx="8297291" cy="2709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700000" y="5334000"/>
            <a:ext cx="2540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578080" y="5273040"/>
            <a:ext cx="2783840" cy="1476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5409291" y="5503291"/>
            <a:ext cx="4910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5287371" y="5442331"/>
            <a:ext cx="5154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Studies Reviewed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5409291" y="6096000"/>
            <a:ext cx="4910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5287371" y="6035040"/>
            <a:ext cx="5154549" cy="71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2023–2026 PRISMA synthesis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361291" y="8212709"/>
            <a:ext cx="8297291" cy="2963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700000" y="8382000"/>
            <a:ext cx="2540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578080" y="8321040"/>
            <a:ext cx="2783840" cy="1476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409291" y="8551291"/>
            <a:ext cx="4910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5287371" y="8490331"/>
            <a:ext cx="5154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XAI Methods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5409291" y="9144000"/>
            <a:ext cx="4910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5287371" y="9083040"/>
            <a:ext cx="5154549" cy="71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&amp; SHAP attribution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0320000" y="11684000"/>
            <a:ext cx="846709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20198080" y="11623040"/>
            <a:ext cx="1090549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-12192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77291"/>
            <a:ext cx="5418709" cy="3390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18709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96789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37291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15371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25600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13408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931291"/>
            <a:ext cx="11853291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870331"/>
            <a:ext cx="12097131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— Key Concepts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1727200"/>
            <a:ext cx="846709" cy="50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116709"/>
            <a:ext cx="6434709" cy="9059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2116709"/>
            <a:ext cx="67691" cy="90592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Shape 15"/>
          <p:cNvSpPr/>
          <p:nvPr/>
        </p:nvSpPr>
        <p:spPr>
          <a:xfrm>
            <a:off x="1439291" y="2370709"/>
            <a:ext cx="5588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17371" y="2309749"/>
            <a:ext cx="5831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39291" y="3048000"/>
            <a:ext cx="5588000" cy="778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17371" y="2987040"/>
            <a:ext cx="5831840" cy="791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13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 architecture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Self-attention for long-range dependencies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13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Autoregressive generation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 dist. over vocabulary at each step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13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parameter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 output diversity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13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text markers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Rhythm variation, idiosyncratic word choice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13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text markers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Grammatical standardization, high lexical predictability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74000" y="2116709"/>
            <a:ext cx="12784709" cy="541870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7291" y="2370709"/>
            <a:ext cx="5080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175371" y="2309749"/>
            <a:ext cx="532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LIME vs. SHAP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97291" y="3048000"/>
            <a:ext cx="5926709" cy="203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7291" y="3048000"/>
            <a:ext cx="67691" cy="2032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8636000" y="3183509"/>
            <a:ext cx="1693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514080" y="3122549"/>
            <a:ext cx="1937131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36000" y="3691509"/>
            <a:ext cx="5249291" cy="1219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514080" y="3630549"/>
            <a:ext cx="5493131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Perturbs tokens, fits local linear model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flexible</a:t>
            </a:r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>
              <a:lnSpc>
                <a:spcPct val="150000"/>
              </a:lnSpc>
            </a:pPr>
            <a:r>
              <a:rPr lang="en-US" sz="187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 unstable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478000" y="3048000"/>
            <a:ext cx="5926709" cy="203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478000" y="3048000"/>
            <a:ext cx="67691" cy="2032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Shape 30"/>
          <p:cNvSpPr/>
          <p:nvPr/>
        </p:nvSpPr>
        <p:spPr>
          <a:xfrm>
            <a:off x="14816709" y="3183509"/>
            <a:ext cx="1693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694789" y="3122549"/>
            <a:ext cx="1937131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816709" y="3691509"/>
            <a:ext cx="5249291" cy="1388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4694789" y="3630549"/>
            <a:ext cx="5493131" cy="151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Game-theory based, Shapley fair attribution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&amp; reproducible</a:t>
            </a:r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>
              <a:lnSpc>
                <a:spcPct val="150000"/>
              </a:lnSpc>
            </a:pPr>
            <a:r>
              <a:rPr lang="en-US" sz="187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compute cost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97291" y="5334000"/>
            <a:ext cx="11853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175371" y="5273040"/>
            <a:ext cx="12097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Both: Post-hoc · Local · Model-agnostic · Feature-level attribution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874000" y="7874000"/>
            <a:ext cx="12784709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7291" y="8128000"/>
            <a:ext cx="5080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175371" y="8067040"/>
            <a:ext cx="532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Paradigms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97291" y="8805291"/>
            <a:ext cx="3894709" cy="203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97291" y="8805291"/>
            <a:ext cx="3894709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Shape 41"/>
          <p:cNvSpPr/>
          <p:nvPr/>
        </p:nvSpPr>
        <p:spPr>
          <a:xfrm>
            <a:off x="8551291" y="9144000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429371" y="9083040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Stylometric +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Classical ML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446000" y="8805291"/>
            <a:ext cx="3894709" cy="203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446000" y="8805291"/>
            <a:ext cx="3894709" cy="676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7" name="Shape 45"/>
          <p:cNvSpPr/>
          <p:nvPr/>
        </p:nvSpPr>
        <p:spPr>
          <a:xfrm>
            <a:off x="12700000" y="9144000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2578080" y="9083040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Transformer-based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6594709" y="8805291"/>
            <a:ext cx="3894709" cy="203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594709" y="8805291"/>
            <a:ext cx="3894709" cy="67691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1" name="Shape 49"/>
          <p:cNvSpPr/>
          <p:nvPr/>
        </p:nvSpPr>
        <p:spPr>
          <a:xfrm>
            <a:off x="16848709" y="9144000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6726789" y="9083040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Attribution Frameworks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0320000" y="11684000"/>
            <a:ext cx="846709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20198080" y="11623040"/>
            <a:ext cx="1090549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 flip="none">
          <a:gsLst>
            <a:gs pos="0">
              <a:srgbClr val="F8FAFC"/>
            </a:gs>
            <a:gs pos="50000">
              <a:srgbClr val="EFF6FF"/>
            </a:gs>
            <a:gs pos="100000">
              <a:srgbClr val="DBEAFE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3048000"/>
            <a:ext cx="6773291" cy="304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94080" y="2987040"/>
            <a:ext cx="7017131" cy="316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30" dirty="0">
                <a:solidFill>
                  <a:srgbClr val="0891B2">
                    <a:alpha val="1215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6434709"/>
            <a:ext cx="1354709" cy="676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6773291"/>
            <a:ext cx="11853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4080" y="6712331"/>
            <a:ext cx="120971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7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7958709"/>
            <a:ext cx="11853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4080" y="7897749"/>
            <a:ext cx="1209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PRISMA systematic review framework — 250 records to 12 included studies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626709" y="8466709"/>
            <a:ext cx="677291" cy="677291"/>
          </a:xfrm>
          <a:prstGeom prst="rect">
            <a:avLst/>
          </a:prstGeom>
          <a:solidFill>
            <a:srgbClr val="2563EB">
              <a:alpha val="894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642709" y="9482709"/>
            <a:ext cx="406400" cy="406400"/>
          </a:xfrm>
          <a:prstGeom prst="rect">
            <a:avLst/>
          </a:prstGeom>
          <a:solidFill>
            <a:srgbClr val="0891B2">
              <a:alpha val="16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-12192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18709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96789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18709" y="677291"/>
            <a:ext cx="5418709" cy="3390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10837291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15371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25600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13408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931291"/>
            <a:ext cx="13546709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870331"/>
            <a:ext cx="13790549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— PRISMA Framework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1727200"/>
            <a:ext cx="846709" cy="50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116709"/>
            <a:ext cx="3048000" cy="16932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2116709"/>
            <a:ext cx="3048000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4080" y="2055749"/>
            <a:ext cx="3291840" cy="181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02709" y="2116709"/>
            <a:ext cx="8466709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280789" y="2055749"/>
            <a:ext cx="8710549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250 records from 4 databases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Scholar (120), ArXiv (72), IEEE Xplore (38), SciSpace (20)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 duplicates removed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01291" y="3810000"/>
            <a:ext cx="0" cy="33870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16000" y="4318000"/>
            <a:ext cx="3048000" cy="16932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4318000"/>
            <a:ext cx="3048000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94080" y="4257040"/>
            <a:ext cx="3291840" cy="181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2709" y="4318000"/>
            <a:ext cx="8466709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280789" y="4257040"/>
            <a:ext cx="8710549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182 records screened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126 excluded: Not AGTD, No XAI component, Pre-2023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201291" y="6011291"/>
            <a:ext cx="0" cy="33870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16000" y="6519291"/>
            <a:ext cx="3048000" cy="1693291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6000" y="6519291"/>
            <a:ext cx="3048000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94080" y="6458331"/>
            <a:ext cx="3291840" cy="181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ELIGIBLE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02709" y="6519291"/>
            <a:ext cx="8466709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280789" y="6458331"/>
            <a:ext cx="8710549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 full texts assessed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 excluded: No formal XAI (n=18), Small dataset (n=12), Other (n=14)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201291" y="8212709"/>
            <a:ext cx="0" cy="33870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016000" y="8720709"/>
            <a:ext cx="3048000" cy="1693291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6000" y="8720709"/>
            <a:ext cx="3048000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94080" y="8659749"/>
            <a:ext cx="3291840" cy="181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02709" y="8720709"/>
            <a:ext cx="8466709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280789" y="8659749"/>
            <a:ext cx="8710549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13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studies included</a:t>
            </a:r>
            <a:pPr>
              <a:lnSpc>
                <a:spcPct val="15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(2023–2026)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/ SHAP focus · Multi-domain coverage · Thematic synthesis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3546709" y="2116709"/>
            <a:ext cx="7112000" cy="8297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46709" y="2116709"/>
            <a:ext cx="67691" cy="82972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0" name="Shape 38"/>
          <p:cNvSpPr/>
          <p:nvPr/>
        </p:nvSpPr>
        <p:spPr>
          <a:xfrm>
            <a:off x="14054709" y="2370709"/>
            <a:ext cx="5080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3932789" y="2309749"/>
            <a:ext cx="532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Inclusion Criteria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4054709" y="3048000"/>
            <a:ext cx="6265291" cy="618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3932789" y="2987040"/>
            <a:ext cx="6509131" cy="630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Published Jan 2023 – Mar 2026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Addresses AI text detection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≥1 XAI method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Written in English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Dataset ≥500 samples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Reports Accuracy / F1 / AUC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4054709" y="9313291"/>
            <a:ext cx="6265291" cy="846709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054709" y="9313291"/>
            <a:ext cx="6265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3932789" y="9252331"/>
            <a:ext cx="6509131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Thematic Synthesis (not meta-analysis)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0320000" y="11684000"/>
            <a:ext cx="846709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0198080" y="11623040"/>
            <a:ext cx="1090549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 flip="none">
          <a:gsLst>
            <a:gs pos="0">
              <a:srgbClr val="F8FAFC"/>
            </a:gs>
            <a:gs pos="50000">
              <a:srgbClr val="EFF6FF"/>
            </a:gs>
            <a:gs pos="100000">
              <a:srgbClr val="DBEAFE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3048000"/>
            <a:ext cx="6773291" cy="304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94080" y="2987040"/>
            <a:ext cx="7017131" cy="316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30" dirty="0">
                <a:solidFill>
                  <a:srgbClr val="2563EB">
                    <a:alpha val="1215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6434709"/>
            <a:ext cx="1354709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6773291"/>
            <a:ext cx="11853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4080" y="6712331"/>
            <a:ext cx="120971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7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&amp; Findings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7958709"/>
            <a:ext cx="1354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4080" y="7897749"/>
            <a:ext cx="1379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research themes — Stylometric methods, Transformer deep learning, and Multi-label attribution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626709" y="8466709"/>
            <a:ext cx="677291" cy="677291"/>
          </a:xfrm>
          <a:prstGeom prst="rect">
            <a:avLst/>
          </a:prstGeom>
          <a:solidFill>
            <a:srgbClr val="0891B2">
              <a:alpha val="894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642709" y="9482709"/>
            <a:ext cx="406400" cy="406400"/>
          </a:xfrm>
          <a:prstGeom prst="rect">
            <a:avLst/>
          </a:prstGeom>
          <a:solidFill>
            <a:srgbClr val="2563EB">
              <a:alpha val="16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-12192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18709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96789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837291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715371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837291" y="677291"/>
            <a:ext cx="5418709" cy="3390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1625600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13408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931291"/>
            <a:ext cx="15240000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870331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Theme 1 — Stylometric &amp; Classical ML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1727200"/>
            <a:ext cx="846709" cy="50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116709"/>
            <a:ext cx="6265291" cy="6773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2116709"/>
            <a:ext cx="6265291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4709" y="2455291"/>
            <a:ext cx="5588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32789" y="2394331"/>
            <a:ext cx="5831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Shah et al. (2023)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54709" y="3132709"/>
            <a:ext cx="5588000" cy="541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32789" y="3071749"/>
            <a:ext cx="5831840" cy="554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SVM, Logistic Reg., Random Forest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300"/>
              </a:spcBef>
            </a:pPr>
            <a:r>
              <a:rPr lang="en-US" sz="187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Tool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+ SHAP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300"/>
              </a:spcBef>
            </a:pPr>
            <a:r>
              <a:rPr lang="en-US" sz="187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Simpson's Index, Punctuation regularity, Low-entropy word choice, Formulaic transitions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300"/>
              </a:spcBef>
            </a:pPr>
            <a:r>
              <a:rPr lang="en-US" sz="187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homogeneity (English general domain only)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04709" y="2116709"/>
            <a:ext cx="6265291" cy="6773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04709" y="2116709"/>
            <a:ext cx="6265291" cy="676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3291" y="2455291"/>
            <a:ext cx="5588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921371" y="2394331"/>
            <a:ext cx="5831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McGovern et al. (2024)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43291" y="3132709"/>
            <a:ext cx="5588000" cy="541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921371" y="3071749"/>
            <a:ext cx="5831840" cy="554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b="1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 analysis, Frequency distributions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300"/>
              </a:spcBef>
            </a:pPr>
            <a:r>
              <a:rPr lang="en-US" sz="1870" b="1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Tool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 visualization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300"/>
              </a:spcBef>
            </a:pPr>
            <a:r>
              <a:rPr lang="en-US" sz="1870" b="1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 tag distributions, LLM-specific high-frequency token profiles, Adjective-noun sequences, Passive constructions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300"/>
              </a:spcBef>
            </a:pPr>
            <a:r>
              <a:rPr lang="en-US" sz="187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formal model-agnostic XAI; visualizations only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393291" y="2116709"/>
            <a:ext cx="6265291" cy="6773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393291" y="2116709"/>
            <a:ext cx="6265291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14732000" y="2455291"/>
            <a:ext cx="5588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4610080" y="2394331"/>
            <a:ext cx="5831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Przystalski et al. (2025)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732000" y="3132709"/>
            <a:ext cx="5588000" cy="541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4610080" y="3071749"/>
            <a:ext cx="5831840" cy="554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on short samples (&lt;200w)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300"/>
              </a:spcBef>
            </a:pPr>
            <a:r>
              <a:rPr lang="en-US" sz="187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Tool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(global + local)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300"/>
              </a:spcBef>
            </a:pPr>
            <a:r>
              <a:rPr lang="en-US" sz="187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Grammatical standardization (2× weight), Atypical word freq. distributions, Lexical entropy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300"/>
              </a:spcBef>
            </a:pPr>
            <a:r>
              <a:rPr lang="en-US" sz="187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not generalize to professional writing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6000" y="9228709"/>
            <a:ext cx="19642709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6000" y="9228709"/>
            <a:ext cx="67691" cy="1016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Shape 33"/>
          <p:cNvSpPr/>
          <p:nvPr/>
        </p:nvSpPr>
        <p:spPr>
          <a:xfrm>
            <a:off x="1439291" y="9228709"/>
            <a:ext cx="18796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317371" y="9167749"/>
            <a:ext cx="19039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finding: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 text is more grammatically regular &amp; lexically predictable than human text — confirmed across all 3 studies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0320000" y="11684000"/>
            <a:ext cx="846709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0198080" y="11623040"/>
            <a:ext cx="1090549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-12192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18709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96789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837291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715371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837291" y="677291"/>
            <a:ext cx="5418709" cy="3390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1625600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13408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931291"/>
            <a:ext cx="15240000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870331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Theme 2 — Transformer-Based Deep Learning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1727200"/>
            <a:ext cx="846709" cy="50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116709"/>
            <a:ext cx="6265291" cy="5757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2116709"/>
            <a:ext cx="6265291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4709" y="2455291"/>
            <a:ext cx="5588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32789" y="2394331"/>
            <a:ext cx="5831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Mitrovic et al. (2023)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54709" y="3132709"/>
            <a:ext cx="5588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32789" y="3071749"/>
            <a:ext cx="5831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DistilBERT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54709" y="3725291"/>
            <a:ext cx="1693291" cy="609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1354709" y="3725291"/>
            <a:ext cx="1693291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32789" y="3664331"/>
            <a:ext cx="1937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~84%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02000" y="3725291"/>
            <a:ext cx="3386709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180080" y="3664331"/>
            <a:ext cx="3630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(token)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54709" y="4572000"/>
            <a:ext cx="5588000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32789" y="4511040"/>
            <a:ext cx="5831840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reviews overuse superlatives; humans use idiosyncratic vocab &amp; hedged evaluations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04709" y="2116709"/>
            <a:ext cx="6265291" cy="5757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04709" y="2116709"/>
            <a:ext cx="6265291" cy="676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3291" y="2455291"/>
            <a:ext cx="5588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921371" y="2394331"/>
            <a:ext cx="5831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Joshi et al. (2024)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43291" y="3132709"/>
            <a:ext cx="5588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921371" y="3071749"/>
            <a:ext cx="5831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RoBERTa-Sentinel — HULLMI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43291" y="3725291"/>
            <a:ext cx="1693291" cy="609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3291" y="3725291"/>
            <a:ext cx="1693291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921371" y="3664331"/>
            <a:ext cx="1937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~91%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90709" y="3725291"/>
            <a:ext cx="3386709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868789" y="3664331"/>
            <a:ext cx="3630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(token)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43291" y="4572000"/>
            <a:ext cx="5588000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921371" y="4511040"/>
            <a:ext cx="5831840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b="1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complements accuracy; formulaic hedging &amp; impersonal constructions are key signals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4393291" y="2116709"/>
            <a:ext cx="6265291" cy="5757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393291" y="2116709"/>
            <a:ext cx="6265291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Shape 41"/>
          <p:cNvSpPr/>
          <p:nvPr/>
        </p:nvSpPr>
        <p:spPr>
          <a:xfrm>
            <a:off x="14732000" y="2455291"/>
            <a:ext cx="5588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4610080" y="2394331"/>
            <a:ext cx="5831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Masih et al. (2025)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4732000" y="3132709"/>
            <a:ext cx="5588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4610080" y="3071749"/>
            <a:ext cx="5831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BERT, RoBERTa, GPT-2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4732000" y="3725291"/>
            <a:ext cx="1693291" cy="609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Shape 46"/>
          <p:cNvSpPr/>
          <p:nvPr/>
        </p:nvSpPr>
        <p:spPr>
          <a:xfrm>
            <a:off x="14732000" y="3725291"/>
            <a:ext cx="1693291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4610080" y="3664331"/>
            <a:ext cx="1937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~89%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6679291" y="3725291"/>
            <a:ext cx="3386709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6557371" y="3664331"/>
            <a:ext cx="3630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+ SHAP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4732000" y="4572000"/>
            <a:ext cx="5588000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4610080" y="4511040"/>
            <a:ext cx="5831840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more stable than LIME; both can expose models correct for wrong reasons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16000" y="8212709"/>
            <a:ext cx="19642709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6000" y="8212709"/>
            <a:ext cx="67691" cy="1524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6" name="Shape 54"/>
          <p:cNvSpPr/>
          <p:nvPr/>
        </p:nvSpPr>
        <p:spPr>
          <a:xfrm>
            <a:off x="1439291" y="8551291"/>
            <a:ext cx="474091" cy="474091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7" name="Shape 55"/>
          <p:cNvSpPr/>
          <p:nvPr/>
        </p:nvSpPr>
        <p:spPr>
          <a:xfrm>
            <a:off x="2116709" y="8382000"/>
            <a:ext cx="18118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994789" y="8321040"/>
            <a:ext cx="18362549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Mohammadi et al. (2025) — The Adversarial Paradox: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XAI-informed token replacement drops accuracy by 20–35 pp with minimal semantic change. Any system transparent enough to explain its decisions is, by that transparency, providing a roadmap for evasion.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0320000" y="11684000"/>
            <a:ext cx="846709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0198080" y="11623040"/>
            <a:ext cx="1090549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-12192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18709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96789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837291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715371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837291" y="677291"/>
            <a:ext cx="5418709" cy="3390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1625600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13408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931291"/>
            <a:ext cx="16933291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870331"/>
            <a:ext cx="17177131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Theme 3 — Multi-Label Attribution &amp; Cross-Domain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1727200"/>
            <a:ext cx="846709" cy="50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116709"/>
            <a:ext cx="6265291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2116709"/>
            <a:ext cx="6265291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4709" y="2455291"/>
            <a:ext cx="1524000" cy="44030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54709" y="2455291"/>
            <a:ext cx="1524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32789" y="2394331"/>
            <a:ext cx="1767840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54709" y="3048000"/>
            <a:ext cx="5588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32789" y="2987040"/>
            <a:ext cx="5831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Adilazuarda et al. (2023)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54709" y="3556000"/>
            <a:ext cx="5588000" cy="186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32789" y="3495040"/>
            <a:ext cx="5831840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detection paradigm dominates across all domains and languages. Transformers lead on single-domain, stylometry generalizes more stably.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04709" y="2116709"/>
            <a:ext cx="6265291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4709" y="2116709"/>
            <a:ext cx="6265291" cy="676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Shape 24"/>
          <p:cNvSpPr/>
          <p:nvPr/>
        </p:nvSpPr>
        <p:spPr>
          <a:xfrm>
            <a:off x="8043291" y="2455291"/>
            <a:ext cx="1693291" cy="44030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3291" y="2455291"/>
            <a:ext cx="1693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921371" y="2394331"/>
            <a:ext cx="1937131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ATTRIBUTION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43291" y="3048000"/>
            <a:ext cx="5588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921371" y="2987040"/>
            <a:ext cx="5831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Najjar et al. (2025)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43291" y="3556000"/>
            <a:ext cx="5588000" cy="186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921371" y="3495040"/>
            <a:ext cx="5831840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profiles create LLM-specific authorship signatures. Claude outputs show highest stylometric similarity to human writing — hardest to detect.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393291" y="2116709"/>
            <a:ext cx="6265291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393291" y="2116709"/>
            <a:ext cx="6265291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Shape 33"/>
          <p:cNvSpPr/>
          <p:nvPr/>
        </p:nvSpPr>
        <p:spPr>
          <a:xfrm>
            <a:off x="14732000" y="2455291"/>
            <a:ext cx="1693291" cy="44030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Shape 34"/>
          <p:cNvSpPr/>
          <p:nvPr/>
        </p:nvSpPr>
        <p:spPr>
          <a:xfrm>
            <a:off x="14732000" y="2455291"/>
            <a:ext cx="1693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4610080" y="2394331"/>
            <a:ext cx="1937131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MULTI-LABEL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4732000" y="3048000"/>
            <a:ext cx="5588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4610080" y="2987040"/>
            <a:ext cx="5831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Zahraa et al. (2025)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4732000" y="3556000"/>
            <a:ext cx="5588000" cy="186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4610080" y="3495040"/>
            <a:ext cx="5831840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LIME+SHAP shows GPT-4 vs. Llama differ in syntactic complexity and hedging frequency — granular insight for educators &amp; editors.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6000" y="6011291"/>
            <a:ext cx="9567291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6000" y="6011291"/>
            <a:ext cx="9567291" cy="67691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Shape 42"/>
          <p:cNvSpPr/>
          <p:nvPr/>
        </p:nvSpPr>
        <p:spPr>
          <a:xfrm>
            <a:off x="1354709" y="6350000"/>
            <a:ext cx="1524000" cy="440309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Shape 43"/>
          <p:cNvSpPr/>
          <p:nvPr/>
        </p:nvSpPr>
        <p:spPr>
          <a:xfrm>
            <a:off x="1354709" y="6350000"/>
            <a:ext cx="1524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232789" y="6289040"/>
            <a:ext cx="1767840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354709" y="6942709"/>
            <a:ext cx="8890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232789" y="6881749"/>
            <a:ext cx="9133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Baharifar et al. (2025)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54709" y="7450709"/>
            <a:ext cx="8890000" cy="186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232789" y="7389749"/>
            <a:ext cx="9133840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misinformation: LLM text flagged by overconfident assertions, absent epistemic hedging ('may', 'suggests'), and missing numerical precision.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91291" y="6011291"/>
            <a:ext cx="9567291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91291" y="6011291"/>
            <a:ext cx="9567291" cy="676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3" name="Shape 51"/>
          <p:cNvSpPr/>
          <p:nvPr/>
        </p:nvSpPr>
        <p:spPr>
          <a:xfrm>
            <a:off x="11430000" y="6350000"/>
            <a:ext cx="1693291" cy="44030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4" name="Shape 52"/>
          <p:cNvSpPr/>
          <p:nvPr/>
        </p:nvSpPr>
        <p:spPr>
          <a:xfrm>
            <a:off x="11430000" y="6350000"/>
            <a:ext cx="1693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1308080" y="6289040"/>
            <a:ext cx="1937131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430000" y="6942709"/>
            <a:ext cx="8890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1308080" y="6881749"/>
            <a:ext cx="9133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Iqbal &amp; Kashem (2025)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430000" y="7450709"/>
            <a:ext cx="8890000" cy="186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1308080" y="7389749"/>
            <a:ext cx="9133840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ML framework for scalable source ID. Relies on vocab distribution divergence, sentence length, connective phrase frequency.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20320000" y="11684000"/>
            <a:ext cx="846709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0198080" y="11623040"/>
            <a:ext cx="1090549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-12192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18709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96789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837291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715371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837291" y="677291"/>
            <a:ext cx="5418709" cy="3390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1625600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13408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931291"/>
            <a:ext cx="16933291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870331"/>
            <a:ext cx="17177131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 — Discriminative Linguistic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1727200"/>
            <a:ext cx="846709" cy="50800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116709"/>
          <a:ext cx="19642709" cy="7281291"/>
        </p:xfrm>
        <a:graphic>
          <a:graphicData uri="http://schemas.openxmlformats.org/drawingml/2006/table">
            <a:tbl>
              <a:tblPr/>
              <a:tblGrid>
                <a:gridCol w="5892813"/>
                <a:gridCol w="8839219"/>
                <a:gridCol w="4910677"/>
              </a:tblGrid>
              <a:tr h="733186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2563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Discriminative Feature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2563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Studies Identifying It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2563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Paradigm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5444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Grammatical standardization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Przystalski (2025), Masih (2025), Baharifar (2025)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three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935444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Formulaic transitional phrases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Shah (2023), Joshi (2024), Zahraa (2025)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Stylometric, Transformer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35444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 lexical entropy / predictable vocab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Shah (2023), Przystalski (2025), Iqbal (2025)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Stylometric, Ensemble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935444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Superlatives &amp; assertive constructions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Mitrovic (2023), Baharifar (2025)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35444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Absence of epistemic hedging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Baharifar (2025), Najjar (2025)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Multi-label, Domain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935444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 tag distribution anomalies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McGovern (2024), Przystalski (2025)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35444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Discourse-level coherence over-smoothing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Joshi (2024), Najjar (2025)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Transformer, Multi-label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1016000" y="9736709"/>
            <a:ext cx="19642709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16000" y="9736709"/>
            <a:ext cx="67691" cy="101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5"/>
          <p:cNvSpPr/>
          <p:nvPr/>
        </p:nvSpPr>
        <p:spPr>
          <a:xfrm>
            <a:off x="1439291" y="9736709"/>
            <a:ext cx="18796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317371" y="9675749"/>
            <a:ext cx="19039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Grammatical standardization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single most consistently reported feature across ALL three paradigms (LIME &amp; SHAP, multiple architectures)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0320000" y="11684000"/>
            <a:ext cx="846709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0198080" y="11623040"/>
            <a:ext cx="1090549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rotWithShape="1" flip="none">
          <a:gsLst>
            <a:gs pos="0">
              <a:srgbClr val="F8FAFC"/>
            </a:gs>
            <a:gs pos="50000">
              <a:srgbClr val="EFF6FF"/>
            </a:gs>
            <a:gs pos="100000">
              <a:srgbClr val="DBEAFE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3048000"/>
            <a:ext cx="6773291" cy="304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94080" y="2987040"/>
            <a:ext cx="7017131" cy="316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30" dirty="0">
                <a:solidFill>
                  <a:srgbClr val="0891B2">
                    <a:alpha val="1215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6434709"/>
            <a:ext cx="1354709" cy="676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6773291"/>
            <a:ext cx="11853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4080" y="6712331"/>
            <a:ext cx="120971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7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 &amp; Future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7958709"/>
            <a:ext cx="1354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4080" y="7897749"/>
            <a:ext cx="1379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gaps, critical findings, and the path forward for explainable AI text detection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626709" y="8466709"/>
            <a:ext cx="677291" cy="677291"/>
          </a:xfrm>
          <a:prstGeom prst="rect">
            <a:avLst/>
          </a:prstGeom>
          <a:solidFill>
            <a:srgbClr val="2563EB">
              <a:alpha val="894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642709" y="9482709"/>
            <a:ext cx="406400" cy="406400"/>
          </a:xfrm>
          <a:prstGeom prst="rect">
            <a:avLst/>
          </a:prstGeom>
          <a:solidFill>
            <a:srgbClr val="0891B2">
              <a:alpha val="16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-12192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18709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96789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837291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715371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256000" y="0"/>
            <a:ext cx="5418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134080" y="-60960"/>
            <a:ext cx="5662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133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256000" y="677291"/>
            <a:ext cx="5418709" cy="3390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931291"/>
            <a:ext cx="15240000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870331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Gaps &amp; Conclusion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1727200"/>
            <a:ext cx="846709" cy="50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116709"/>
            <a:ext cx="9567291" cy="2201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2116709"/>
            <a:ext cx="67691" cy="2201291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4709" y="2370709"/>
            <a:ext cx="1524000" cy="406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6"/>
          <p:cNvSpPr/>
          <p:nvPr/>
        </p:nvSpPr>
        <p:spPr>
          <a:xfrm>
            <a:off x="1354709" y="2370709"/>
            <a:ext cx="1524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32789" y="2309749"/>
            <a:ext cx="1767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32709" y="2336800"/>
            <a:ext cx="7112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010789" y="2275840"/>
            <a:ext cx="7355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1 — Adversarial Robustness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54709" y="2963291"/>
            <a:ext cx="8890000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32789" y="2902331"/>
            <a:ext cx="9133840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XAI-informed token replacement reduces accuracy by 20–35 pp. No system is simultaneously interpretable AND robust.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6000" y="4572000"/>
            <a:ext cx="9567291" cy="2201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6000" y="4572000"/>
            <a:ext cx="67691" cy="22012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1354709" y="4826000"/>
            <a:ext cx="1185291" cy="406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Shape 25"/>
          <p:cNvSpPr/>
          <p:nvPr/>
        </p:nvSpPr>
        <p:spPr>
          <a:xfrm>
            <a:off x="1354709" y="4826000"/>
            <a:ext cx="1185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32789" y="4765040"/>
            <a:ext cx="1429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94000" y="4792091"/>
            <a:ext cx="7450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672080" y="4731131"/>
            <a:ext cx="7694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2 — Standardized XAI Evaluation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354709" y="5418709"/>
            <a:ext cx="8890000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232789" y="5357749"/>
            <a:ext cx="9133840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benchmarks for faithfulness, stability, or human interpretability. 'Explainable' remains a qualitative claim.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6000" y="7027291"/>
            <a:ext cx="9567291" cy="2201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6000" y="7027291"/>
            <a:ext cx="67691" cy="22012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Shape 33"/>
          <p:cNvSpPr/>
          <p:nvPr/>
        </p:nvSpPr>
        <p:spPr>
          <a:xfrm>
            <a:off x="1354709" y="7281291"/>
            <a:ext cx="1185291" cy="406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Shape 34"/>
          <p:cNvSpPr/>
          <p:nvPr/>
        </p:nvSpPr>
        <p:spPr>
          <a:xfrm>
            <a:off x="1354709" y="7281291"/>
            <a:ext cx="1185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32789" y="7220331"/>
            <a:ext cx="1429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94000" y="7247509"/>
            <a:ext cx="7450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672080" y="7186549"/>
            <a:ext cx="7694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3 — Fairness for Non-Native Writers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54709" y="7874000"/>
            <a:ext cx="8890000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232789" y="7813040"/>
            <a:ext cx="9133840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discriminative features equally characterize non-native English speakers. Unaddressed ethical liability.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091291" y="2116709"/>
            <a:ext cx="9567291" cy="2201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091291" y="2116709"/>
            <a:ext cx="67691" cy="22012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0" y="2370709"/>
            <a:ext cx="1185291" cy="406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Shape 43"/>
          <p:cNvSpPr/>
          <p:nvPr/>
        </p:nvSpPr>
        <p:spPr>
          <a:xfrm>
            <a:off x="11430000" y="2370709"/>
            <a:ext cx="1185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1308080" y="2309749"/>
            <a:ext cx="1429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869291" y="2336800"/>
            <a:ext cx="7450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2747371" y="2275840"/>
            <a:ext cx="7694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4 — Cross-Domain Generalization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430000" y="2963291"/>
            <a:ext cx="8890000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1308080" y="2902331"/>
            <a:ext cx="9133840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domain entirely unstudied. Feature drift &amp; distributional shift degrade all paradigms.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91291" y="4572000"/>
            <a:ext cx="9567291" cy="2201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91291" y="4572000"/>
            <a:ext cx="67691" cy="22012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3" name="Shape 51"/>
          <p:cNvSpPr/>
          <p:nvPr/>
        </p:nvSpPr>
        <p:spPr>
          <a:xfrm>
            <a:off x="11430000" y="4826000"/>
            <a:ext cx="1693291" cy="406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4" name="Shape 52"/>
          <p:cNvSpPr/>
          <p:nvPr/>
        </p:nvSpPr>
        <p:spPr>
          <a:xfrm>
            <a:off x="11430000" y="4826000"/>
            <a:ext cx="1693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1308080" y="4765040"/>
            <a:ext cx="1937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3377291" y="4792091"/>
            <a:ext cx="6942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3255371" y="4731131"/>
            <a:ext cx="7186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5 — Multilingual Detection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430000" y="5418709"/>
            <a:ext cx="8890000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1308080" y="5357749"/>
            <a:ext cx="9133840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study applies formal XAI to non-English text. mBERT / XLM-RoBERTa needed.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091291" y="7027291"/>
            <a:ext cx="9567291" cy="220129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91291" y="7027291"/>
            <a:ext cx="67691" cy="220129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2" name="Shape 60"/>
          <p:cNvSpPr/>
          <p:nvPr/>
        </p:nvSpPr>
        <p:spPr>
          <a:xfrm>
            <a:off x="11430000" y="7196709"/>
            <a:ext cx="5080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1308080" y="7135749"/>
            <a:ext cx="5323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430000" y="7704709"/>
            <a:ext cx="8890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1308080" y="7643749"/>
            <a:ext cx="9133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LIME &amp; SHAP consistently identify stable LLM prose properties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87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adversarial paradox remains unresolved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16000" y="9567291"/>
            <a:ext cx="19642709" cy="846709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6000" y="9567291"/>
            <a:ext cx="67691" cy="84670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8" name="Shape 66"/>
          <p:cNvSpPr/>
          <p:nvPr/>
        </p:nvSpPr>
        <p:spPr>
          <a:xfrm>
            <a:off x="1439291" y="9567291"/>
            <a:ext cx="18796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317371" y="9506331"/>
            <a:ext cx="19039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"Detection systems that are not only accurate, but honest about how they know what they know."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20320000" y="11684000"/>
            <a:ext cx="846709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20198080" y="11623040"/>
            <a:ext cx="1090549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rotWithShape="1" flip="none">
          <a:gsLst>
            <a:gs pos="0">
              <a:srgbClr val="F8FAFC"/>
            </a:gs>
            <a:gs pos="50000">
              <a:srgbClr val="EFF6FF"/>
            </a:gs>
            <a:gs pos="100000">
              <a:srgbClr val="DBEAFE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386709"/>
            <a:ext cx="3386709" cy="6769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3725291"/>
            <a:ext cx="1354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942080" y="3664331"/>
            <a:ext cx="13790549" cy="1476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530" b="1" spc="267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57291" y="5249291"/>
            <a:ext cx="10160000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35371" y="5188331"/>
            <a:ext cx="10403840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0" y="6096000"/>
            <a:ext cx="3386709" cy="3390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910709" y="6434709"/>
            <a:ext cx="11853291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88789" y="6373749"/>
            <a:ext cx="12097131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13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Jawwad Ahmad</a:t>
            </a:r>
            <a:pPr algn="ctr">
              <a:lnSpc>
                <a:spcPct val="160000"/>
              </a:lnSpc>
            </a:pPr>
            <a:r>
              <a:rPr lang="en-US" sz="21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F25NDOCS3W04013 | MSCS 2nd Semester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1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Islamia University of Bahawalpur | Supervisor: </a:t>
            </a:r>
            <a:pPr algn="ctr">
              <a:lnSpc>
                <a:spcPct val="160000"/>
              </a:lnSpc>
            </a:pPr>
            <a:r>
              <a:rPr lang="en-US" sz="213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Ahmad Niaz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6709" y="8466709"/>
            <a:ext cx="3386709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6709" y="8636000"/>
            <a:ext cx="338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64789" y="8575040"/>
            <a:ext cx="3630549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86709" y="9736709"/>
            <a:ext cx="338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64789" y="9675749"/>
            <a:ext cx="363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81291" y="8466709"/>
            <a:ext cx="3386709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1291" y="8636000"/>
            <a:ext cx="338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159371" y="8575040"/>
            <a:ext cx="3630549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81291" y="9736709"/>
            <a:ext cx="338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59371" y="9675749"/>
            <a:ext cx="363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76000" y="8466709"/>
            <a:ext cx="3386709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76000" y="8636000"/>
            <a:ext cx="338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054080" y="8575040"/>
            <a:ext cx="3630549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76000" y="9736709"/>
            <a:ext cx="338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054080" y="9675749"/>
            <a:ext cx="363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5070709" y="8466709"/>
            <a:ext cx="3386709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070709" y="8636000"/>
            <a:ext cx="338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4948789" y="8575040"/>
            <a:ext cx="3630549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5070709" y="9736709"/>
            <a:ext cx="338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948789" y="9675749"/>
            <a:ext cx="363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Methods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8626709" y="1354709"/>
            <a:ext cx="677291" cy="677291"/>
          </a:xfrm>
          <a:prstGeom prst="rect">
            <a:avLst/>
          </a:prstGeom>
          <a:solidFill>
            <a:srgbClr val="2563EB">
              <a:alpha val="8941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9642709" y="2370709"/>
            <a:ext cx="406400" cy="406400"/>
          </a:xfrm>
          <a:prstGeom prst="rect">
            <a:avLst/>
          </a:prstGeom>
          <a:solidFill>
            <a:srgbClr val="0891B2">
              <a:alpha val="16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Untitled</dc:subject>
  <dc:creator>Kimi</dc:creator>
  <cp:lastModifiedBy>Kimi</cp:lastModifiedBy>
  <cp:revision>1</cp:revision>
  <dcterms:created xsi:type="dcterms:W3CDTF">2026-04-24T16:16:31Z</dcterms:created>
  <dcterms:modified xsi:type="dcterms:W3CDTF">2026-04-24T16:16:31Z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{"Label":"Untitled","ContentProducer":"001191110108MACG2KBH8F10000","ProduceID":"19dc045e-4992-8303-8000-00008ad0b290","ReservedCode1":"","ContentPropagator":"001191110108MACG2KBH8F20000","PropagateID":"19dc045e-4992-8303-8000-00008ad0b290","ReservedCode2":""}</vt:lpwstr>
  </property>
</Properties>
</file>