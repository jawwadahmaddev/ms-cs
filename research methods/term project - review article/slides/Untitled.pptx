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21678900" cy="12192000"/>
  <p:notesSz cx="12192000" cy="21678900"/>
  <p:embeddedFontLst>
    <p:embeddedFont>
      <p:font typeface="Liter" panose="020B0604020202020204" charset="0"/>
      <p:regular r:id="rId18"/>
    </p:embeddedFont>
    <p:embeddedFont>
      <p:font typeface="Quattrocento Sans" panose="020B0502050000020003" pitchFamily="34" charset="0"/>
      <p:regular r:id="rId19"/>
      <p:bold r:id="rId20"/>
      <p:italic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48" d="100"/>
          <a:sy n="48" d="100"/>
        </p:scale>
        <p:origin x="586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062397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gradFill flip="none" rotWithShape="1">
          <a:gsLst>
            <a:gs pos="0">
              <a:srgbClr val="F8FAFC"/>
            </a:gs>
            <a:gs pos="50000">
              <a:srgbClr val="EFF6FF"/>
            </a:gs>
            <a:gs pos="100000">
              <a:srgbClr val="DBEAFE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6000" y="3725291"/>
            <a:ext cx="1354709" cy="67691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1016000" y="3048000"/>
            <a:ext cx="10160000" cy="508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94080" y="2987040"/>
            <a:ext cx="10403840" cy="629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70" kern="0" spc="400" dirty="0">
                <a:solidFill>
                  <a:srgbClr val="2563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SYSTEMATIC REVIEW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016000" y="4064000"/>
            <a:ext cx="11853291" cy="118529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894080" y="4003040"/>
            <a:ext cx="12097131" cy="13072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6930" b="1" kern="0" spc="133" dirty="0">
                <a:solidFill>
                  <a:srgbClr val="1E293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Explainable Identification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016000" y="5334000"/>
            <a:ext cx="11853291" cy="118529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894080" y="5273040"/>
            <a:ext cx="12097131" cy="13072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6930" b="1" kern="0" spc="133" dirty="0">
                <a:solidFill>
                  <a:srgbClr val="1E293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of Human vs. LLM Text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016000" y="6773291"/>
            <a:ext cx="10160000" cy="592709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894080" y="6712331"/>
            <a:ext cx="10403840" cy="714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930" dirty="0">
                <a:solidFill>
                  <a:srgbClr val="0891B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 Systematic Review with LIME &amp; SHAP Attribution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016000" y="7789291"/>
            <a:ext cx="3386709" cy="33909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12" name="Shape 10"/>
          <p:cNvSpPr/>
          <p:nvPr/>
        </p:nvSpPr>
        <p:spPr>
          <a:xfrm>
            <a:off x="1016000" y="8128000"/>
            <a:ext cx="10160000" cy="1524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894080" y="8067040"/>
            <a:ext cx="10403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213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Jawwad Ahmad</a:t>
            </a:r>
            <a:r>
              <a:rPr lang="en-US" sz="213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| F25NDOCS3W04013 | MSCS 2nd Semester</a:t>
            </a:r>
            <a:endParaRPr lang="en-US" sz="1600" dirty="0"/>
          </a:p>
          <a:p>
            <a:pPr>
              <a:lnSpc>
                <a:spcPct val="160000"/>
              </a:lnSpc>
            </a:pPr>
            <a:r>
              <a:rPr lang="en-US" sz="213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Supervisor: </a:t>
            </a:r>
            <a:r>
              <a:rPr lang="en-US" sz="213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Dr. Ahmad Niaz</a:t>
            </a:r>
            <a:endParaRPr lang="en-US" sz="1600" dirty="0"/>
          </a:p>
          <a:p>
            <a:pPr>
              <a:lnSpc>
                <a:spcPct val="160000"/>
              </a:lnSpc>
            </a:pPr>
            <a:r>
              <a:rPr lang="en-US" sz="213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Islamia University of Bahawalpur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16000" y="10160000"/>
            <a:ext cx="10498709" cy="7451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1270000" y="10160000"/>
            <a:ext cx="9990709" cy="745109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1148080" y="10099040"/>
            <a:ext cx="10234549" cy="8670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730" kern="0" spc="133" dirty="0">
                <a:solidFill>
                  <a:srgbClr val="64748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GPT-4 LIME SHAP XAI NLP RoBERTa DistilBERT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18626709" y="1354709"/>
            <a:ext cx="677291" cy="677291"/>
          </a:xfrm>
          <a:prstGeom prst="rect">
            <a:avLst/>
          </a:prstGeom>
          <a:solidFill>
            <a:srgbClr val="2563EB">
              <a:alpha val="8941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9642709" y="2370709"/>
            <a:ext cx="406400" cy="406400"/>
          </a:xfrm>
          <a:prstGeom prst="rect">
            <a:avLst/>
          </a:prstGeom>
          <a:solidFill>
            <a:srgbClr val="0891B2">
              <a:alpha val="16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8288000" y="2709291"/>
            <a:ext cx="270891" cy="270891"/>
          </a:xfrm>
          <a:prstGeom prst="rect">
            <a:avLst/>
          </a:prstGeom>
          <a:solidFill>
            <a:srgbClr val="2563EB">
              <a:alpha val="4000"/>
            </a:srgbClr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128000" cy="12192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16000" y="3048000"/>
            <a:ext cx="6096000" cy="2370709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94080" y="2987040"/>
            <a:ext cx="6339840" cy="2492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0" dirty="0">
                <a:solidFill>
                  <a:srgbClr val="2563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04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016000" y="5757291"/>
            <a:ext cx="6096000" cy="508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894080" y="5696331"/>
            <a:ext cx="6339840" cy="629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70" kern="0" spc="400" dirty="0">
                <a:solidFill>
                  <a:srgbClr val="64748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CHAPTERS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016000" y="1016000"/>
            <a:ext cx="6773291" cy="846709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894080" y="955040"/>
            <a:ext cx="7017131" cy="96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4800" b="1" dirty="0">
                <a:solidFill>
                  <a:srgbClr val="1E293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Contents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016000" y="2032000"/>
            <a:ext cx="1016000" cy="67691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0" name="Shape 8"/>
          <p:cNvSpPr/>
          <p:nvPr/>
        </p:nvSpPr>
        <p:spPr>
          <a:xfrm>
            <a:off x="8805291" y="1354709"/>
            <a:ext cx="11853291" cy="203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805291" y="1354709"/>
            <a:ext cx="67691" cy="20320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2" name="Shape 10"/>
          <p:cNvSpPr/>
          <p:nvPr/>
        </p:nvSpPr>
        <p:spPr>
          <a:xfrm>
            <a:off x="9313291" y="1354709"/>
            <a:ext cx="1354709" cy="2032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9191371" y="1293749"/>
            <a:ext cx="1598549" cy="2153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6400" dirty="0">
                <a:solidFill>
                  <a:srgbClr val="2563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01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837291" y="1524000"/>
            <a:ext cx="9482709" cy="169329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10715371" y="1463040"/>
            <a:ext cx="9726549" cy="1815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2930" b="1" dirty="0">
                <a:solidFill>
                  <a:srgbClr val="1E293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Introduction &amp; Background</a:t>
            </a:r>
            <a:endParaRPr lang="en-US" sz="1600" dirty="0"/>
          </a:p>
          <a:p>
            <a:pPr>
              <a:lnSpc>
                <a:spcPct val="140000"/>
              </a:lnSpc>
            </a:pPr>
            <a:r>
              <a:rPr lang="en-US" sz="2000" dirty="0">
                <a:solidFill>
                  <a:srgbClr val="64748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 AI text detection challenge — LLMs, LIME, SHAP, XAI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805291" y="3725291"/>
            <a:ext cx="11853291" cy="203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805291" y="3725291"/>
            <a:ext cx="67691" cy="20320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8" name="Shape 16"/>
          <p:cNvSpPr/>
          <p:nvPr/>
        </p:nvSpPr>
        <p:spPr>
          <a:xfrm>
            <a:off x="9313291" y="3725291"/>
            <a:ext cx="1354709" cy="2032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9191371" y="3664331"/>
            <a:ext cx="1598549" cy="2153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6400" dirty="0">
                <a:solidFill>
                  <a:srgbClr val="0891B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02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10837291" y="3894709"/>
            <a:ext cx="9482709" cy="169329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10715371" y="3833749"/>
            <a:ext cx="9726549" cy="1815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2930" b="1" dirty="0">
                <a:solidFill>
                  <a:srgbClr val="1E293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Methodology</a:t>
            </a:r>
            <a:endParaRPr lang="en-US" sz="1600" dirty="0"/>
          </a:p>
          <a:p>
            <a:pPr>
              <a:lnSpc>
                <a:spcPct val="140000"/>
              </a:lnSpc>
            </a:pPr>
            <a:r>
              <a:rPr lang="en-US" sz="2000" dirty="0">
                <a:solidFill>
                  <a:srgbClr val="64748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PRISMA systematic review — 250 records to 12 studies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805291" y="6096000"/>
            <a:ext cx="11853291" cy="203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805291" y="6096000"/>
            <a:ext cx="67691" cy="20320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4" name="Shape 22"/>
          <p:cNvSpPr/>
          <p:nvPr/>
        </p:nvSpPr>
        <p:spPr>
          <a:xfrm>
            <a:off x="9313291" y="6096000"/>
            <a:ext cx="1354709" cy="2032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9191371" y="6035040"/>
            <a:ext cx="1598549" cy="2153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6400" dirty="0">
                <a:solidFill>
                  <a:srgbClr val="2563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03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10837291" y="6265291"/>
            <a:ext cx="9482709" cy="169329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10715371" y="6204331"/>
            <a:ext cx="9726549" cy="1815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2930" b="1" dirty="0">
                <a:solidFill>
                  <a:srgbClr val="1E293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Analysis &amp; Findings</a:t>
            </a:r>
            <a:endParaRPr lang="en-US" sz="1600" dirty="0"/>
          </a:p>
          <a:p>
            <a:pPr>
              <a:lnSpc>
                <a:spcPct val="140000"/>
              </a:lnSpc>
            </a:pPr>
            <a:r>
              <a:rPr lang="en-US" sz="2000" dirty="0">
                <a:solidFill>
                  <a:srgbClr val="64748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Three research themes — Stylometric, Transformers, Multi-label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8805291" y="8466709"/>
            <a:ext cx="11853291" cy="203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805291" y="8466709"/>
            <a:ext cx="67691" cy="20320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0" name="Shape 28"/>
          <p:cNvSpPr/>
          <p:nvPr/>
        </p:nvSpPr>
        <p:spPr>
          <a:xfrm>
            <a:off x="9313291" y="8466709"/>
            <a:ext cx="1354709" cy="2032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9191371" y="8405749"/>
            <a:ext cx="1598549" cy="2153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6400" dirty="0">
                <a:solidFill>
                  <a:srgbClr val="0891B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04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10837291" y="8636000"/>
            <a:ext cx="9482709" cy="169329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10715371" y="8575040"/>
            <a:ext cx="9726549" cy="1815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2930" b="1" dirty="0">
                <a:solidFill>
                  <a:srgbClr val="1E293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Synthesis &amp; Future</a:t>
            </a:r>
            <a:endParaRPr lang="en-US" sz="1600" dirty="0"/>
          </a:p>
          <a:p>
            <a:pPr>
              <a:lnSpc>
                <a:spcPct val="140000"/>
              </a:lnSpc>
            </a:pPr>
            <a:r>
              <a:rPr lang="en-US" sz="2000" dirty="0">
                <a:solidFill>
                  <a:srgbClr val="64748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Research gaps, critical findings, and the path forward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1016000" y="6773291"/>
            <a:ext cx="6096000" cy="16891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35" name="Shape 33"/>
          <p:cNvSpPr/>
          <p:nvPr/>
        </p:nvSpPr>
        <p:spPr>
          <a:xfrm>
            <a:off x="6773291" y="10160000"/>
            <a:ext cx="508000" cy="508000"/>
          </a:xfrm>
          <a:prstGeom prst="rect">
            <a:avLst/>
          </a:prstGeom>
          <a:solidFill>
            <a:srgbClr val="2563EB">
              <a:alpha val="4000"/>
            </a:srgbClr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gradFill flip="none" rotWithShape="1">
          <a:gsLst>
            <a:gs pos="0">
              <a:srgbClr val="F8FAFC"/>
            </a:gs>
            <a:gs pos="50000">
              <a:srgbClr val="EFF6FF"/>
            </a:gs>
            <a:gs pos="100000">
              <a:srgbClr val="DBEAFE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6000" y="3048000"/>
            <a:ext cx="6773291" cy="3048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894080" y="2987040"/>
            <a:ext cx="7017131" cy="3169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1330" dirty="0">
                <a:solidFill>
                  <a:srgbClr val="2563EB">
                    <a:alpha val="12157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016000" y="6434709"/>
            <a:ext cx="1354709" cy="67691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Shape 3"/>
          <p:cNvSpPr/>
          <p:nvPr/>
        </p:nvSpPr>
        <p:spPr>
          <a:xfrm>
            <a:off x="1016000" y="6773291"/>
            <a:ext cx="11853291" cy="1016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894080" y="6712331"/>
            <a:ext cx="12097131" cy="1137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5870" b="1" dirty="0">
                <a:solidFill>
                  <a:srgbClr val="1E293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Introduction &amp; Background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016000" y="7958709"/>
            <a:ext cx="11853291" cy="508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894080" y="7897749"/>
            <a:ext cx="12097131" cy="629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40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AI text detection challenge — LLMs, LIME, SHAP, and the need for explainability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8626709" y="8466709"/>
            <a:ext cx="677291" cy="677291"/>
          </a:xfrm>
          <a:prstGeom prst="rect">
            <a:avLst/>
          </a:prstGeom>
          <a:solidFill>
            <a:srgbClr val="0891B2">
              <a:alpha val="8941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9642709" y="9482709"/>
            <a:ext cx="406400" cy="406400"/>
          </a:xfrm>
          <a:prstGeom prst="rect">
            <a:avLst/>
          </a:prstGeom>
          <a:solidFill>
            <a:srgbClr val="2563EB">
              <a:alpha val="16000"/>
            </a:srgbClr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1674709" cy="67729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18709" cy="67729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-121920" y="-60960"/>
            <a:ext cx="5662549" cy="7992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kern="0" spc="133" dirty="0">
                <a:solidFill>
                  <a:srgbClr val="1E293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677291"/>
            <a:ext cx="5418709" cy="33909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5418709" y="0"/>
            <a:ext cx="5418709" cy="67729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5296789" y="-60960"/>
            <a:ext cx="5662549" cy="7992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kern="0" spc="133" dirty="0">
                <a:solidFill>
                  <a:srgbClr val="64748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METHODOLOGY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837291" y="0"/>
            <a:ext cx="5418709" cy="67729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10715371" y="-60960"/>
            <a:ext cx="5662549" cy="7992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kern="0" spc="133" dirty="0">
                <a:solidFill>
                  <a:srgbClr val="64748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ANALYSIS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6256000" y="0"/>
            <a:ext cx="5418709" cy="67729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16134080" y="-60960"/>
            <a:ext cx="5662549" cy="7992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kern="0" spc="133" dirty="0">
                <a:solidFill>
                  <a:srgbClr val="64748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SYNTHESIS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16000" y="931291"/>
            <a:ext cx="11853291" cy="711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894080" y="870331"/>
            <a:ext cx="12097131" cy="83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4270" dirty="0">
                <a:solidFill>
                  <a:srgbClr val="1E293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Introduction — The Problem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16000" y="1727200"/>
            <a:ext cx="846709" cy="508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5" name="Shape 13"/>
          <p:cNvSpPr/>
          <p:nvPr/>
        </p:nvSpPr>
        <p:spPr>
          <a:xfrm>
            <a:off x="1016000" y="2116709"/>
            <a:ext cx="10837291" cy="9059291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16000" y="2116709"/>
            <a:ext cx="67691" cy="9059291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7" name="Shape 15"/>
          <p:cNvSpPr/>
          <p:nvPr/>
        </p:nvSpPr>
        <p:spPr>
          <a:xfrm>
            <a:off x="1524000" y="2370709"/>
            <a:ext cx="5080000" cy="47409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1402080" y="2309749"/>
            <a:ext cx="5323840" cy="5960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670" dirty="0">
                <a:solidFill>
                  <a:srgbClr val="2563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Why Does This Matter?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1524000" y="3048000"/>
            <a:ext cx="9821291" cy="778929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1402080" y="2987040"/>
            <a:ext cx="10065131" cy="7911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2400" dirty="0">
                <a:solidFill>
                  <a:srgbClr val="0891B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■</a:t>
            </a:r>
            <a:r>
              <a:rPr lang="en-US" sz="2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LLMs (GPT-4, Claude, Llama, Gemini) produce text indistinguishable from human writing</a:t>
            </a:r>
            <a:endParaRPr lang="en-US" sz="1600" dirty="0"/>
          </a:p>
          <a:p>
            <a:pPr>
              <a:lnSpc>
                <a:spcPct val="160000"/>
              </a:lnSpc>
              <a:spcBef>
                <a:spcPts val="1800"/>
              </a:spcBef>
            </a:pPr>
            <a:r>
              <a:rPr lang="en-US" sz="2400" dirty="0">
                <a:solidFill>
                  <a:srgbClr val="0891B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■</a:t>
            </a:r>
            <a:r>
              <a:rPr lang="en-US" sz="2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Serious risks in academia, journalism, medicine, and law</a:t>
            </a:r>
            <a:endParaRPr lang="en-US" sz="1600" dirty="0"/>
          </a:p>
          <a:p>
            <a:pPr>
              <a:lnSpc>
                <a:spcPct val="160000"/>
              </a:lnSpc>
              <a:spcBef>
                <a:spcPts val="1800"/>
              </a:spcBef>
            </a:pPr>
            <a:r>
              <a:rPr lang="en-US" sz="2400" dirty="0">
                <a:solidFill>
                  <a:srgbClr val="0891B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■</a:t>
            </a:r>
            <a:r>
              <a:rPr lang="en-US" sz="2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Early systems used perplexity scores &amp; stylometric indices</a:t>
            </a:r>
            <a:endParaRPr lang="en-US" sz="1600" dirty="0"/>
          </a:p>
          <a:p>
            <a:pPr>
              <a:lnSpc>
                <a:spcPct val="160000"/>
              </a:lnSpc>
              <a:spcBef>
                <a:spcPts val="1800"/>
              </a:spcBef>
            </a:pPr>
            <a:r>
              <a:rPr lang="en-US" sz="2400" dirty="0">
                <a:solidFill>
                  <a:srgbClr val="0891B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■</a:t>
            </a:r>
            <a:r>
              <a:rPr lang="en-US" sz="2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Transformers (RoBERTa, DistilBERT) achieve high accuracy but opaque decisions</a:t>
            </a:r>
            <a:endParaRPr lang="en-US" sz="1600" dirty="0"/>
          </a:p>
          <a:p>
            <a:pPr>
              <a:lnSpc>
                <a:spcPct val="160000"/>
              </a:lnSpc>
              <a:spcBef>
                <a:spcPts val="1800"/>
              </a:spcBef>
            </a:pPr>
            <a:r>
              <a:rPr lang="en-US" sz="2400" dirty="0">
                <a:solidFill>
                  <a:srgbClr val="0891B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■</a:t>
            </a:r>
            <a:r>
              <a:rPr lang="en-US" sz="2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Black-box decisions cannot support institutional accountability</a:t>
            </a:r>
            <a:endParaRPr lang="en-US" sz="1600" dirty="0"/>
          </a:p>
          <a:p>
            <a:pPr>
              <a:lnSpc>
                <a:spcPct val="160000"/>
              </a:lnSpc>
              <a:spcBef>
                <a:spcPts val="1800"/>
              </a:spcBef>
            </a:pPr>
            <a:r>
              <a:rPr lang="en-US" sz="2400" dirty="0">
                <a:solidFill>
                  <a:srgbClr val="0891B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■</a:t>
            </a:r>
            <a:r>
              <a:rPr lang="en-US" sz="24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en-US" sz="2400" b="1" dirty="0">
                <a:solidFill>
                  <a:srgbClr val="2563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XAI is now essential — not optional — for trustworthy deployment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2361291" y="2116709"/>
            <a:ext cx="8297291" cy="2709291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700000" y="2286000"/>
            <a:ext cx="2540000" cy="1354709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12578080" y="2225040"/>
            <a:ext cx="2783840" cy="1476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7470" dirty="0">
                <a:solidFill>
                  <a:srgbClr val="2563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4+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15409291" y="2455291"/>
            <a:ext cx="4910709" cy="508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15287371" y="2394331"/>
            <a:ext cx="5154549" cy="629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670" dirty="0">
                <a:solidFill>
                  <a:srgbClr val="1E293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LLMs Covered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15409291" y="3048000"/>
            <a:ext cx="4910709" cy="592709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15287371" y="2987040"/>
            <a:ext cx="5154549" cy="714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87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GPT-4, Llama, Claude, Gemini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12361291" y="5164709"/>
            <a:ext cx="8297291" cy="2709291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2700000" y="5334000"/>
            <a:ext cx="2540000" cy="1354709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12578080" y="5273040"/>
            <a:ext cx="2783840" cy="1476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7470" dirty="0">
                <a:solidFill>
                  <a:srgbClr val="0891B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12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15409291" y="5503291"/>
            <a:ext cx="4910709" cy="508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15287371" y="5442331"/>
            <a:ext cx="5154549" cy="629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670" dirty="0">
                <a:solidFill>
                  <a:srgbClr val="1E293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Studies Reviewed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15409291" y="6096000"/>
            <a:ext cx="4910709" cy="592709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4" name="Text 32"/>
          <p:cNvSpPr/>
          <p:nvPr/>
        </p:nvSpPr>
        <p:spPr>
          <a:xfrm>
            <a:off x="15287371" y="6035040"/>
            <a:ext cx="5154549" cy="714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87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2023–2026 PRISMA synthesis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12361291" y="8212709"/>
            <a:ext cx="8297291" cy="2963291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2700000" y="8382000"/>
            <a:ext cx="2540000" cy="1354709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7" name="Text 35"/>
          <p:cNvSpPr/>
          <p:nvPr/>
        </p:nvSpPr>
        <p:spPr>
          <a:xfrm>
            <a:off x="12578080" y="8321040"/>
            <a:ext cx="2783840" cy="1476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7470" dirty="0">
                <a:solidFill>
                  <a:srgbClr val="2563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15409291" y="8551291"/>
            <a:ext cx="4910709" cy="508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/>
          <p:nvPr/>
        </p:nvSpPr>
        <p:spPr>
          <a:xfrm>
            <a:off x="15287371" y="8490331"/>
            <a:ext cx="5154549" cy="629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670" dirty="0">
                <a:solidFill>
                  <a:srgbClr val="1E293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XAI Methods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15409291" y="9144000"/>
            <a:ext cx="4910709" cy="592709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/>
          <p:nvPr/>
        </p:nvSpPr>
        <p:spPr>
          <a:xfrm>
            <a:off x="15287371" y="9083040"/>
            <a:ext cx="5154549" cy="714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87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LIME &amp; SHAP attribution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20320000" y="11684000"/>
            <a:ext cx="846709" cy="338709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Text 41"/>
          <p:cNvSpPr/>
          <p:nvPr/>
        </p:nvSpPr>
        <p:spPr>
          <a:xfrm>
            <a:off x="20198080" y="11623040"/>
            <a:ext cx="1090549" cy="460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87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04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1674709" cy="67729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18709" cy="67729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-121920" y="-60960"/>
            <a:ext cx="5662549" cy="7992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kern="0" spc="133" dirty="0">
                <a:solidFill>
                  <a:srgbClr val="1E293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677291"/>
            <a:ext cx="5418709" cy="33909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5418709" y="0"/>
            <a:ext cx="5418709" cy="67729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5296789" y="-60960"/>
            <a:ext cx="5662549" cy="7992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kern="0" spc="133" dirty="0">
                <a:solidFill>
                  <a:srgbClr val="64748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METHODOLOGY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837291" y="0"/>
            <a:ext cx="5418709" cy="67729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10715371" y="-60960"/>
            <a:ext cx="5662549" cy="7992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kern="0" spc="133" dirty="0">
                <a:solidFill>
                  <a:srgbClr val="64748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ANALYSIS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6256000" y="0"/>
            <a:ext cx="5418709" cy="67729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16134080" y="-60960"/>
            <a:ext cx="5662549" cy="7992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kern="0" spc="133" dirty="0">
                <a:solidFill>
                  <a:srgbClr val="64748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SYNTHESIS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16000" y="931291"/>
            <a:ext cx="11853291" cy="711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894080" y="870331"/>
            <a:ext cx="12097131" cy="83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4270" dirty="0">
                <a:solidFill>
                  <a:srgbClr val="1E293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Background — Key Concepts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16000" y="1727200"/>
            <a:ext cx="846709" cy="508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5" name="Shape 13"/>
          <p:cNvSpPr/>
          <p:nvPr/>
        </p:nvSpPr>
        <p:spPr>
          <a:xfrm>
            <a:off x="1016000" y="2116709"/>
            <a:ext cx="6434709" cy="9059291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16000" y="2116709"/>
            <a:ext cx="67691" cy="9059291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7" name="Shape 15"/>
          <p:cNvSpPr/>
          <p:nvPr/>
        </p:nvSpPr>
        <p:spPr>
          <a:xfrm>
            <a:off x="1439291" y="2370709"/>
            <a:ext cx="5588000" cy="47409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1317371" y="2309749"/>
            <a:ext cx="5831840" cy="5960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670" dirty="0">
                <a:solidFill>
                  <a:srgbClr val="0891B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Large Language Models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1439291" y="3048000"/>
            <a:ext cx="5588000" cy="778929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1317371" y="2987040"/>
            <a:ext cx="5831840" cy="7911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213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Transformer architecture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87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Self-attention for long-range dependencies</a:t>
            </a:r>
            <a:endParaRPr lang="en-US" sz="1600" dirty="0"/>
          </a:p>
          <a:p>
            <a:pPr>
              <a:lnSpc>
                <a:spcPct val="150000"/>
              </a:lnSpc>
              <a:spcBef>
                <a:spcPts val="1600"/>
              </a:spcBef>
            </a:pPr>
            <a:r>
              <a:rPr lang="en-US" sz="213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Autoregressive generation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87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Probability dist. over vocabulary at each step</a:t>
            </a:r>
            <a:endParaRPr lang="en-US" sz="1600" dirty="0"/>
          </a:p>
          <a:p>
            <a:pPr>
              <a:lnSpc>
                <a:spcPct val="150000"/>
              </a:lnSpc>
              <a:spcBef>
                <a:spcPts val="1600"/>
              </a:spcBef>
            </a:pPr>
            <a:r>
              <a:rPr lang="en-US" sz="213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Temperature parameter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87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Controls output diversity</a:t>
            </a:r>
            <a:endParaRPr lang="en-US" sz="1600" dirty="0"/>
          </a:p>
          <a:p>
            <a:pPr>
              <a:lnSpc>
                <a:spcPct val="150000"/>
              </a:lnSpc>
              <a:spcBef>
                <a:spcPts val="2400"/>
              </a:spcBef>
            </a:pPr>
            <a:r>
              <a:rPr lang="en-US" sz="2130" b="1" dirty="0">
                <a:solidFill>
                  <a:srgbClr val="2563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Human text markers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87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Rhythm variation, idiosyncratic word choice</a:t>
            </a:r>
            <a:endParaRPr lang="en-US" sz="1600" dirty="0"/>
          </a:p>
          <a:p>
            <a:pPr>
              <a:lnSpc>
                <a:spcPct val="150000"/>
              </a:lnSpc>
              <a:spcBef>
                <a:spcPts val="1600"/>
              </a:spcBef>
            </a:pPr>
            <a:r>
              <a:rPr lang="en-US" sz="2130" b="1" dirty="0">
                <a:solidFill>
                  <a:srgbClr val="2563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LLM text markers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87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Grammatical standardization, high lexical predictability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7874000" y="2116709"/>
            <a:ext cx="12784709" cy="5418709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97291" y="2370709"/>
            <a:ext cx="5080000" cy="47409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8175371" y="2309749"/>
            <a:ext cx="5323840" cy="5960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670" dirty="0">
                <a:solidFill>
                  <a:srgbClr val="2563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LIME vs. SHAP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297291" y="3048000"/>
            <a:ext cx="5926709" cy="203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97291" y="3048000"/>
            <a:ext cx="67691" cy="20320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6" name="Shape 24"/>
          <p:cNvSpPr/>
          <p:nvPr/>
        </p:nvSpPr>
        <p:spPr>
          <a:xfrm>
            <a:off x="8636000" y="3183509"/>
            <a:ext cx="1693291" cy="440309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8514080" y="3122549"/>
            <a:ext cx="1937131" cy="5622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400" b="1" dirty="0">
                <a:solidFill>
                  <a:srgbClr val="2563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LIME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8636000" y="3691509"/>
            <a:ext cx="5249291" cy="1219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8514080" y="3630549"/>
            <a:ext cx="5493131" cy="134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87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Perturbs tokens, fits local linear model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870" dirty="0">
                <a:solidFill>
                  <a:srgbClr val="0891B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Fast, flexible</a:t>
            </a:r>
            <a:r>
              <a:rPr lang="en-US" sz="187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| </a:t>
            </a:r>
            <a:r>
              <a:rPr lang="en-US" sz="1870" dirty="0">
                <a:solidFill>
                  <a:srgbClr val="DC262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Can be unstable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14478000" y="3048000"/>
            <a:ext cx="5926709" cy="203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4478000" y="3048000"/>
            <a:ext cx="67691" cy="20320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2" name="Shape 30"/>
          <p:cNvSpPr/>
          <p:nvPr/>
        </p:nvSpPr>
        <p:spPr>
          <a:xfrm>
            <a:off x="14816709" y="3183509"/>
            <a:ext cx="1693291" cy="440309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14694789" y="3122549"/>
            <a:ext cx="1937131" cy="5622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400" b="1" dirty="0">
                <a:solidFill>
                  <a:srgbClr val="0891B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SHAP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14816709" y="3691509"/>
            <a:ext cx="5249291" cy="138849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14694789" y="3630549"/>
            <a:ext cx="5493131" cy="1510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87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Game-theory based, Shapley fair attribution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870" dirty="0">
                <a:solidFill>
                  <a:srgbClr val="0891B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Consistent &amp; reproducible</a:t>
            </a:r>
            <a:r>
              <a:rPr lang="en-US" sz="187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| </a:t>
            </a:r>
            <a:r>
              <a:rPr lang="en-US" sz="1870" dirty="0">
                <a:solidFill>
                  <a:srgbClr val="DC262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Higher compute cost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8297291" y="5334000"/>
            <a:ext cx="11853291" cy="4064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7" name="Text 35"/>
          <p:cNvSpPr/>
          <p:nvPr/>
        </p:nvSpPr>
        <p:spPr>
          <a:xfrm>
            <a:off x="8175371" y="5273040"/>
            <a:ext cx="12097131" cy="528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70" i="1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Both: Post-hoc · Local · Model-agnostic · Feature-level attribution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7874000" y="7874000"/>
            <a:ext cx="12784709" cy="330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297291" y="8128000"/>
            <a:ext cx="5080000" cy="47409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/>
          <p:nvPr/>
        </p:nvSpPr>
        <p:spPr>
          <a:xfrm>
            <a:off x="8175371" y="8067040"/>
            <a:ext cx="5323840" cy="5960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670" dirty="0">
                <a:solidFill>
                  <a:srgbClr val="2563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Detection Paradigms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8297291" y="8805291"/>
            <a:ext cx="3894709" cy="203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297291" y="8805291"/>
            <a:ext cx="3894709" cy="67691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3" name="Shape 41"/>
          <p:cNvSpPr/>
          <p:nvPr/>
        </p:nvSpPr>
        <p:spPr>
          <a:xfrm>
            <a:off x="8551291" y="9144000"/>
            <a:ext cx="3386709" cy="1354709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/>
          <p:nvPr/>
        </p:nvSpPr>
        <p:spPr>
          <a:xfrm>
            <a:off x="8429371" y="9083040"/>
            <a:ext cx="3630549" cy="14766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20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Stylometric +</a:t>
            </a:r>
            <a:endParaRPr lang="en-US" sz="1600" dirty="0"/>
          </a:p>
          <a:p>
            <a:pPr algn="ctr">
              <a:lnSpc>
                <a:spcPct val="140000"/>
              </a:lnSpc>
            </a:pPr>
            <a:r>
              <a:rPr lang="en-US" sz="20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Classical ML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12446000" y="8805291"/>
            <a:ext cx="3894709" cy="203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2446000" y="8805291"/>
            <a:ext cx="3894709" cy="67691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7" name="Shape 45"/>
          <p:cNvSpPr/>
          <p:nvPr/>
        </p:nvSpPr>
        <p:spPr>
          <a:xfrm>
            <a:off x="12700000" y="9144000"/>
            <a:ext cx="3386709" cy="1354709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/>
          <p:nvPr/>
        </p:nvSpPr>
        <p:spPr>
          <a:xfrm>
            <a:off x="12578080" y="9083040"/>
            <a:ext cx="3630549" cy="14766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20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Transformer-based</a:t>
            </a:r>
            <a:endParaRPr lang="en-US" sz="1600" dirty="0"/>
          </a:p>
          <a:p>
            <a:pPr algn="ctr">
              <a:lnSpc>
                <a:spcPct val="140000"/>
              </a:lnSpc>
            </a:pPr>
            <a:r>
              <a:rPr lang="en-US" sz="20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Deep Learning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16594709" y="8805291"/>
            <a:ext cx="3894709" cy="203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6594709" y="8805291"/>
            <a:ext cx="3894709" cy="67691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51" name="Shape 49"/>
          <p:cNvSpPr/>
          <p:nvPr/>
        </p:nvSpPr>
        <p:spPr>
          <a:xfrm>
            <a:off x="16848709" y="9144000"/>
            <a:ext cx="3386709" cy="1354709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2" name="Text 50"/>
          <p:cNvSpPr/>
          <p:nvPr/>
        </p:nvSpPr>
        <p:spPr>
          <a:xfrm>
            <a:off x="16726789" y="9083040"/>
            <a:ext cx="3630549" cy="14766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20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Multi-label</a:t>
            </a:r>
            <a:endParaRPr lang="en-US" sz="1600" dirty="0"/>
          </a:p>
          <a:p>
            <a:pPr algn="ctr">
              <a:lnSpc>
                <a:spcPct val="140000"/>
              </a:lnSpc>
            </a:pPr>
            <a:r>
              <a:rPr lang="en-US" sz="20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Attribution Frameworks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20320000" y="11684000"/>
            <a:ext cx="846709" cy="338709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4" name="Text 52"/>
          <p:cNvSpPr/>
          <p:nvPr/>
        </p:nvSpPr>
        <p:spPr>
          <a:xfrm>
            <a:off x="20198080" y="11623040"/>
            <a:ext cx="1090549" cy="460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87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05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gradFill flip="none" rotWithShape="1">
          <a:gsLst>
            <a:gs pos="0">
              <a:srgbClr val="F8FAFC"/>
            </a:gs>
            <a:gs pos="50000">
              <a:srgbClr val="EFF6FF"/>
            </a:gs>
            <a:gs pos="100000">
              <a:srgbClr val="DBEAFE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6000" y="3048000"/>
            <a:ext cx="6773291" cy="3048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894080" y="2987040"/>
            <a:ext cx="7017131" cy="3169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1330" dirty="0">
                <a:solidFill>
                  <a:srgbClr val="0891B2">
                    <a:alpha val="12157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02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016000" y="6434709"/>
            <a:ext cx="1354709" cy="67691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" name="Shape 3"/>
          <p:cNvSpPr/>
          <p:nvPr/>
        </p:nvSpPr>
        <p:spPr>
          <a:xfrm>
            <a:off x="1016000" y="6773291"/>
            <a:ext cx="11853291" cy="1016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894080" y="6712331"/>
            <a:ext cx="12097131" cy="1137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5870" b="1" dirty="0">
                <a:solidFill>
                  <a:srgbClr val="1E293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Methodology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016000" y="7958709"/>
            <a:ext cx="11853291" cy="508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894080" y="7897749"/>
            <a:ext cx="12097131" cy="629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40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PRISMA systematic review framework — 250 records to 12 included studies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8626709" y="8466709"/>
            <a:ext cx="677291" cy="677291"/>
          </a:xfrm>
          <a:prstGeom prst="rect">
            <a:avLst/>
          </a:prstGeom>
          <a:solidFill>
            <a:srgbClr val="2563EB">
              <a:alpha val="8941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9642709" y="9482709"/>
            <a:ext cx="406400" cy="406400"/>
          </a:xfrm>
          <a:prstGeom prst="rect">
            <a:avLst/>
          </a:prstGeom>
          <a:solidFill>
            <a:srgbClr val="0891B2">
              <a:alpha val="16000"/>
            </a:srgbClr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1674709" cy="67729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18709" cy="67729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-121920" y="-60960"/>
            <a:ext cx="5662549" cy="7992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kern="0" spc="133" dirty="0">
                <a:solidFill>
                  <a:srgbClr val="64748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18709" y="0"/>
            <a:ext cx="5418709" cy="67729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5296789" y="-60960"/>
            <a:ext cx="5662549" cy="7992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kern="0" spc="133" dirty="0">
                <a:solidFill>
                  <a:srgbClr val="1E293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METHODOLOGY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18709" y="677291"/>
            <a:ext cx="5418709" cy="33909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8" name="Shape 6"/>
          <p:cNvSpPr/>
          <p:nvPr/>
        </p:nvSpPr>
        <p:spPr>
          <a:xfrm>
            <a:off x="10837291" y="0"/>
            <a:ext cx="5418709" cy="67729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10715371" y="-60960"/>
            <a:ext cx="5662549" cy="7992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kern="0" spc="133" dirty="0">
                <a:solidFill>
                  <a:srgbClr val="64748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ANALYSIS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6256000" y="0"/>
            <a:ext cx="5418709" cy="67729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16134080" y="-60960"/>
            <a:ext cx="5662549" cy="7992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kern="0" spc="133" dirty="0">
                <a:solidFill>
                  <a:srgbClr val="64748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SYNTHESIS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16000" y="931291"/>
            <a:ext cx="13546709" cy="711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894080" y="870331"/>
            <a:ext cx="13790549" cy="83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4270" dirty="0">
                <a:solidFill>
                  <a:srgbClr val="1E293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Methodology — PRISMA Framework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16000" y="1727200"/>
            <a:ext cx="846709" cy="508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5" name="Shape 13"/>
          <p:cNvSpPr/>
          <p:nvPr/>
        </p:nvSpPr>
        <p:spPr>
          <a:xfrm>
            <a:off x="1016000" y="2116709"/>
            <a:ext cx="3048000" cy="1693291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6" name="Shape 14"/>
          <p:cNvSpPr/>
          <p:nvPr/>
        </p:nvSpPr>
        <p:spPr>
          <a:xfrm>
            <a:off x="1016000" y="2116709"/>
            <a:ext cx="3048000" cy="169329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894080" y="2055749"/>
            <a:ext cx="3291840" cy="18152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400" b="1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IDENTIFY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402709" y="2116709"/>
            <a:ext cx="8466709" cy="169329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4280789" y="2055749"/>
            <a:ext cx="8710549" cy="1815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213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250 records from 4 databases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213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Google Scholar (120), ArXiv (72), IEEE Xplore (38), SciSpace (20)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213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68 duplicates removed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2201291" y="3810000"/>
            <a:ext cx="0" cy="338709"/>
          </a:xfrm>
          <a:prstGeom prst="straightConnector1">
            <a:avLst/>
          </a:prstGeom>
          <a:noFill/>
          <a:ln w="25400">
            <a:solidFill>
              <a:srgbClr val="64748B"/>
            </a:solidFill>
            <a:prstDash val="solid"/>
            <a:headEnd type="none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1016000" y="4318000"/>
            <a:ext cx="3048000" cy="1693291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2" name="Shape 20"/>
          <p:cNvSpPr/>
          <p:nvPr/>
        </p:nvSpPr>
        <p:spPr>
          <a:xfrm>
            <a:off x="1016000" y="4318000"/>
            <a:ext cx="3048000" cy="169329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894080" y="4257040"/>
            <a:ext cx="3291840" cy="18152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400" b="1" dirty="0">
                <a:solidFill>
                  <a:srgbClr val="F8FAF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SCREEN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402709" y="4318000"/>
            <a:ext cx="8466709" cy="169329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4280789" y="4257040"/>
            <a:ext cx="8710549" cy="1815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213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182 records screened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213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126 excluded: Not AGTD, No XAI component, Pre-2023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2201291" y="6011291"/>
            <a:ext cx="0" cy="338709"/>
          </a:xfrm>
          <a:prstGeom prst="straightConnector1">
            <a:avLst/>
          </a:prstGeom>
          <a:noFill/>
          <a:ln w="25400">
            <a:solidFill>
              <a:srgbClr val="64748B"/>
            </a:solidFill>
            <a:prstDash val="solid"/>
            <a:headEnd type="none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1016000" y="6519291"/>
            <a:ext cx="3048000" cy="1693291"/>
          </a:xfrm>
          <a:prstGeom prst="rect">
            <a:avLst/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16000" y="6519291"/>
            <a:ext cx="3048000" cy="169329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894080" y="6458331"/>
            <a:ext cx="3291840" cy="18152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400" b="1" dirty="0">
                <a:solidFill>
                  <a:srgbClr val="2563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ELIGIBLE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402709" y="6519291"/>
            <a:ext cx="8466709" cy="169329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4280789" y="6458331"/>
            <a:ext cx="8710549" cy="1815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213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56 full texts assessed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213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44 excluded: No formal XAI (n=18), Small dataset (n=12), Other (n=14)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2201291" y="8212709"/>
            <a:ext cx="0" cy="338709"/>
          </a:xfrm>
          <a:prstGeom prst="straightConnector1">
            <a:avLst/>
          </a:prstGeom>
          <a:noFill/>
          <a:ln w="25400">
            <a:solidFill>
              <a:srgbClr val="64748B"/>
            </a:solidFill>
            <a:prstDash val="solid"/>
            <a:headEnd type="none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1016000" y="8720709"/>
            <a:ext cx="3048000" cy="1693291"/>
          </a:xfrm>
          <a:prstGeom prst="rect">
            <a:avLst/>
          </a:prstGeom>
          <a:solidFill>
            <a:srgbClr val="FFFFFF"/>
          </a:solidFill>
          <a:ln w="25400">
            <a:solidFill>
              <a:srgbClr val="0891B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16000" y="8720709"/>
            <a:ext cx="3048000" cy="169329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894080" y="8659749"/>
            <a:ext cx="3291840" cy="18152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400" b="1" dirty="0">
                <a:solidFill>
                  <a:srgbClr val="0891B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INCLUDE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402709" y="8720709"/>
            <a:ext cx="8466709" cy="169329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7" name="Text 35"/>
          <p:cNvSpPr/>
          <p:nvPr/>
        </p:nvSpPr>
        <p:spPr>
          <a:xfrm>
            <a:off x="4280789" y="8659749"/>
            <a:ext cx="8710549" cy="1815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213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12 studies included</a:t>
            </a:r>
            <a:r>
              <a:rPr lang="en-US" sz="213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(2023–2026)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213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LIME / SHAP focus · Multi-domain coverage · Thematic synthesis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13546709" y="2116709"/>
            <a:ext cx="7112000" cy="8297291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3546709" y="2116709"/>
            <a:ext cx="67691" cy="8297291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0" name="Shape 38"/>
          <p:cNvSpPr/>
          <p:nvPr/>
        </p:nvSpPr>
        <p:spPr>
          <a:xfrm>
            <a:off x="14054709" y="2370709"/>
            <a:ext cx="5080000" cy="47409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/>
          <p:nvPr/>
        </p:nvSpPr>
        <p:spPr>
          <a:xfrm>
            <a:off x="13932789" y="2309749"/>
            <a:ext cx="5323840" cy="5960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670" dirty="0">
                <a:solidFill>
                  <a:srgbClr val="0891B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Inclusion Criteria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14054709" y="3048000"/>
            <a:ext cx="6265291" cy="6180709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3" name="Text 41"/>
          <p:cNvSpPr/>
          <p:nvPr/>
        </p:nvSpPr>
        <p:spPr>
          <a:xfrm>
            <a:off x="13932789" y="2987040"/>
            <a:ext cx="6509131" cy="6302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2130" dirty="0">
                <a:solidFill>
                  <a:srgbClr val="0891B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■</a:t>
            </a:r>
            <a:r>
              <a:rPr lang="en-US" sz="213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Published Jan 2023 – Mar 2026</a:t>
            </a:r>
            <a:endParaRPr lang="en-US" sz="1600" dirty="0"/>
          </a:p>
          <a:p>
            <a:pPr>
              <a:lnSpc>
                <a:spcPct val="160000"/>
              </a:lnSpc>
            </a:pPr>
            <a:r>
              <a:rPr lang="en-US" sz="2130" dirty="0">
                <a:solidFill>
                  <a:srgbClr val="0891B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■</a:t>
            </a:r>
            <a:r>
              <a:rPr lang="en-US" sz="213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Addresses AI text detection</a:t>
            </a:r>
            <a:endParaRPr lang="en-US" sz="1600" dirty="0"/>
          </a:p>
          <a:p>
            <a:pPr>
              <a:lnSpc>
                <a:spcPct val="160000"/>
              </a:lnSpc>
            </a:pPr>
            <a:r>
              <a:rPr lang="en-US" sz="2130" dirty="0">
                <a:solidFill>
                  <a:srgbClr val="0891B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■</a:t>
            </a:r>
            <a:r>
              <a:rPr lang="en-US" sz="213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Uses ≥1 XAI method</a:t>
            </a:r>
            <a:endParaRPr lang="en-US" sz="1600" dirty="0"/>
          </a:p>
          <a:p>
            <a:pPr>
              <a:lnSpc>
                <a:spcPct val="160000"/>
              </a:lnSpc>
            </a:pPr>
            <a:r>
              <a:rPr lang="en-US" sz="2130" dirty="0">
                <a:solidFill>
                  <a:srgbClr val="0891B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■</a:t>
            </a:r>
            <a:r>
              <a:rPr lang="en-US" sz="213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Written in English</a:t>
            </a:r>
            <a:endParaRPr lang="en-US" sz="1600" dirty="0"/>
          </a:p>
          <a:p>
            <a:pPr>
              <a:lnSpc>
                <a:spcPct val="160000"/>
              </a:lnSpc>
            </a:pPr>
            <a:r>
              <a:rPr lang="en-US" sz="2130" dirty="0">
                <a:solidFill>
                  <a:srgbClr val="0891B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■</a:t>
            </a:r>
            <a:r>
              <a:rPr lang="en-US" sz="213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Dataset ≥500 samples</a:t>
            </a:r>
            <a:endParaRPr lang="en-US" sz="1600" dirty="0"/>
          </a:p>
          <a:p>
            <a:pPr>
              <a:lnSpc>
                <a:spcPct val="160000"/>
              </a:lnSpc>
            </a:pPr>
            <a:r>
              <a:rPr lang="en-US" sz="2130" dirty="0">
                <a:solidFill>
                  <a:srgbClr val="0891B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■</a:t>
            </a:r>
            <a:r>
              <a:rPr lang="en-US" sz="213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Reports Accuracy / F1 / AUC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14054709" y="9313291"/>
            <a:ext cx="6265291" cy="846709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4054709" y="9313291"/>
            <a:ext cx="6265291" cy="846709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/>
          <p:nvPr/>
        </p:nvSpPr>
        <p:spPr>
          <a:xfrm>
            <a:off x="13932789" y="9252331"/>
            <a:ext cx="6509131" cy="96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70" i="1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Thematic Synthesis (not meta-analysis)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20320000" y="11684000"/>
            <a:ext cx="846709" cy="338709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/>
          <p:nvPr/>
        </p:nvSpPr>
        <p:spPr>
          <a:xfrm>
            <a:off x="20198080" y="11623040"/>
            <a:ext cx="1090549" cy="460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87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07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gradFill flip="none" rotWithShape="1">
          <a:gsLst>
            <a:gs pos="0">
              <a:srgbClr val="F8FAFC"/>
            </a:gs>
            <a:gs pos="50000">
              <a:srgbClr val="EFF6FF"/>
            </a:gs>
            <a:gs pos="100000">
              <a:srgbClr val="DBEAFE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6000" y="3048000"/>
            <a:ext cx="6773291" cy="3048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894080" y="2987040"/>
            <a:ext cx="7017131" cy="3169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1330" dirty="0">
                <a:solidFill>
                  <a:srgbClr val="2563EB">
                    <a:alpha val="12157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03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016000" y="6434709"/>
            <a:ext cx="1354709" cy="67691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Shape 3"/>
          <p:cNvSpPr/>
          <p:nvPr/>
        </p:nvSpPr>
        <p:spPr>
          <a:xfrm>
            <a:off x="1016000" y="6773291"/>
            <a:ext cx="11853291" cy="1016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894080" y="6712331"/>
            <a:ext cx="12097131" cy="1137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5870" b="1" dirty="0">
                <a:solidFill>
                  <a:srgbClr val="1E293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Analysis &amp; Findings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016000" y="7958709"/>
            <a:ext cx="13546709" cy="508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894080" y="7897749"/>
            <a:ext cx="13790549" cy="629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40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Three research themes — Stylometric methods, Transformer deep learning, and Multi-label attribution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8626709" y="8466709"/>
            <a:ext cx="677291" cy="677291"/>
          </a:xfrm>
          <a:prstGeom prst="rect">
            <a:avLst/>
          </a:prstGeom>
          <a:solidFill>
            <a:srgbClr val="0891B2">
              <a:alpha val="8941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9642709" y="9482709"/>
            <a:ext cx="406400" cy="406400"/>
          </a:xfrm>
          <a:prstGeom prst="rect">
            <a:avLst/>
          </a:prstGeom>
          <a:solidFill>
            <a:srgbClr val="2563EB">
              <a:alpha val="16000"/>
            </a:srgbClr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1674709" cy="67729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18709" cy="67729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-121920" y="-60960"/>
            <a:ext cx="5662549" cy="7992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kern="0" spc="133" dirty="0">
                <a:solidFill>
                  <a:srgbClr val="64748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18709" y="0"/>
            <a:ext cx="5418709" cy="67729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5296789" y="-60960"/>
            <a:ext cx="5662549" cy="7992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kern="0" spc="133" dirty="0">
                <a:solidFill>
                  <a:srgbClr val="64748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METHODOLOGY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0837291" y="0"/>
            <a:ext cx="5418709" cy="67729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10715371" y="-60960"/>
            <a:ext cx="5662549" cy="7992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kern="0" spc="133" dirty="0">
                <a:solidFill>
                  <a:srgbClr val="1E293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ANALYSIS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0837291" y="677291"/>
            <a:ext cx="5418709" cy="33909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0" name="Shape 8"/>
          <p:cNvSpPr/>
          <p:nvPr/>
        </p:nvSpPr>
        <p:spPr>
          <a:xfrm>
            <a:off x="16256000" y="0"/>
            <a:ext cx="5418709" cy="67729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16134080" y="-60960"/>
            <a:ext cx="5662549" cy="7992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kern="0" spc="133" dirty="0">
                <a:solidFill>
                  <a:srgbClr val="64748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SYNTHESIS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16000" y="931291"/>
            <a:ext cx="15240000" cy="711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894080" y="870331"/>
            <a:ext cx="15483840" cy="83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4270" dirty="0">
                <a:solidFill>
                  <a:srgbClr val="1E293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Theme 1 — Stylometric &amp; Classical ML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16000" y="1727200"/>
            <a:ext cx="846709" cy="508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5" name="Shape 13"/>
          <p:cNvSpPr/>
          <p:nvPr/>
        </p:nvSpPr>
        <p:spPr>
          <a:xfrm>
            <a:off x="1016000" y="2116709"/>
            <a:ext cx="6265291" cy="6773291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16000" y="2116709"/>
            <a:ext cx="6265291" cy="67691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7" name="Shape 15"/>
          <p:cNvSpPr/>
          <p:nvPr/>
        </p:nvSpPr>
        <p:spPr>
          <a:xfrm>
            <a:off x="1354709" y="2455291"/>
            <a:ext cx="5588000" cy="508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1232789" y="2394331"/>
            <a:ext cx="5831840" cy="629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400" b="1" dirty="0">
                <a:solidFill>
                  <a:srgbClr val="1E293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Shah et al. (2023)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1354709" y="3132709"/>
            <a:ext cx="5588000" cy="5418709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1232789" y="3071749"/>
            <a:ext cx="5831840" cy="5540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870" b="1" dirty="0">
                <a:solidFill>
                  <a:srgbClr val="2563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Method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87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SVM, Logistic Reg., Random Forest</a:t>
            </a:r>
            <a:endParaRPr lang="en-US" sz="1600" dirty="0"/>
          </a:p>
          <a:p>
            <a:pPr>
              <a:lnSpc>
                <a:spcPct val="150000"/>
              </a:lnSpc>
              <a:spcBef>
                <a:spcPts val="1300"/>
              </a:spcBef>
            </a:pPr>
            <a:r>
              <a:rPr lang="en-US" sz="1870" b="1" dirty="0">
                <a:solidFill>
                  <a:srgbClr val="2563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XAI Tool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87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LIME + SHAP</a:t>
            </a:r>
            <a:endParaRPr lang="en-US" sz="1600" dirty="0"/>
          </a:p>
          <a:p>
            <a:pPr>
              <a:lnSpc>
                <a:spcPct val="150000"/>
              </a:lnSpc>
              <a:spcBef>
                <a:spcPts val="1300"/>
              </a:spcBef>
            </a:pPr>
            <a:r>
              <a:rPr lang="en-US" sz="1870" b="1" dirty="0">
                <a:solidFill>
                  <a:srgbClr val="2563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Features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87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Simpson's Index, Punctuation regularity, Low-entropy word choice, Formulaic transitions</a:t>
            </a:r>
            <a:endParaRPr lang="en-US" sz="1600" dirty="0"/>
          </a:p>
          <a:p>
            <a:pPr>
              <a:lnSpc>
                <a:spcPct val="150000"/>
              </a:lnSpc>
              <a:spcBef>
                <a:spcPts val="1300"/>
              </a:spcBef>
            </a:pPr>
            <a:r>
              <a:rPr lang="en-US" sz="1870" b="1" dirty="0">
                <a:solidFill>
                  <a:srgbClr val="DC262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Limitation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87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Dataset homogeneity (English general domain only)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7704709" y="2116709"/>
            <a:ext cx="6265291" cy="6773291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04709" y="2116709"/>
            <a:ext cx="6265291" cy="67691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3" name="Shape 21"/>
          <p:cNvSpPr/>
          <p:nvPr/>
        </p:nvSpPr>
        <p:spPr>
          <a:xfrm>
            <a:off x="8043291" y="2455291"/>
            <a:ext cx="5588000" cy="508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7921371" y="2394331"/>
            <a:ext cx="5831840" cy="629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400" b="1" dirty="0">
                <a:solidFill>
                  <a:srgbClr val="1E293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McGovern et al. (2024)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043291" y="3132709"/>
            <a:ext cx="5588000" cy="5418709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7921371" y="3071749"/>
            <a:ext cx="5831840" cy="5540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870" b="1" dirty="0">
                <a:solidFill>
                  <a:srgbClr val="0891B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Method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87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POS analysis, Frequency distributions</a:t>
            </a:r>
            <a:endParaRPr lang="en-US" sz="1600" dirty="0"/>
          </a:p>
          <a:p>
            <a:pPr>
              <a:lnSpc>
                <a:spcPct val="150000"/>
              </a:lnSpc>
              <a:spcBef>
                <a:spcPts val="1300"/>
              </a:spcBef>
            </a:pPr>
            <a:r>
              <a:rPr lang="en-US" sz="1870" b="1" dirty="0">
                <a:solidFill>
                  <a:srgbClr val="0891B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XAI Tool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87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Attention visualization</a:t>
            </a:r>
            <a:endParaRPr lang="en-US" sz="1600" dirty="0"/>
          </a:p>
          <a:p>
            <a:pPr>
              <a:lnSpc>
                <a:spcPct val="150000"/>
              </a:lnSpc>
              <a:spcBef>
                <a:spcPts val="1300"/>
              </a:spcBef>
            </a:pPr>
            <a:r>
              <a:rPr lang="en-US" sz="1870" b="1" dirty="0">
                <a:solidFill>
                  <a:srgbClr val="0891B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Features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87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POS tag distributions, LLM-specific high-frequency token profiles, Adjective-noun sequences, Passive constructions</a:t>
            </a:r>
            <a:endParaRPr lang="en-US" sz="1600" dirty="0"/>
          </a:p>
          <a:p>
            <a:pPr>
              <a:lnSpc>
                <a:spcPct val="150000"/>
              </a:lnSpc>
              <a:spcBef>
                <a:spcPts val="1300"/>
              </a:spcBef>
            </a:pPr>
            <a:r>
              <a:rPr lang="en-US" sz="1870" b="1" dirty="0">
                <a:solidFill>
                  <a:srgbClr val="DC262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Limitation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87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 formal model-agnostic XAI; visualizations only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14393291" y="2116709"/>
            <a:ext cx="6265291" cy="6773291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4393291" y="2116709"/>
            <a:ext cx="6265291" cy="67691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9" name="Shape 27"/>
          <p:cNvSpPr/>
          <p:nvPr/>
        </p:nvSpPr>
        <p:spPr>
          <a:xfrm>
            <a:off x="14732000" y="2455291"/>
            <a:ext cx="5588000" cy="508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14610080" y="2394331"/>
            <a:ext cx="5831840" cy="629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400" b="1" dirty="0">
                <a:solidFill>
                  <a:srgbClr val="1E293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Przystalski et al. (2025)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14732000" y="3132709"/>
            <a:ext cx="5588000" cy="5418709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14610080" y="3071749"/>
            <a:ext cx="5831840" cy="5540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870" b="1" dirty="0">
                <a:solidFill>
                  <a:srgbClr val="2563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Method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87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Random Forest on short samples (&lt;200w)</a:t>
            </a:r>
            <a:endParaRPr lang="en-US" sz="1600" dirty="0"/>
          </a:p>
          <a:p>
            <a:pPr>
              <a:lnSpc>
                <a:spcPct val="150000"/>
              </a:lnSpc>
              <a:spcBef>
                <a:spcPts val="1300"/>
              </a:spcBef>
            </a:pPr>
            <a:r>
              <a:rPr lang="en-US" sz="1870" b="1" dirty="0">
                <a:solidFill>
                  <a:srgbClr val="2563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XAI Tool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87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SHAP (global + local)</a:t>
            </a:r>
            <a:endParaRPr lang="en-US" sz="1600" dirty="0"/>
          </a:p>
          <a:p>
            <a:pPr>
              <a:lnSpc>
                <a:spcPct val="150000"/>
              </a:lnSpc>
              <a:spcBef>
                <a:spcPts val="1300"/>
              </a:spcBef>
            </a:pPr>
            <a:r>
              <a:rPr lang="en-US" sz="1870" b="1" dirty="0">
                <a:solidFill>
                  <a:srgbClr val="2563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Features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87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Grammatical standardization (2× weight), Atypical word freq. distributions, Lexical entropy</a:t>
            </a:r>
            <a:endParaRPr lang="en-US" sz="1600" dirty="0"/>
          </a:p>
          <a:p>
            <a:pPr>
              <a:lnSpc>
                <a:spcPct val="150000"/>
              </a:lnSpc>
              <a:spcBef>
                <a:spcPts val="1300"/>
              </a:spcBef>
            </a:pPr>
            <a:r>
              <a:rPr lang="en-US" sz="1870" b="1" dirty="0">
                <a:solidFill>
                  <a:srgbClr val="DC262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Limitation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87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May not generalize to professional writing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1016000" y="9228709"/>
            <a:ext cx="19642709" cy="101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16000" y="9228709"/>
            <a:ext cx="67691" cy="10160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5" name="Shape 33"/>
          <p:cNvSpPr/>
          <p:nvPr/>
        </p:nvSpPr>
        <p:spPr>
          <a:xfrm>
            <a:off x="1439291" y="9228709"/>
            <a:ext cx="18796000" cy="1016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1317371" y="9167749"/>
            <a:ext cx="19039840" cy="1137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dirty="0">
                <a:solidFill>
                  <a:srgbClr val="0891B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■</a:t>
            </a:r>
            <a:r>
              <a:rPr lang="en-US" sz="20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en-US" sz="20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Shared finding:</a:t>
            </a:r>
            <a:r>
              <a:rPr lang="en-US" sz="20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LLM text is more grammatically regular &amp; lexically predictable than human text — confirmed across all 3 studies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20320000" y="11684000"/>
            <a:ext cx="846709" cy="338709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20198080" y="11623040"/>
            <a:ext cx="1090549" cy="460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87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09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1674709" cy="67729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18709" cy="67729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-121920" y="-60960"/>
            <a:ext cx="5662549" cy="7992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kern="0" spc="133" dirty="0">
                <a:solidFill>
                  <a:srgbClr val="64748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18709" y="0"/>
            <a:ext cx="5418709" cy="67729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5296789" y="-60960"/>
            <a:ext cx="5662549" cy="7992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kern="0" spc="133" dirty="0">
                <a:solidFill>
                  <a:srgbClr val="64748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METHODOLOGY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0837291" y="0"/>
            <a:ext cx="5418709" cy="67729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10715371" y="-60960"/>
            <a:ext cx="5662549" cy="7992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kern="0" spc="133" dirty="0">
                <a:solidFill>
                  <a:srgbClr val="1E293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ANALYSIS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0837291" y="677291"/>
            <a:ext cx="5418709" cy="33909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0" name="Shape 8"/>
          <p:cNvSpPr/>
          <p:nvPr/>
        </p:nvSpPr>
        <p:spPr>
          <a:xfrm>
            <a:off x="16256000" y="0"/>
            <a:ext cx="5418709" cy="67729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16134080" y="-60960"/>
            <a:ext cx="5662549" cy="7992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kern="0" spc="133" dirty="0">
                <a:solidFill>
                  <a:srgbClr val="64748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SYNTHESIS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16000" y="931291"/>
            <a:ext cx="15240000" cy="711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894080" y="870331"/>
            <a:ext cx="15483840" cy="83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4270" dirty="0">
                <a:solidFill>
                  <a:srgbClr val="1E293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Theme 2 — Transformer-Based Deep Learning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16000" y="1727200"/>
            <a:ext cx="846709" cy="508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5" name="Shape 13"/>
          <p:cNvSpPr/>
          <p:nvPr/>
        </p:nvSpPr>
        <p:spPr>
          <a:xfrm>
            <a:off x="1016000" y="2116709"/>
            <a:ext cx="6265291" cy="5757291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16000" y="2116709"/>
            <a:ext cx="6265291" cy="67691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7" name="Shape 15"/>
          <p:cNvSpPr/>
          <p:nvPr/>
        </p:nvSpPr>
        <p:spPr>
          <a:xfrm>
            <a:off x="1354709" y="2455291"/>
            <a:ext cx="5588000" cy="508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1232789" y="2394331"/>
            <a:ext cx="5831840" cy="629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400" b="1" dirty="0">
                <a:solidFill>
                  <a:srgbClr val="1E293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Mitrovic et al. (2023)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1354709" y="3132709"/>
            <a:ext cx="5588000" cy="4064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1232789" y="3071749"/>
            <a:ext cx="5831840" cy="528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7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DistilBERT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354709" y="3725291"/>
            <a:ext cx="1693291" cy="6096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Shape 20"/>
          <p:cNvSpPr/>
          <p:nvPr/>
        </p:nvSpPr>
        <p:spPr>
          <a:xfrm>
            <a:off x="1354709" y="3725291"/>
            <a:ext cx="1693291" cy="609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1232789" y="3664331"/>
            <a:ext cx="1937131" cy="731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130" dirty="0">
                <a:solidFill>
                  <a:srgbClr val="1E293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~84%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3302000" y="3725291"/>
            <a:ext cx="3386709" cy="609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3180080" y="3664331"/>
            <a:ext cx="3630549" cy="731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7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SHAP (token)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1354709" y="4572000"/>
            <a:ext cx="5588000" cy="296329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1232789" y="4511040"/>
            <a:ext cx="5831840" cy="3085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870" b="1" dirty="0">
                <a:solidFill>
                  <a:srgbClr val="2563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Insight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87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ChatGPT reviews overuse superlatives; humans use idiosyncratic vocab &amp; hedged evaluations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7704709" y="2116709"/>
            <a:ext cx="6265291" cy="5757291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04709" y="2116709"/>
            <a:ext cx="6265291" cy="67691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0" name="Shape 28"/>
          <p:cNvSpPr/>
          <p:nvPr/>
        </p:nvSpPr>
        <p:spPr>
          <a:xfrm>
            <a:off x="8043291" y="2455291"/>
            <a:ext cx="5588000" cy="508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7921371" y="2394331"/>
            <a:ext cx="5831840" cy="629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400" b="1" dirty="0">
                <a:solidFill>
                  <a:srgbClr val="1E293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Joshi et al. (2024)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043291" y="3132709"/>
            <a:ext cx="5588000" cy="4064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7921371" y="3071749"/>
            <a:ext cx="5831840" cy="528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7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RoBERTa-Sentinel — HULLMI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8043291" y="3725291"/>
            <a:ext cx="1693291" cy="6096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5" name="Shape 33"/>
          <p:cNvSpPr/>
          <p:nvPr/>
        </p:nvSpPr>
        <p:spPr>
          <a:xfrm>
            <a:off x="8043291" y="3725291"/>
            <a:ext cx="1693291" cy="609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7921371" y="3664331"/>
            <a:ext cx="1937131" cy="731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130" dirty="0">
                <a:solidFill>
                  <a:srgbClr val="F8FAF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~91%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9990709" y="3725291"/>
            <a:ext cx="3386709" cy="609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9868789" y="3664331"/>
            <a:ext cx="3630549" cy="731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7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LIME (token)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8043291" y="4572000"/>
            <a:ext cx="5588000" cy="296329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0" name="Text 38"/>
          <p:cNvSpPr/>
          <p:nvPr/>
        </p:nvSpPr>
        <p:spPr>
          <a:xfrm>
            <a:off x="7921371" y="4511040"/>
            <a:ext cx="5831840" cy="3085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870" b="1" dirty="0">
                <a:solidFill>
                  <a:srgbClr val="0891B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Insight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87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XAI complements accuracy; formulaic hedging &amp; impersonal constructions are key signals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14393291" y="2116709"/>
            <a:ext cx="6265291" cy="5757291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4393291" y="2116709"/>
            <a:ext cx="6265291" cy="67691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3" name="Shape 41"/>
          <p:cNvSpPr/>
          <p:nvPr/>
        </p:nvSpPr>
        <p:spPr>
          <a:xfrm>
            <a:off x="14732000" y="2455291"/>
            <a:ext cx="5588000" cy="508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4" name="Text 42"/>
          <p:cNvSpPr/>
          <p:nvPr/>
        </p:nvSpPr>
        <p:spPr>
          <a:xfrm>
            <a:off x="14610080" y="2394331"/>
            <a:ext cx="5831840" cy="629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400" b="1" dirty="0">
                <a:solidFill>
                  <a:srgbClr val="1E293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Masih et al. (2025)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14732000" y="3132709"/>
            <a:ext cx="5588000" cy="4064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/>
          <p:nvPr/>
        </p:nvSpPr>
        <p:spPr>
          <a:xfrm>
            <a:off x="14610080" y="3071749"/>
            <a:ext cx="5831840" cy="528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7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BERT, RoBERTa, GPT-2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14732000" y="3725291"/>
            <a:ext cx="1693291" cy="6096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8" name="Shape 46"/>
          <p:cNvSpPr/>
          <p:nvPr/>
        </p:nvSpPr>
        <p:spPr>
          <a:xfrm>
            <a:off x="14732000" y="3725291"/>
            <a:ext cx="1693291" cy="609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9" name="Text 47"/>
          <p:cNvSpPr/>
          <p:nvPr/>
        </p:nvSpPr>
        <p:spPr>
          <a:xfrm>
            <a:off x="14610080" y="3664331"/>
            <a:ext cx="1937131" cy="731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130" dirty="0">
                <a:solidFill>
                  <a:srgbClr val="1E293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~89%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16679291" y="3725291"/>
            <a:ext cx="3386709" cy="6096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1" name="Text 49"/>
          <p:cNvSpPr/>
          <p:nvPr/>
        </p:nvSpPr>
        <p:spPr>
          <a:xfrm>
            <a:off x="16557371" y="3664331"/>
            <a:ext cx="3630549" cy="731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7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LIME + SHAP</a:t>
            </a:r>
            <a:endParaRPr lang="en-US" sz="1600" dirty="0"/>
          </a:p>
        </p:txBody>
      </p:sp>
      <p:sp>
        <p:nvSpPr>
          <p:cNvPr id="52" name="Shape 50"/>
          <p:cNvSpPr/>
          <p:nvPr/>
        </p:nvSpPr>
        <p:spPr>
          <a:xfrm>
            <a:off x="14732000" y="4572000"/>
            <a:ext cx="5588000" cy="296329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3" name="Text 51"/>
          <p:cNvSpPr/>
          <p:nvPr/>
        </p:nvSpPr>
        <p:spPr>
          <a:xfrm>
            <a:off x="14610080" y="4511040"/>
            <a:ext cx="5831840" cy="3085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870" b="1" dirty="0">
                <a:solidFill>
                  <a:srgbClr val="2563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Insight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87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SHAP more stable than LIME; both can expose models correct for wrong reasons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1016000" y="8212709"/>
            <a:ext cx="19642709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16000" y="8212709"/>
            <a:ext cx="67691" cy="15240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6" name="Shape 54"/>
          <p:cNvSpPr/>
          <p:nvPr/>
        </p:nvSpPr>
        <p:spPr>
          <a:xfrm>
            <a:off x="1439291" y="8551291"/>
            <a:ext cx="474091" cy="474091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7" name="Shape 55"/>
          <p:cNvSpPr/>
          <p:nvPr/>
        </p:nvSpPr>
        <p:spPr>
          <a:xfrm>
            <a:off x="2116709" y="8382000"/>
            <a:ext cx="18118709" cy="118529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8" name="Text 56"/>
          <p:cNvSpPr/>
          <p:nvPr/>
        </p:nvSpPr>
        <p:spPr>
          <a:xfrm>
            <a:off x="1994789" y="8321040"/>
            <a:ext cx="18362549" cy="1307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rgbClr val="DC262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Mohammadi et al. (2025) — The Adversarial Paradox:</a:t>
            </a:r>
            <a:r>
              <a:rPr lang="en-US" sz="20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XAI-informed token replacement drops accuracy by 20–35 pp with minimal semantic change. Any system transparent enough to explain its decisions is, by that transparency, providing a roadmap for evasion.</a:t>
            </a:r>
            <a:endParaRPr lang="en-US" sz="1600" dirty="0"/>
          </a:p>
        </p:txBody>
      </p:sp>
      <p:sp>
        <p:nvSpPr>
          <p:cNvPr id="59" name="Shape 57"/>
          <p:cNvSpPr/>
          <p:nvPr/>
        </p:nvSpPr>
        <p:spPr>
          <a:xfrm>
            <a:off x="20320000" y="11684000"/>
            <a:ext cx="846709" cy="338709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0" name="Text 58"/>
          <p:cNvSpPr/>
          <p:nvPr/>
        </p:nvSpPr>
        <p:spPr>
          <a:xfrm>
            <a:off x="20198080" y="11623040"/>
            <a:ext cx="1090549" cy="460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87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10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1674709" cy="67729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18709" cy="67729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-121920" y="-60960"/>
            <a:ext cx="5662549" cy="7992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kern="0" spc="133" dirty="0">
                <a:solidFill>
                  <a:srgbClr val="64748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18709" y="0"/>
            <a:ext cx="5418709" cy="67729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5296789" y="-60960"/>
            <a:ext cx="5662549" cy="7992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kern="0" spc="133" dirty="0">
                <a:solidFill>
                  <a:srgbClr val="64748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METHODOLOGY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0837291" y="0"/>
            <a:ext cx="5418709" cy="67729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10715371" y="-60960"/>
            <a:ext cx="5662549" cy="7992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kern="0" spc="133" dirty="0">
                <a:solidFill>
                  <a:srgbClr val="1E293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ANALYSIS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0837291" y="677291"/>
            <a:ext cx="5418709" cy="33909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0" name="Shape 8"/>
          <p:cNvSpPr/>
          <p:nvPr/>
        </p:nvSpPr>
        <p:spPr>
          <a:xfrm>
            <a:off x="16256000" y="0"/>
            <a:ext cx="5418709" cy="67729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16134080" y="-60960"/>
            <a:ext cx="5662549" cy="7992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kern="0" spc="133" dirty="0">
                <a:solidFill>
                  <a:srgbClr val="64748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SYNTHESIS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16000" y="931291"/>
            <a:ext cx="16933291" cy="711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894080" y="870331"/>
            <a:ext cx="17177131" cy="83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4270" dirty="0">
                <a:solidFill>
                  <a:srgbClr val="1E293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Theme 3 — Multi-Label Attribution &amp; Cross-Domain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16000" y="1727200"/>
            <a:ext cx="846709" cy="508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5" name="Shape 13"/>
          <p:cNvSpPr/>
          <p:nvPr/>
        </p:nvSpPr>
        <p:spPr>
          <a:xfrm>
            <a:off x="1016000" y="2116709"/>
            <a:ext cx="6265291" cy="355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16000" y="2116709"/>
            <a:ext cx="6265291" cy="67691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7" name="Shape 15"/>
          <p:cNvSpPr/>
          <p:nvPr/>
        </p:nvSpPr>
        <p:spPr>
          <a:xfrm>
            <a:off x="1354709" y="2455291"/>
            <a:ext cx="1524000" cy="440309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8" name="Shape 16"/>
          <p:cNvSpPr/>
          <p:nvPr/>
        </p:nvSpPr>
        <p:spPr>
          <a:xfrm>
            <a:off x="1354709" y="2455291"/>
            <a:ext cx="1524000" cy="440309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1232789" y="2394331"/>
            <a:ext cx="1767840" cy="5622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dirty="0">
                <a:solidFill>
                  <a:srgbClr val="1E293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BASELINE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1354709" y="3048000"/>
            <a:ext cx="5588000" cy="4064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1232789" y="2987040"/>
            <a:ext cx="5831840" cy="528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130" b="1" dirty="0">
                <a:solidFill>
                  <a:srgbClr val="1E293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Adilazuarda et al. (2023)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1354709" y="3556000"/>
            <a:ext cx="5588000" cy="1862709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1232789" y="3495040"/>
            <a:ext cx="5831840" cy="1984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87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 single detection paradigm dominates across all domains and languages. Transformers lead on single-domain, stylometry generalizes more stably.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7704709" y="2116709"/>
            <a:ext cx="6265291" cy="355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704709" y="2116709"/>
            <a:ext cx="6265291" cy="67691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6" name="Shape 24"/>
          <p:cNvSpPr/>
          <p:nvPr/>
        </p:nvSpPr>
        <p:spPr>
          <a:xfrm>
            <a:off x="8043291" y="2455291"/>
            <a:ext cx="1693291" cy="440309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7" name="Shape 25"/>
          <p:cNvSpPr/>
          <p:nvPr/>
        </p:nvSpPr>
        <p:spPr>
          <a:xfrm>
            <a:off x="8043291" y="2455291"/>
            <a:ext cx="1693291" cy="440309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7921371" y="2394331"/>
            <a:ext cx="1937131" cy="5622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dirty="0">
                <a:solidFill>
                  <a:srgbClr val="F8FAF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ATTRIBUTION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043291" y="3048000"/>
            <a:ext cx="5588000" cy="4064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7921371" y="2987040"/>
            <a:ext cx="5831840" cy="528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130" b="1" dirty="0">
                <a:solidFill>
                  <a:srgbClr val="1E293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Najjar et al. (2025)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8043291" y="3556000"/>
            <a:ext cx="5588000" cy="1862709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7921371" y="3495040"/>
            <a:ext cx="5831840" cy="1984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87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XAI profiles create LLM-specific authorship signatures. Claude outputs show highest stylometric similarity to human writing — hardest to detect.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14393291" y="2116709"/>
            <a:ext cx="6265291" cy="355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4393291" y="2116709"/>
            <a:ext cx="6265291" cy="67691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5" name="Shape 33"/>
          <p:cNvSpPr/>
          <p:nvPr/>
        </p:nvSpPr>
        <p:spPr>
          <a:xfrm>
            <a:off x="14732000" y="2455291"/>
            <a:ext cx="1693291" cy="440309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6" name="Shape 34"/>
          <p:cNvSpPr/>
          <p:nvPr/>
        </p:nvSpPr>
        <p:spPr>
          <a:xfrm>
            <a:off x="14732000" y="2455291"/>
            <a:ext cx="1693291" cy="440309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7" name="Text 35"/>
          <p:cNvSpPr/>
          <p:nvPr/>
        </p:nvSpPr>
        <p:spPr>
          <a:xfrm>
            <a:off x="14610080" y="2394331"/>
            <a:ext cx="1937131" cy="5622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dirty="0">
                <a:solidFill>
                  <a:srgbClr val="1E293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MULTI-LABEL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14732000" y="3048000"/>
            <a:ext cx="5588000" cy="4064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/>
          <p:nvPr/>
        </p:nvSpPr>
        <p:spPr>
          <a:xfrm>
            <a:off x="14610080" y="2987040"/>
            <a:ext cx="5831840" cy="528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130" b="1" dirty="0">
                <a:solidFill>
                  <a:srgbClr val="1E293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Zahraa et al. (2025)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14732000" y="3556000"/>
            <a:ext cx="5588000" cy="1862709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/>
          <p:nvPr/>
        </p:nvSpPr>
        <p:spPr>
          <a:xfrm>
            <a:off x="14610080" y="3495040"/>
            <a:ext cx="5831840" cy="1984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87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Multi-label LIME+SHAP shows GPT-4 vs. Llama differ in syntactic complexity and hedging frequency — granular insight for educators &amp; editors.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1016000" y="6011291"/>
            <a:ext cx="9567291" cy="355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016000" y="6011291"/>
            <a:ext cx="9567291" cy="67691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4" name="Shape 42"/>
          <p:cNvSpPr/>
          <p:nvPr/>
        </p:nvSpPr>
        <p:spPr>
          <a:xfrm>
            <a:off x="1354709" y="6350000"/>
            <a:ext cx="1524000" cy="440309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5" name="Shape 43"/>
          <p:cNvSpPr/>
          <p:nvPr/>
        </p:nvSpPr>
        <p:spPr>
          <a:xfrm>
            <a:off x="1354709" y="6350000"/>
            <a:ext cx="1524000" cy="440309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/>
          <p:nvPr/>
        </p:nvSpPr>
        <p:spPr>
          <a:xfrm>
            <a:off x="1232789" y="6289040"/>
            <a:ext cx="1767840" cy="5622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dirty="0">
                <a:solidFill>
                  <a:srgbClr val="1E293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MEDICAL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1354709" y="6942709"/>
            <a:ext cx="8890000" cy="4064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/>
          <p:nvPr/>
        </p:nvSpPr>
        <p:spPr>
          <a:xfrm>
            <a:off x="1232789" y="6881749"/>
            <a:ext cx="9133840" cy="528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130" b="1" dirty="0">
                <a:solidFill>
                  <a:srgbClr val="1E293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Baharifar et al. (2025)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1354709" y="7450709"/>
            <a:ext cx="8890000" cy="1862709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Text 48"/>
          <p:cNvSpPr/>
          <p:nvPr/>
        </p:nvSpPr>
        <p:spPr>
          <a:xfrm>
            <a:off x="1232789" y="7389749"/>
            <a:ext cx="9133840" cy="1984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87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Medical misinformation: LLM text flagged by overconfident assertions, absent epistemic hedging ('may', 'suggests'), and missing numerical precision.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11091291" y="6011291"/>
            <a:ext cx="9567291" cy="355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1091291" y="6011291"/>
            <a:ext cx="9567291" cy="67691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3" name="Shape 51"/>
          <p:cNvSpPr/>
          <p:nvPr/>
        </p:nvSpPr>
        <p:spPr>
          <a:xfrm>
            <a:off x="11430000" y="6350000"/>
            <a:ext cx="1693291" cy="440309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4" name="Shape 52"/>
          <p:cNvSpPr/>
          <p:nvPr/>
        </p:nvSpPr>
        <p:spPr>
          <a:xfrm>
            <a:off x="11430000" y="6350000"/>
            <a:ext cx="1693291" cy="440309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5" name="Text 53"/>
          <p:cNvSpPr/>
          <p:nvPr/>
        </p:nvSpPr>
        <p:spPr>
          <a:xfrm>
            <a:off x="11308080" y="6289040"/>
            <a:ext cx="1937131" cy="5622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dirty="0">
                <a:solidFill>
                  <a:srgbClr val="F8FAF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SCALABLE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11430000" y="6942709"/>
            <a:ext cx="8890000" cy="4064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7" name="Text 55"/>
          <p:cNvSpPr/>
          <p:nvPr/>
        </p:nvSpPr>
        <p:spPr>
          <a:xfrm>
            <a:off x="11308080" y="6881749"/>
            <a:ext cx="9133840" cy="528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130" b="1" dirty="0">
                <a:solidFill>
                  <a:srgbClr val="1E293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Iqbal &amp; Kashem (2025)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11430000" y="7450709"/>
            <a:ext cx="8890000" cy="1862709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9" name="Text 57"/>
          <p:cNvSpPr/>
          <p:nvPr/>
        </p:nvSpPr>
        <p:spPr>
          <a:xfrm>
            <a:off x="11308080" y="7389749"/>
            <a:ext cx="9133840" cy="1984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87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Ensemble ML framework for scalable source ID. Relies on vocab distribution divergence, sentence length, connective phrase frequency.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20320000" y="11684000"/>
            <a:ext cx="846709" cy="338709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1" name="Text 59"/>
          <p:cNvSpPr/>
          <p:nvPr/>
        </p:nvSpPr>
        <p:spPr>
          <a:xfrm>
            <a:off x="20198080" y="11623040"/>
            <a:ext cx="1090549" cy="460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87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11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1674709" cy="67729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18709" cy="67729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-121920" y="-60960"/>
            <a:ext cx="5662549" cy="7992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kern="0" spc="133" dirty="0">
                <a:solidFill>
                  <a:srgbClr val="64748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18709" y="0"/>
            <a:ext cx="5418709" cy="67729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5296789" y="-60960"/>
            <a:ext cx="5662549" cy="7992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kern="0" spc="133" dirty="0">
                <a:solidFill>
                  <a:srgbClr val="64748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METHODOLOGY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0837291" y="0"/>
            <a:ext cx="5418709" cy="67729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10715371" y="-60960"/>
            <a:ext cx="5662549" cy="7992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kern="0" spc="133" dirty="0">
                <a:solidFill>
                  <a:srgbClr val="1E293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ANALYSIS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0837291" y="677291"/>
            <a:ext cx="5418709" cy="33909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0" name="Shape 8"/>
          <p:cNvSpPr/>
          <p:nvPr/>
        </p:nvSpPr>
        <p:spPr>
          <a:xfrm>
            <a:off x="16256000" y="0"/>
            <a:ext cx="5418709" cy="67729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16134080" y="-60960"/>
            <a:ext cx="5662549" cy="7992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kern="0" spc="133" dirty="0">
                <a:solidFill>
                  <a:srgbClr val="64748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SYNTHESIS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16000" y="931291"/>
            <a:ext cx="16933291" cy="711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894080" y="870331"/>
            <a:ext cx="17177131" cy="83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4270" dirty="0">
                <a:solidFill>
                  <a:srgbClr val="1E293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Finding — Discriminative Linguistic Features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16000" y="1727200"/>
            <a:ext cx="846709" cy="50800"/>
          </a:xfrm>
          <a:prstGeom prst="rect">
            <a:avLst/>
          </a:prstGeom>
          <a:solidFill>
            <a:srgbClr val="2563EB"/>
          </a:solidFill>
          <a:ln/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16000" y="2116709"/>
          <a:ext cx="19642709" cy="7281291"/>
        </p:xfrm>
        <a:graphic>
          <a:graphicData uri="http://schemas.openxmlformats.org/drawingml/2006/table">
            <a:tbl>
              <a:tblPr/>
              <a:tblGrid>
                <a:gridCol w="58928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392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1067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33186">
                <a:tc>
                  <a:txBody>
                    <a:bodyPr/>
                    <a:lstStyle/>
                    <a:p>
                      <a:pPr algn="l"/>
                      <a:r>
                        <a:rPr lang="en-US" sz="2130" u="none" dirty="0">
                          <a:solidFill>
                            <a:srgbClr val="2563E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Discriminative Feature</a:t>
                      </a:r>
                      <a:endParaRPr lang="en-US" sz="213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130" u="none" dirty="0">
                          <a:solidFill>
                            <a:srgbClr val="2563E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Studies Identifying It</a:t>
                      </a:r>
                      <a:endParaRPr lang="en-US" sz="213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130" u="none" dirty="0">
                          <a:solidFill>
                            <a:srgbClr val="2563E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Paradigm</a:t>
                      </a:r>
                      <a:endParaRPr lang="en-US" sz="213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35444">
                <a:tc>
                  <a:txBody>
                    <a:bodyPr/>
                    <a:lstStyle/>
                    <a:p>
                      <a:pPr algn="l"/>
                      <a:r>
                        <a:rPr lang="en-US" sz="213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Grammatical standardization</a:t>
                      </a:r>
                      <a:endParaRPr lang="en-US" sz="213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13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Przystalski (2025), Masih (2025), Baharifar (2025)</a:t>
                      </a:r>
                      <a:endParaRPr lang="en-US" sz="213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13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All three</a:t>
                      </a:r>
                      <a:endParaRPr lang="en-US" sz="213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35444">
                <a:tc>
                  <a:txBody>
                    <a:bodyPr/>
                    <a:lstStyle/>
                    <a:p>
                      <a:pPr algn="l"/>
                      <a:r>
                        <a:rPr lang="en-US" sz="213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Formulaic transitional phrases</a:t>
                      </a:r>
                      <a:endParaRPr lang="en-US" sz="213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13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Shah (2023), Joshi (2024), Zahraa (2025)</a:t>
                      </a:r>
                      <a:endParaRPr lang="en-US" sz="213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13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Stylometric, Transformer</a:t>
                      </a:r>
                      <a:endParaRPr lang="en-US" sz="213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35444">
                <a:tc>
                  <a:txBody>
                    <a:bodyPr/>
                    <a:lstStyle/>
                    <a:p>
                      <a:pPr algn="l"/>
                      <a:r>
                        <a:rPr lang="en-US" sz="213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Low lexical entropy / predictable vocab</a:t>
                      </a:r>
                      <a:endParaRPr lang="en-US" sz="213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13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Shah (2023), Przystalski (2025), Iqbal (2025)</a:t>
                      </a:r>
                      <a:endParaRPr lang="en-US" sz="213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13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Stylometric, Ensemble</a:t>
                      </a:r>
                      <a:endParaRPr lang="en-US" sz="213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35444">
                <a:tc>
                  <a:txBody>
                    <a:bodyPr/>
                    <a:lstStyle/>
                    <a:p>
                      <a:pPr algn="l"/>
                      <a:r>
                        <a:rPr lang="en-US" sz="213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Superlatives &amp; assertive constructions</a:t>
                      </a:r>
                      <a:endParaRPr lang="en-US" sz="213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13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Mitrovic (2023), Baharifar (2025)</a:t>
                      </a:r>
                      <a:endParaRPr lang="en-US" sz="213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13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Transformer</a:t>
                      </a:r>
                      <a:endParaRPr lang="en-US" sz="213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35444">
                <a:tc>
                  <a:txBody>
                    <a:bodyPr/>
                    <a:lstStyle/>
                    <a:p>
                      <a:pPr algn="l"/>
                      <a:r>
                        <a:rPr lang="en-US" sz="213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Absence of epistemic hedging</a:t>
                      </a:r>
                      <a:endParaRPr lang="en-US" sz="213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13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Baharifar (2025), Najjar (2025)</a:t>
                      </a:r>
                      <a:endParaRPr lang="en-US" sz="213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13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Multi-label, Domain</a:t>
                      </a:r>
                      <a:endParaRPr lang="en-US" sz="213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35444">
                <a:tc>
                  <a:txBody>
                    <a:bodyPr/>
                    <a:lstStyle/>
                    <a:p>
                      <a:pPr algn="l"/>
                      <a:r>
                        <a:rPr lang="en-US" sz="213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POS tag distribution anomalies</a:t>
                      </a:r>
                      <a:endParaRPr lang="en-US" sz="213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13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McGovern (2024), Przystalski (2025)</a:t>
                      </a:r>
                      <a:endParaRPr lang="en-US" sz="213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13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Stylometric</a:t>
                      </a:r>
                      <a:endParaRPr lang="en-US" sz="213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935444">
                <a:tc>
                  <a:txBody>
                    <a:bodyPr/>
                    <a:lstStyle/>
                    <a:p>
                      <a:pPr algn="l"/>
                      <a:r>
                        <a:rPr lang="en-US" sz="213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Discourse-level coherence over-smoothing</a:t>
                      </a:r>
                      <a:endParaRPr lang="en-US" sz="213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13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Joshi (2024), Najjar (2025)</a:t>
                      </a:r>
                      <a:endParaRPr lang="en-US" sz="213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130" u="none" dirty="0">
                          <a:solidFill>
                            <a:srgbClr val="1E293B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Transformer, Multi-label</a:t>
                      </a:r>
                      <a:endParaRPr lang="en-US" sz="213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1016000" y="9736709"/>
            <a:ext cx="19642709" cy="101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016000" y="9736709"/>
            <a:ext cx="67691" cy="10160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8" name="Shape 15"/>
          <p:cNvSpPr/>
          <p:nvPr/>
        </p:nvSpPr>
        <p:spPr>
          <a:xfrm>
            <a:off x="1439291" y="9736709"/>
            <a:ext cx="18796000" cy="1016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6"/>
          <p:cNvSpPr/>
          <p:nvPr/>
        </p:nvSpPr>
        <p:spPr>
          <a:xfrm>
            <a:off x="1317371" y="9675749"/>
            <a:ext cx="19039840" cy="1137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dirty="0">
                <a:solidFill>
                  <a:srgbClr val="2563E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★</a:t>
            </a:r>
            <a:r>
              <a:rPr lang="en-US" sz="20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</a:t>
            </a:r>
            <a:r>
              <a:rPr lang="en-US" sz="200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Grammatical standardization</a:t>
            </a:r>
            <a:r>
              <a:rPr lang="en-US" sz="200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the single most consistently reported feature across ALL three paradigms (LIME &amp; SHAP, multiple architectures)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20320000" y="11684000"/>
            <a:ext cx="846709" cy="338709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8"/>
          <p:cNvSpPr/>
          <p:nvPr/>
        </p:nvSpPr>
        <p:spPr>
          <a:xfrm>
            <a:off x="20198080" y="11623040"/>
            <a:ext cx="1090549" cy="460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87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12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gradFill flip="none" rotWithShape="1">
          <a:gsLst>
            <a:gs pos="0">
              <a:srgbClr val="F8FAFC"/>
            </a:gs>
            <a:gs pos="50000">
              <a:srgbClr val="EFF6FF"/>
            </a:gs>
            <a:gs pos="100000">
              <a:srgbClr val="DBEAFE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6000" y="3048000"/>
            <a:ext cx="6773291" cy="3048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894080" y="2987040"/>
            <a:ext cx="7017131" cy="3169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1330" dirty="0">
                <a:solidFill>
                  <a:srgbClr val="0891B2">
                    <a:alpha val="12157"/>
                  </a:srgbClr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04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016000" y="6434709"/>
            <a:ext cx="1354709" cy="67691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" name="Shape 3"/>
          <p:cNvSpPr/>
          <p:nvPr/>
        </p:nvSpPr>
        <p:spPr>
          <a:xfrm>
            <a:off x="1016000" y="6773291"/>
            <a:ext cx="11853291" cy="1016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894080" y="6712331"/>
            <a:ext cx="12097131" cy="1137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5870" b="1" dirty="0">
                <a:solidFill>
                  <a:srgbClr val="1E293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Synthesis &amp; Future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016000" y="7958709"/>
            <a:ext cx="13546709" cy="508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894080" y="7897749"/>
            <a:ext cx="13790549" cy="629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40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Research gaps, critical findings, and the path forward for explainable AI text detection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8626709" y="8466709"/>
            <a:ext cx="677291" cy="677291"/>
          </a:xfrm>
          <a:prstGeom prst="rect">
            <a:avLst/>
          </a:prstGeom>
          <a:solidFill>
            <a:srgbClr val="2563EB">
              <a:alpha val="8941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9642709" y="9482709"/>
            <a:ext cx="406400" cy="406400"/>
          </a:xfrm>
          <a:prstGeom prst="rect">
            <a:avLst/>
          </a:prstGeom>
          <a:solidFill>
            <a:srgbClr val="0891B2">
              <a:alpha val="16000"/>
            </a:srgbClr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1674709" cy="67729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18709" cy="67729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-121920" y="-60960"/>
            <a:ext cx="5662549" cy="7992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kern="0" spc="133" dirty="0">
                <a:solidFill>
                  <a:srgbClr val="64748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18709" y="0"/>
            <a:ext cx="5418709" cy="67729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5296789" y="-60960"/>
            <a:ext cx="5662549" cy="7992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kern="0" spc="133" dirty="0">
                <a:solidFill>
                  <a:srgbClr val="64748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METHODOLOGY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0837291" y="0"/>
            <a:ext cx="5418709" cy="67729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10715371" y="-60960"/>
            <a:ext cx="5662549" cy="7992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kern="0" spc="133" dirty="0">
                <a:solidFill>
                  <a:srgbClr val="64748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ANALYSIS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6256000" y="0"/>
            <a:ext cx="5418709" cy="67729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16134080" y="-60960"/>
            <a:ext cx="5662549" cy="7992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kern="0" spc="133" dirty="0">
                <a:solidFill>
                  <a:srgbClr val="1E293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SYNTHESIS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6256000" y="677291"/>
            <a:ext cx="5418709" cy="33909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2" name="Shape 10"/>
          <p:cNvSpPr/>
          <p:nvPr/>
        </p:nvSpPr>
        <p:spPr>
          <a:xfrm>
            <a:off x="1016000" y="931291"/>
            <a:ext cx="15240000" cy="7112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894080" y="870331"/>
            <a:ext cx="15483840" cy="83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4270" dirty="0">
                <a:solidFill>
                  <a:srgbClr val="1E293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Research Gaps &amp; Conclusion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16000" y="1727200"/>
            <a:ext cx="846709" cy="508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5" name="Shape 13"/>
          <p:cNvSpPr/>
          <p:nvPr/>
        </p:nvSpPr>
        <p:spPr>
          <a:xfrm>
            <a:off x="1016000" y="2116709"/>
            <a:ext cx="9567291" cy="2201291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16000" y="2116709"/>
            <a:ext cx="67691" cy="2201291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7" name="Shape 15"/>
          <p:cNvSpPr/>
          <p:nvPr/>
        </p:nvSpPr>
        <p:spPr>
          <a:xfrm>
            <a:off x="1354709" y="2370709"/>
            <a:ext cx="1524000" cy="4064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Shape 16"/>
          <p:cNvSpPr/>
          <p:nvPr/>
        </p:nvSpPr>
        <p:spPr>
          <a:xfrm>
            <a:off x="1354709" y="2370709"/>
            <a:ext cx="1524000" cy="4064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1232789" y="2309749"/>
            <a:ext cx="1767840" cy="528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70" dirty="0">
                <a:solidFill>
                  <a:srgbClr val="1E293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CRITICAL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3132709" y="2336800"/>
            <a:ext cx="7112000" cy="47409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3010789" y="2275840"/>
            <a:ext cx="7355840" cy="5960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130" b="1" dirty="0">
                <a:solidFill>
                  <a:srgbClr val="1E293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Gap 1 — Adversarial Robustness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1354709" y="2963291"/>
            <a:ext cx="8890000" cy="1100709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1232789" y="2902331"/>
            <a:ext cx="9133840" cy="1222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87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XAI-informed token replacement reduces accuracy by 20–35 pp. No system is simultaneously interpretable AND robust.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1016000" y="4572000"/>
            <a:ext cx="9567291" cy="2201291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16000" y="4572000"/>
            <a:ext cx="67691" cy="2201291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6" name="Shape 24"/>
          <p:cNvSpPr/>
          <p:nvPr/>
        </p:nvSpPr>
        <p:spPr>
          <a:xfrm>
            <a:off x="1354709" y="4826000"/>
            <a:ext cx="1185291" cy="4064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7" name="Shape 25"/>
          <p:cNvSpPr/>
          <p:nvPr/>
        </p:nvSpPr>
        <p:spPr>
          <a:xfrm>
            <a:off x="1354709" y="4826000"/>
            <a:ext cx="1185291" cy="4064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1232789" y="4765040"/>
            <a:ext cx="1429131" cy="528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70" dirty="0">
                <a:solidFill>
                  <a:srgbClr val="1E293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HIGH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2794000" y="4792091"/>
            <a:ext cx="7450709" cy="47409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2672080" y="4731131"/>
            <a:ext cx="7694549" cy="5960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130" b="1" dirty="0">
                <a:solidFill>
                  <a:srgbClr val="1E293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Gap 2 — Standardized XAI Evaluation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1354709" y="5418709"/>
            <a:ext cx="8890000" cy="1100709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1232789" y="5357749"/>
            <a:ext cx="9133840" cy="1222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87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 benchmarks for faithfulness, stability, or human interpretability. 'Explainable' remains a qualitative claim.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1016000" y="7027291"/>
            <a:ext cx="9567291" cy="2201291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16000" y="7027291"/>
            <a:ext cx="67691" cy="2201291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5" name="Shape 33"/>
          <p:cNvSpPr/>
          <p:nvPr/>
        </p:nvSpPr>
        <p:spPr>
          <a:xfrm>
            <a:off x="1354709" y="7281291"/>
            <a:ext cx="1185291" cy="4064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6" name="Shape 34"/>
          <p:cNvSpPr/>
          <p:nvPr/>
        </p:nvSpPr>
        <p:spPr>
          <a:xfrm>
            <a:off x="1354709" y="7281291"/>
            <a:ext cx="1185291" cy="4064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7" name="Text 35"/>
          <p:cNvSpPr/>
          <p:nvPr/>
        </p:nvSpPr>
        <p:spPr>
          <a:xfrm>
            <a:off x="1232789" y="7220331"/>
            <a:ext cx="1429131" cy="528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70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HIGH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2794000" y="7247509"/>
            <a:ext cx="7450709" cy="47409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Text 37"/>
          <p:cNvSpPr/>
          <p:nvPr/>
        </p:nvSpPr>
        <p:spPr>
          <a:xfrm>
            <a:off x="2672080" y="7186549"/>
            <a:ext cx="7694549" cy="5960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130" b="1" dirty="0">
                <a:solidFill>
                  <a:srgbClr val="1E293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Gap 3 — Fairness for Non-Native Writers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1354709" y="7874000"/>
            <a:ext cx="8890000" cy="1100709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1" name="Text 39"/>
          <p:cNvSpPr/>
          <p:nvPr/>
        </p:nvSpPr>
        <p:spPr>
          <a:xfrm>
            <a:off x="1232789" y="7813040"/>
            <a:ext cx="9133840" cy="1222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87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discriminative features equally characterize non-native English speakers. Unaddressed ethical liability.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11091291" y="2116709"/>
            <a:ext cx="9567291" cy="2201291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1091291" y="2116709"/>
            <a:ext cx="67691" cy="2201291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4" name="Shape 42"/>
          <p:cNvSpPr/>
          <p:nvPr/>
        </p:nvSpPr>
        <p:spPr>
          <a:xfrm>
            <a:off x="11430000" y="2370709"/>
            <a:ext cx="1185291" cy="4064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5" name="Shape 43"/>
          <p:cNvSpPr/>
          <p:nvPr/>
        </p:nvSpPr>
        <p:spPr>
          <a:xfrm>
            <a:off x="11430000" y="2370709"/>
            <a:ext cx="1185291" cy="4064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6" name="Text 44"/>
          <p:cNvSpPr/>
          <p:nvPr/>
        </p:nvSpPr>
        <p:spPr>
          <a:xfrm>
            <a:off x="11308080" y="2309749"/>
            <a:ext cx="1429131" cy="528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70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HIGH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12869291" y="2336800"/>
            <a:ext cx="7450709" cy="47409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Text 46"/>
          <p:cNvSpPr/>
          <p:nvPr/>
        </p:nvSpPr>
        <p:spPr>
          <a:xfrm>
            <a:off x="12747371" y="2275840"/>
            <a:ext cx="7694549" cy="5960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130" b="1" dirty="0">
                <a:solidFill>
                  <a:srgbClr val="1E293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Gap 4 — Cross-Domain Generalization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11430000" y="2963291"/>
            <a:ext cx="8890000" cy="1100709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0" name="Text 48"/>
          <p:cNvSpPr/>
          <p:nvPr/>
        </p:nvSpPr>
        <p:spPr>
          <a:xfrm>
            <a:off x="11308080" y="2902331"/>
            <a:ext cx="9133840" cy="1222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87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Legal domain entirely unstudied. Feature drift &amp; distributional shift degrade all paradigms.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11091291" y="4572000"/>
            <a:ext cx="9567291" cy="2201291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1091291" y="4572000"/>
            <a:ext cx="67691" cy="2201291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3" name="Shape 51"/>
          <p:cNvSpPr/>
          <p:nvPr/>
        </p:nvSpPr>
        <p:spPr>
          <a:xfrm>
            <a:off x="11430000" y="4826000"/>
            <a:ext cx="1693291" cy="4064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4" name="Shape 52"/>
          <p:cNvSpPr/>
          <p:nvPr/>
        </p:nvSpPr>
        <p:spPr>
          <a:xfrm>
            <a:off x="11430000" y="4826000"/>
            <a:ext cx="1693291" cy="4064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5" name="Text 53"/>
          <p:cNvSpPr/>
          <p:nvPr/>
        </p:nvSpPr>
        <p:spPr>
          <a:xfrm>
            <a:off x="11308080" y="4765040"/>
            <a:ext cx="1937131" cy="528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70" dirty="0">
                <a:solidFill>
                  <a:srgbClr val="F8FAF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MODERATE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13377291" y="4792091"/>
            <a:ext cx="6942709" cy="474091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7" name="Text 55"/>
          <p:cNvSpPr/>
          <p:nvPr/>
        </p:nvSpPr>
        <p:spPr>
          <a:xfrm>
            <a:off x="13255371" y="4731131"/>
            <a:ext cx="7186549" cy="5960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130" b="1" dirty="0">
                <a:solidFill>
                  <a:srgbClr val="1E293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Gap 5 — Multilingual Detection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11430000" y="5418709"/>
            <a:ext cx="8890000" cy="1100709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59" name="Text 57"/>
          <p:cNvSpPr/>
          <p:nvPr/>
        </p:nvSpPr>
        <p:spPr>
          <a:xfrm>
            <a:off x="11308080" y="5357749"/>
            <a:ext cx="9133840" cy="1222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87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 study applies formal XAI to non-English text. mBERT / XLM-RoBERTa needed.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11091291" y="7027291"/>
            <a:ext cx="9567291" cy="2201291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1091291" y="7027291"/>
            <a:ext cx="67691" cy="2201291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2" name="Shape 60"/>
          <p:cNvSpPr/>
          <p:nvPr/>
        </p:nvSpPr>
        <p:spPr>
          <a:xfrm>
            <a:off x="11430000" y="7196709"/>
            <a:ext cx="5080000" cy="4064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3" name="Text 61"/>
          <p:cNvSpPr/>
          <p:nvPr/>
        </p:nvSpPr>
        <p:spPr>
          <a:xfrm>
            <a:off x="11308080" y="7135749"/>
            <a:ext cx="5323840" cy="528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70" b="1" dirty="0">
                <a:solidFill>
                  <a:srgbClr val="0891B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CONCLUSION</a:t>
            </a:r>
            <a:endParaRPr lang="en-US" sz="1600" dirty="0"/>
          </a:p>
        </p:txBody>
      </p:sp>
      <p:sp>
        <p:nvSpPr>
          <p:cNvPr id="64" name="Shape 62"/>
          <p:cNvSpPr/>
          <p:nvPr/>
        </p:nvSpPr>
        <p:spPr>
          <a:xfrm>
            <a:off x="11430000" y="7704709"/>
            <a:ext cx="8890000" cy="1354709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5" name="Text 63"/>
          <p:cNvSpPr/>
          <p:nvPr/>
        </p:nvSpPr>
        <p:spPr>
          <a:xfrm>
            <a:off x="11308080" y="7643749"/>
            <a:ext cx="9133840" cy="1476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870" dirty="0">
                <a:solidFill>
                  <a:srgbClr val="0891B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✓</a:t>
            </a:r>
            <a:r>
              <a:rPr lang="en-US" sz="187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LIME &amp; SHAP consistently identify stable LLM prose properties</a:t>
            </a:r>
            <a:endParaRPr lang="en-US" sz="1600" dirty="0"/>
          </a:p>
          <a:p>
            <a:pPr>
              <a:lnSpc>
                <a:spcPct val="150000"/>
              </a:lnSpc>
            </a:pPr>
            <a:r>
              <a:rPr lang="en-US" sz="1870" dirty="0">
                <a:solidFill>
                  <a:srgbClr val="DC262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✗</a:t>
            </a:r>
            <a:r>
              <a:rPr lang="en-US" sz="1870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The adversarial paradox remains unresolved</a:t>
            </a:r>
            <a:endParaRPr lang="en-US" sz="1600" dirty="0"/>
          </a:p>
        </p:txBody>
      </p:sp>
      <p:sp>
        <p:nvSpPr>
          <p:cNvPr id="66" name="Shape 64"/>
          <p:cNvSpPr/>
          <p:nvPr/>
        </p:nvSpPr>
        <p:spPr>
          <a:xfrm>
            <a:off x="1016000" y="9567291"/>
            <a:ext cx="19642709" cy="846709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016000" y="9567291"/>
            <a:ext cx="67691" cy="846709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8" name="Shape 66"/>
          <p:cNvSpPr/>
          <p:nvPr/>
        </p:nvSpPr>
        <p:spPr>
          <a:xfrm>
            <a:off x="1439291" y="9567291"/>
            <a:ext cx="18796000" cy="846709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9" name="Text 67"/>
          <p:cNvSpPr/>
          <p:nvPr/>
        </p:nvSpPr>
        <p:spPr>
          <a:xfrm>
            <a:off x="1317371" y="9506331"/>
            <a:ext cx="19039840" cy="96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i="1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"Detection systems that are not only accurate, but honest about how they know what they know."</a:t>
            </a:r>
            <a:endParaRPr lang="en-US" sz="1600" dirty="0"/>
          </a:p>
        </p:txBody>
      </p:sp>
      <p:sp>
        <p:nvSpPr>
          <p:cNvPr id="70" name="Shape 68"/>
          <p:cNvSpPr/>
          <p:nvPr/>
        </p:nvSpPr>
        <p:spPr>
          <a:xfrm>
            <a:off x="20320000" y="11684000"/>
            <a:ext cx="846709" cy="338709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71" name="Text 69"/>
          <p:cNvSpPr/>
          <p:nvPr/>
        </p:nvSpPr>
        <p:spPr>
          <a:xfrm>
            <a:off x="20198080" y="11623040"/>
            <a:ext cx="1090549" cy="460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87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14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gradFill flip="none" rotWithShape="1">
          <a:gsLst>
            <a:gs pos="0">
              <a:srgbClr val="F8FAFC"/>
            </a:gs>
            <a:gs pos="50000">
              <a:srgbClr val="EFF6FF"/>
            </a:gs>
            <a:gs pos="100000">
              <a:srgbClr val="DBEAFE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3386709"/>
            <a:ext cx="3386709" cy="67691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4064000" y="3725291"/>
            <a:ext cx="13546709" cy="1354709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3942080" y="3664331"/>
            <a:ext cx="13790549" cy="1476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8530" b="1" kern="0" spc="267" dirty="0">
                <a:solidFill>
                  <a:srgbClr val="1E293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THANK YOU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757291" y="5249291"/>
            <a:ext cx="10160000" cy="592709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5635371" y="5188331"/>
            <a:ext cx="10403840" cy="714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930" dirty="0">
                <a:solidFill>
                  <a:srgbClr val="0891B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Questions &amp; Discussion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0" y="6096000"/>
            <a:ext cx="3386709" cy="33909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8" name="Shape 6"/>
          <p:cNvSpPr/>
          <p:nvPr/>
        </p:nvSpPr>
        <p:spPr>
          <a:xfrm>
            <a:off x="4910709" y="6434709"/>
            <a:ext cx="11853291" cy="1354709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4788789" y="6373749"/>
            <a:ext cx="12097131" cy="1476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60000"/>
              </a:lnSpc>
            </a:pPr>
            <a:r>
              <a:rPr lang="en-US" sz="213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Jawwad Ahmad</a:t>
            </a:r>
            <a:r>
              <a:rPr lang="en-US" sz="213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| F25NDOCS3W04013 | MSCS 2nd Semester</a:t>
            </a:r>
            <a:endParaRPr lang="en-US" sz="1600" dirty="0"/>
          </a:p>
          <a:p>
            <a:pPr algn="ctr">
              <a:lnSpc>
                <a:spcPct val="160000"/>
              </a:lnSpc>
            </a:pPr>
            <a:r>
              <a:rPr lang="en-US" sz="213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Islamia University of Bahawalpur | Supervisor: </a:t>
            </a:r>
            <a:r>
              <a:rPr lang="en-US" sz="2130" b="1" dirty="0">
                <a:solidFill>
                  <a:srgbClr val="1E293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Dr. Ahmad Niaz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386709" y="8466709"/>
            <a:ext cx="3386709" cy="203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86709" y="8636000"/>
            <a:ext cx="3386709" cy="1016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3264789" y="8575040"/>
            <a:ext cx="3630549" cy="1137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6400" dirty="0">
                <a:solidFill>
                  <a:srgbClr val="2563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12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386709" y="9736709"/>
            <a:ext cx="3386709" cy="508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3264789" y="9675749"/>
            <a:ext cx="3630549" cy="629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7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Studies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281291" y="8466709"/>
            <a:ext cx="3386709" cy="203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81291" y="8636000"/>
            <a:ext cx="3386709" cy="1016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7159371" y="8575040"/>
            <a:ext cx="3630549" cy="1137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6400" dirty="0">
                <a:solidFill>
                  <a:srgbClr val="0891B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281291" y="9736709"/>
            <a:ext cx="3386709" cy="508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7159371" y="9675749"/>
            <a:ext cx="3630549" cy="629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7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Themes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11176000" y="8466709"/>
            <a:ext cx="3386709" cy="203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176000" y="8636000"/>
            <a:ext cx="3386709" cy="1016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11054080" y="8575040"/>
            <a:ext cx="3630549" cy="1137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6400" dirty="0">
                <a:solidFill>
                  <a:srgbClr val="2563EB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11176000" y="9736709"/>
            <a:ext cx="3386709" cy="508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11054080" y="9675749"/>
            <a:ext cx="3630549" cy="629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7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Gaps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15070709" y="8466709"/>
            <a:ext cx="3386709" cy="203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5070709" y="8636000"/>
            <a:ext cx="3386709" cy="1016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14948789" y="8575040"/>
            <a:ext cx="3630549" cy="1137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6400" dirty="0">
                <a:solidFill>
                  <a:srgbClr val="0891B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15070709" y="9736709"/>
            <a:ext cx="3386709" cy="508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14948789" y="9675749"/>
            <a:ext cx="3630549" cy="629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70" dirty="0">
                <a:solidFill>
                  <a:srgbClr val="64748B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XAI Methods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18626709" y="1354709"/>
            <a:ext cx="677291" cy="677291"/>
          </a:xfrm>
          <a:prstGeom prst="rect">
            <a:avLst/>
          </a:prstGeom>
          <a:solidFill>
            <a:srgbClr val="2563EB">
              <a:alpha val="8941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9642709" y="2370709"/>
            <a:ext cx="406400" cy="406400"/>
          </a:xfrm>
          <a:prstGeom prst="rect">
            <a:avLst/>
          </a:prstGeom>
          <a:solidFill>
            <a:srgbClr val="0891B2">
              <a:alpha val="16000"/>
            </a:srgbClr>
          </a:solidFill>
          <a:ln/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1356</Words>
  <Application>Microsoft Office PowerPoint</Application>
  <PresentationFormat>Custom</PresentationFormat>
  <Paragraphs>279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Liter</vt:lpstr>
      <vt:lpstr>Arial</vt:lpstr>
      <vt:lpstr>Quattrocento Sans</vt:lpstr>
      <vt:lpstr>QuattrocentoSans</vt:lpstr>
      <vt:lpstr>Custom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Untitled</dc:subject>
  <dc:creator>Kimi</dc:creator>
  <cp:lastModifiedBy>Jawwad Ahmad</cp:lastModifiedBy>
  <cp:revision>2</cp:revision>
  <dcterms:created xsi:type="dcterms:W3CDTF">2026-04-24T16:16:31Z</dcterms:created>
  <dcterms:modified xsi:type="dcterms:W3CDTF">2026-04-26T10:34:34Z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{"Label":"Untitled","ContentProducer":"001191110108MACG2KBH8F10000","ProduceID":"19dc045e-4992-8303-8000-00008ad0b290","ReservedCode1":"","ContentPropagator":"001191110108MACG2KBH8F20000","PropagateID":"19dc045e-4992-8303-8000-00008ad0b290","ReservedCode2":""}</vt:lpwstr>
  </property>
</Properties>
</file>