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37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0" y="0"/>
            <a:ext cx="640080" cy="640080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</a:t>
            </a:r>
            <a:endParaRPr lang="en-US" sz="6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</a:t>
            </a:r>
            <a:endParaRPr lang="en-US" sz="6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11480" y="3383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Detection</a:t>
            </a:r>
            <a:endParaRPr lang="en-US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4096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BE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Review  ·  2023 –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92040" y="347472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66360" y="566928"/>
            <a:ext cx="256032" cy="256032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384048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720840" y="45720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Synthesized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66360" y="12618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MSCS Research Review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1828800"/>
            <a:ext cx="3931920" cy="2971800"/>
          </a:xfrm>
          <a:prstGeom prst="roundRect">
            <a:avLst>
              <a:gd name="adj" fmla="val 3692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66360" y="20116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65392" y="20116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256032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65392" y="2560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F25NDOCS3W04013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1089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65392" y="31089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MSCS — 2nd Semester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365760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65392" y="36576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Ahmad Niaz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42062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65392" y="4206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Islamia Univ. Bahawalpur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Covered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sections  ·  13 slides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0" y="365760"/>
            <a:ext cx="1280160" cy="12801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365760"/>
            <a:ext cx="1280160" cy="128016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365760"/>
            <a:ext cx="1280160" cy="1280160"/>
          </a:xfrm>
          <a:prstGeom prst="ellipse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6771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4140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72491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09067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detecting AI text matters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226771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6366F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16352" y="24140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16352" y="272491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16352" y="309067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LIME · SHAP · XAI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26771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10912" y="24140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10912" y="272491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10912" y="309067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— 12 studies selected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226771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05472" y="24140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05472" y="272491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05472" y="309067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&amp; Classical ML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8503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" y="38313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41422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" y="4507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+ Adversarial paradox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51760" y="368503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816352" y="38313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16352" y="41422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16352" y="4507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attribution &amp; domains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68503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6366F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10912" y="38313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10912" y="41422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10912" y="4507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AI from human text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40880" y="3685032"/>
            <a:ext cx="2057400" cy="1261872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05472" y="38313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05472" y="41422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Conclusion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05472" y="4507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open problems + research roadmap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217920" y="292608"/>
            <a:ext cx="2560320" cy="987552"/>
          </a:xfrm>
          <a:prstGeom prst="roundRect">
            <a:avLst>
              <a:gd name="adj" fmla="val 11111"/>
            </a:avLst>
          </a:prstGeom>
          <a:solidFill>
            <a:srgbClr val="6366F1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55080" y="329184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writes like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human now.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719072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19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46304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produce human-like text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07008" y="1810512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· Claude · Llama · Gemini — fluent, coherent, stylistically indistinguishable prose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28032" y="1371600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719072"/>
            <a:ext cx="402336" cy="402336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719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146304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across every domain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77840" y="1810512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fraud · Fake journalism · Medical misinformation · Forged legal evidence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2926080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2670048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detectors were weak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07008" y="301752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scores &amp; stylometry — low accuracy, easily fooled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28032" y="2578608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926080"/>
            <a:ext cx="402336" cy="402336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2670048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improved accuracy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577840" y="301752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RoBERTa, DistilBERT reach ~91% — but are opaque black boxes that can't explain themselves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785616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413308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133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07008" y="3877056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= no action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07008" y="4224528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Educators, courts, journals cannot act on a verdict with no auditable reasoning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28032" y="3785616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0" y="4133088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4133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77840" y="3877056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is the solution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577840" y="4224528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&amp; SHAP make detection transparent — providing auditable, human-readable evidence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LLMs Work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predict the next word — one token at a time — based on probability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1206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087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85623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captures context across long text — understands which words relate to each other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120640" cy="1078992"/>
          </a:xfrm>
          <a:prstGeom prst="roundRect">
            <a:avLst>
              <a:gd name="adj" fmla="val 10169"/>
            </a:avLst>
          </a:prstGeom>
          <a:solidFill>
            <a:srgbClr val="6366F1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6974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generation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04495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chosen from a probability distribution — one at a time, conditioned on all previous words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51206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8862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setting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423367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→ predictable, safe text   ·   High → creative, surprising output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33872" y="1303020"/>
            <a:ext cx="2834640" cy="170992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80760" y="1572768"/>
            <a:ext cx="274320" cy="27432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50876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Writing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1828800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irregularities · idiosyncratic vocabulary · rhythm variation · personal stylistic fingerprints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251460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67728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70470" y="2514600"/>
            <a:ext cx="886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3163824"/>
            <a:ext cx="2834640" cy="1709928"/>
          </a:xfrm>
          <a:prstGeom prst="roundRect">
            <a:avLst>
              <a:gd name="adj" fmla="val 6977"/>
            </a:avLst>
          </a:prstGeom>
          <a:solidFill>
            <a:srgbClr val="F1F5F9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3319272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3255264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3575304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Grammatically perfect · high lexical predictability · overly smooth — this regularity is itself detectable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80760" y="426110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67728" y="42611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70470" y="426110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5734" y="576072"/>
            <a:ext cx="282057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391091" y="576072"/>
            <a:ext cx="2961249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79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425696" y="103327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264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explain WHY an AI model flagged a text — which words or features caused the decision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Interpretable Model-Agnostic Explanations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14255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369703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214255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words one-by-one to see how prediction changes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36047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" y="2991495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836047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these tokens pushed the "AI-generated" verdict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57839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3613287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457839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good fit for transformer pipelines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1925" y="4055012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012" y="4187952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0550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unstable due to random perturbation sampling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68366" y="17922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196318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2351766"/>
            <a:ext cx="201168" cy="201168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2196318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cooperative game theory — each word = a player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2818110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2973558"/>
            <a:ext cx="201168" cy="201168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2818110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exact, fair contribution of every token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63440" y="3439902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28032" y="3595350"/>
            <a:ext cx="201168" cy="201168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7216" y="3439902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and fully reproducible across all runs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4061694"/>
            <a:ext cx="402336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28032" y="4217142"/>
            <a:ext cx="201168" cy="201168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7216" y="4061694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compute-intensive — preferred for rigorous ranking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7200" y="4736592"/>
            <a:ext cx="1298448" cy="292608"/>
          </a:xfrm>
          <a:prstGeom prst="roundRect">
            <a:avLst>
              <a:gd name="adj" fmla="val 31250"/>
            </a:avLst>
          </a:prstGeom>
          <a:solidFill>
            <a:srgbClr val="11182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3659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20240" y="4736592"/>
            <a:ext cx="1391920" cy="292608"/>
          </a:xfrm>
          <a:prstGeom prst="roundRect">
            <a:avLst>
              <a:gd name="adj" fmla="val 31250"/>
            </a:avLst>
          </a:prstGeom>
          <a:solidFill>
            <a:srgbClr val="111827"/>
          </a:solidFill>
          <a:ln/>
        </p:spPr>
      </p:sp>
      <p:sp>
        <p:nvSpPr>
          <p:cNvPr id="36" name="Text 34"/>
          <p:cNvSpPr/>
          <p:nvPr/>
        </p:nvSpPr>
        <p:spPr>
          <a:xfrm>
            <a:off x="1920240" y="4736592"/>
            <a:ext cx="1613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scope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98748" y="4736592"/>
            <a:ext cx="1228852" cy="292608"/>
          </a:xfrm>
          <a:prstGeom prst="roundRect">
            <a:avLst>
              <a:gd name="adj" fmla="val 31250"/>
            </a:avLst>
          </a:prstGeom>
          <a:solidFill>
            <a:srgbClr val="111827"/>
          </a:solidFill>
          <a:ln/>
        </p:spPr>
      </p:sp>
      <p:sp>
        <p:nvSpPr>
          <p:cNvPr id="38" name="Text 36"/>
          <p:cNvSpPr/>
          <p:nvPr/>
        </p:nvSpPr>
        <p:spPr>
          <a:xfrm>
            <a:off x="3698748" y="4736592"/>
            <a:ext cx="12288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57216" y="4736592"/>
            <a:ext cx="1864360" cy="292608"/>
          </a:xfrm>
          <a:prstGeom prst="roundRect">
            <a:avLst>
              <a:gd name="adj" fmla="val 31250"/>
            </a:avLst>
          </a:prstGeom>
          <a:solidFill>
            <a:srgbClr val="111827"/>
          </a:solidFill>
          <a:ln/>
        </p:spPr>
      </p:sp>
      <p:sp>
        <p:nvSpPr>
          <p:cNvPr id="40" name="Text 38"/>
          <p:cNvSpPr/>
          <p:nvPr/>
        </p:nvSpPr>
        <p:spPr>
          <a:xfrm>
            <a:off x="5234940" y="4736592"/>
            <a:ext cx="17866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attribution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99300" y="4736592"/>
            <a:ext cx="1587500" cy="292608"/>
          </a:xfrm>
          <a:prstGeom prst="roundRect">
            <a:avLst>
              <a:gd name="adj" fmla="val 31250"/>
            </a:avLst>
          </a:prstGeom>
          <a:solidFill>
            <a:srgbClr val="111827"/>
          </a:solidFill>
          <a:ln/>
        </p:spPr>
      </p:sp>
      <p:sp>
        <p:nvSpPr>
          <p:cNvPr id="42" name="Text 40"/>
          <p:cNvSpPr/>
          <p:nvPr/>
        </p:nvSpPr>
        <p:spPr>
          <a:xfrm>
            <a:off x="7129780" y="4736592"/>
            <a:ext cx="15265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any model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669280" y="256032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250→12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framework  ·  Systematic Literature Review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783080" y="1673352"/>
            <a:ext cx="960120" cy="27432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16733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80360" y="1417320"/>
            <a:ext cx="5669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4 databases: Google Scholar (120) · ArXiv (72) · IEEE Xplore (38) · SciSpace (20)  →  68 duplicates removed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2221992"/>
            <a:ext cx="36576" cy="1005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832104" y="2304288"/>
            <a:ext cx="146304" cy="14630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22576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22576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182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1783080" y="2578608"/>
            <a:ext cx="960120" cy="274320"/>
          </a:xfrm>
          <a:prstGeom prst="roundRect">
            <a:avLst>
              <a:gd name="adj" fmla="val 33333"/>
            </a:avLst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25786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80360" y="2322576"/>
            <a:ext cx="5669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abstract screening  →  126 excluded: not AGTD · no XAI component · published before 2023 · out of scope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6112" y="3127248"/>
            <a:ext cx="36576" cy="1005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" y="3209544"/>
            <a:ext cx="146304" cy="14630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27832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879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1783080" y="3483864"/>
            <a:ext cx="960120" cy="274320"/>
          </a:xfrm>
          <a:prstGeom prst="roundRect">
            <a:avLst>
              <a:gd name="adj" fmla="val 33333"/>
            </a:avLst>
          </a:prstGeom>
          <a:solidFill>
            <a:srgbClr val="E879F9"/>
          </a:solidFill>
          <a:ln/>
        </p:spPr>
      </p:sp>
      <p:sp>
        <p:nvSpPr>
          <p:cNvPr id="22" name="Text 20"/>
          <p:cNvSpPr/>
          <p:nvPr/>
        </p:nvSpPr>
        <p:spPr>
          <a:xfrm>
            <a:off x="1783080" y="3483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80360" y="3227832"/>
            <a:ext cx="5669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review  →  44 excluded: no formal XAI (18) · dataset &lt; 500 samples (12) · non-English (8) · no metrics (6)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6112" y="4032504"/>
            <a:ext cx="36576" cy="1005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104" y="4114800"/>
            <a:ext cx="146304" cy="14630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33088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6366F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4133088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000" dirty="0"/>
          </a:p>
        </p:txBody>
      </p:sp>
      <p:sp>
        <p:nvSpPr>
          <p:cNvPr id="28" name="Shape 26"/>
          <p:cNvSpPr/>
          <p:nvPr/>
        </p:nvSpPr>
        <p:spPr>
          <a:xfrm>
            <a:off x="1783080" y="4389120"/>
            <a:ext cx="960120" cy="274320"/>
          </a:xfrm>
          <a:prstGeom prst="roundRect">
            <a:avLst>
              <a:gd name="adj" fmla="val 33333"/>
            </a:avLst>
          </a:prstGeom>
          <a:solidFill>
            <a:srgbClr val="E879F9"/>
          </a:solidFill>
          <a:ln/>
        </p:spPr>
      </p:sp>
      <p:sp>
        <p:nvSpPr>
          <p:cNvPr id="29" name="Text 27"/>
          <p:cNvSpPr/>
          <p:nvPr/>
        </p:nvSpPr>
        <p:spPr>
          <a:xfrm>
            <a:off x="1783080" y="43891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880360" y="4133088"/>
            <a:ext cx="5669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synthesis  ·  All use LIME or SHAP  ·  Published 2023 – 2026  ·  Multi-domain coverage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1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858768" y="438912"/>
            <a:ext cx="2377440" cy="310896"/>
          </a:xfrm>
          <a:prstGeom prst="roundRect">
            <a:avLst>
              <a:gd name="adj" fmla="val 29412"/>
            </a:avLst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3858768" y="4389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&amp; Classical ML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studies · SVM · Logistic Regression · Random Forest · LIME · SHAP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706624" cy="3584448"/>
          </a:xfrm>
          <a:prstGeom prst="roundRect">
            <a:avLst>
              <a:gd name="adj" fmla="val 4054"/>
            </a:avLst>
          </a:prstGeom>
          <a:solidFill>
            <a:srgbClr val="6366F1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173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Shah et al.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176272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176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+ SHAP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542032"/>
            <a:ext cx="230428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Index and punctuation regularity are the top AI markers. LIME and SHAP agreed using completely different mechanisms — convergent validity.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4187952"/>
            <a:ext cx="2304288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41879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English general domain only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1298448"/>
            <a:ext cx="2706624" cy="358444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11296" y="14173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McGovern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al. 2024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511296" y="2176272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3511296" y="2176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Attn. visual.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11296" y="2542032"/>
            <a:ext cx="230428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LLM has a stylistic fingerprint — consistent POS distributions and high-frequency token profiles that distinguish both from humans and from each other.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11296" y="4187952"/>
            <a:ext cx="2304288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41879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formal LIME or SHAP applied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1298448"/>
            <a:ext cx="2706624" cy="3584448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64224" y="141732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Przystalski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al. 2025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64224" y="2176272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2D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6364224" y="2176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64224" y="2542032"/>
            <a:ext cx="230428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short texts (&lt;200 words): grammatical standardization carries 2× the weight of any other feature. LLMs are too grammatically perfect — the perfection is the tell.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64224" y="4187952"/>
            <a:ext cx="2304288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1879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May not generalize to formal professional writing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937760"/>
            <a:ext cx="8229600" cy="164592"/>
          </a:xfrm>
          <a:prstGeom prst="roundRect">
            <a:avLst>
              <a:gd name="adj" fmla="val 27778"/>
            </a:avLst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finding: LLM text is more grammatically regular and lexically predictable than human text — confirmed across all 3 studies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2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754880" y="438912"/>
            <a:ext cx="2331720" cy="310896"/>
          </a:xfrm>
          <a:prstGeom prst="roundRect">
            <a:avLst>
              <a:gd name="adj" fmla="val 29412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43891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Deep Learning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studies · DistilBERT · BERT · RoBERTa · GPT-2 fine-tuned for detection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706624" cy="2514600"/>
          </a:xfrm>
          <a:prstGeom prst="roundRect">
            <a:avLst>
              <a:gd name="adj" fmla="val 436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389888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Mitrovic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al. 2023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12848" y="1408176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C1C3A"/>
          </a:solidFill>
          <a:ln/>
        </p:spPr>
      </p:sp>
      <p:sp>
        <p:nvSpPr>
          <p:cNvPr id="9" name="Text 7"/>
          <p:cNvSpPr/>
          <p:nvPr/>
        </p:nvSpPr>
        <p:spPr>
          <a:xfrm>
            <a:off x="2212848" y="14081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12848" y="176479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212848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12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2578608"/>
            <a:ext cx="230428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reviews overuse superlatives like "exceptional" and "outstanding". Human reviews are hedged and personal.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10128" y="1298448"/>
            <a:ext cx="2706624" cy="2514600"/>
          </a:xfrm>
          <a:prstGeom prst="roundRect">
            <a:avLst>
              <a:gd name="adj" fmla="val 436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11296" y="1389888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Joshi et al.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HULLMI 2024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65776" y="1408176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C1C3A"/>
          </a:solidFill>
          <a:ln/>
        </p:spPr>
      </p:sp>
      <p:sp>
        <p:nvSpPr>
          <p:cNvPr id="17" name="Text 15"/>
          <p:cNvSpPr/>
          <p:nvPr/>
        </p:nvSpPr>
        <p:spPr>
          <a:xfrm>
            <a:off x="5065776" y="14081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65776" y="176479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11296" y="2212848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1E1E2E"/>
          </a:solidFill>
          <a:ln/>
        </p:spPr>
      </p:sp>
      <p:sp>
        <p:nvSpPr>
          <p:cNvPr id="20" name="Text 18"/>
          <p:cNvSpPr/>
          <p:nvPr/>
        </p:nvSpPr>
        <p:spPr>
          <a:xfrm>
            <a:off x="3511296" y="2212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RoBERTa-Sentinel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11296" y="2578608"/>
            <a:ext cx="230428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LIME does NOT reduce accuracy. Explainability complements performance — it is not a trade-off.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1298448"/>
            <a:ext cx="2706624" cy="2514600"/>
          </a:xfrm>
          <a:prstGeom prst="roundRect">
            <a:avLst>
              <a:gd name="adj" fmla="val 436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64224" y="1389888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Masih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al. 2025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918704" y="1408176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C1C3A"/>
          </a:solidFill>
          <a:ln/>
        </p:spPr>
      </p:sp>
      <p:sp>
        <p:nvSpPr>
          <p:cNvPr id="25" name="Text 23"/>
          <p:cNvSpPr/>
          <p:nvPr/>
        </p:nvSpPr>
        <p:spPr>
          <a:xfrm>
            <a:off x="7918704" y="14081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918704" y="176479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64224" y="2212848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1E1E2E"/>
          </a:solidFill>
          <a:ln/>
        </p:spPr>
      </p:sp>
      <p:sp>
        <p:nvSpPr>
          <p:cNvPr id="28" name="Text 26"/>
          <p:cNvSpPr/>
          <p:nvPr/>
        </p:nvSpPr>
        <p:spPr>
          <a:xfrm>
            <a:off x="6364224" y="2212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RoBERTa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64224" y="2578608"/>
            <a:ext cx="230428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is more stable than LIME. Both reveal when a model is correct for the wrong reasons — critical for auditing.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3913632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1A0A10"/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4133088"/>
            <a:ext cx="402336" cy="40233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396849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Paradox  —  Mohammadi et al. 2025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34440" y="4315968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explanations reveal which tokens to replace with synonyms → accuracy drops 20–35 pp with no change in meaning. Any system transparent enough to explain its decisions provides a roadmap for evasion. No solution exists. Most urgent open problem in the field.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3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754880" y="438912"/>
            <a:ext cx="2743200" cy="310896"/>
          </a:xfrm>
          <a:prstGeom prst="roundRect">
            <a:avLst>
              <a:gd name="adj" fmla="val 29412"/>
            </a:avLst>
          </a:prstGeom>
          <a:solidFill>
            <a:srgbClr val="111827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0" y="4389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Attribution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studies — not just "is it AI?" but which AI? Does it work across domains?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46520" y="1298448"/>
            <a:ext cx="2286000" cy="1874520"/>
          </a:xfrm>
          <a:prstGeom prst="roundRect">
            <a:avLst>
              <a:gd name="adj" fmla="val 5854"/>
            </a:avLst>
          </a:prstGeom>
          <a:solidFill>
            <a:srgbClr val="6366F1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01968" y="13898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01968" y="1719072"/>
            <a:ext cx="1965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outputs are the hardest to detect — most similar to human writing stylometrically.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499616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29844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Adilazuarda et al. 2023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129844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paradigm dominates. Transformers lead on single-domain; stylometry generalizes more stably cross-domain.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231136"/>
            <a:ext cx="237744" cy="237744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0299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Najjar et al. 2025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202996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profiles fingerprint each LLM separately — GPT-4, Llama, Gemini and Claude each produce distinct feature signatures.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61488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962656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276148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Zahraa et al. 2025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276148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SHAP: distinguishes GPT-4 vs Llama via syntactic complexity and hedging frequency differences.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694176"/>
            <a:ext cx="237744" cy="237744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4930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Baharifar et al. 2025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01568" y="349300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domain: AI misinformation flagged by overconfident assertions and absent hedging ("may", "suggests").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224528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425696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422452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Iqbal &amp; Kashem 2025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01568" y="422452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ensemble — no transformers needed, suitable for resource-limited institutional deployment.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 that make LLM text detectable — agreed by LIME &amp; SHAP across all 12 studies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6366F1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63040"/>
            <a:ext cx="219456" cy="219456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3258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standardization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92040" y="132588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LLMs are too grammatically perfect — humans make natural errors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0D1120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993392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85623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Formulaic transitional phrases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85623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Overuse of "Furthermore", "In conclusion", "It is worth noting that"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523744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38658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lexical entropy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386584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predictable vocabulary — stays in common, safe words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0D1120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054096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291693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Superlatives &amp; assertive constructions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916936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say "exceptional" — humans say "pretty good, but..."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3584448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4728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epistemic hedging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44728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skip "may", "suggests" — they state everything as fact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0D1120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4114800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39776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 distribution anomalies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97764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overuse adjective-noun pairs and passive voice constructions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507992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4645152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45079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coherence over-smoothing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450799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essays are too well-organized — humans have rough natural transitions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Gaps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structural problems the field has not yet solved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64008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25880" y="152704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F43F5E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25880" y="1527048"/>
            <a:ext cx="100584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50592" y="1325880"/>
            <a:ext cx="237744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56048" y="1325880"/>
            <a:ext cx="365760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XAI-guided token replacement drops accuracy 20-35 pp. No system is simultaneously interpretable and robust.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075688"/>
            <a:ext cx="64008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25880" y="227685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25880" y="2276856"/>
            <a:ext cx="100584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50592" y="2075688"/>
            <a:ext cx="237744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XAI Evaluation Standard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56048" y="2075688"/>
            <a:ext cx="365760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tests if explanations are faithful, stable, or useful to humans. Explainability is still unverifiable.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825496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825496"/>
            <a:ext cx="64008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25880" y="302666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25880" y="3026664"/>
            <a:ext cx="100584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50592" y="2825496"/>
            <a:ext cx="237744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for Non-Native Writers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56048" y="2825496"/>
            <a:ext cx="365760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regularity also marks non-native English writers. They may be falsely flagged as AI. Untested.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575304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575304"/>
            <a:ext cx="64008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25880" y="377647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25880" y="3776472"/>
            <a:ext cx="100584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50592" y="3575304"/>
            <a:ext cx="237744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Generalization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3575304"/>
            <a:ext cx="365760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domain entirely unstudied. Systems trained on web text fail badly on medical or legal formal writing.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325112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4325112"/>
            <a:ext cx="64008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325880" y="452628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10B98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325880" y="4526280"/>
            <a:ext cx="100584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50592" y="4325112"/>
            <a:ext cx="237744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Detection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56048" y="4325112"/>
            <a:ext cx="3657600" cy="65836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studies in English only. No LIME or SHAP applied to Arabic, Urdu, Chinese or any other language.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60520" cy="1938528"/>
          </a:xfrm>
          <a:prstGeom prst="roundRect">
            <a:avLst>
              <a:gd name="adj" fmla="val 5660"/>
            </a:avLst>
          </a:prstGeom>
          <a:solidFill>
            <a:srgbClr val="6366F1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12471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1436" y="111625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Positive Finding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Convergent Validity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883664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identify the same 4 markers across all architectures: grammatical standardization, formulaic transitions, low lexical entropy, and suppressed epistemic hedging. Convergence across different methods proves these are genuine, stable properties of AI prose.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1938528"/>
          </a:xfrm>
          <a:prstGeom prst="roundRect">
            <a:avLst>
              <a:gd name="adj" fmla="val 5660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62501" y="1116250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10789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Critical Finding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417320"/>
            <a:ext cx="34930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 ≠ Robustness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4920" y="1930066"/>
            <a:ext cx="3493008" cy="932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adversarial paradox is unresolved. Most domain-by-LLM combinations are unstudied. Fairness for non-native writers is unaddressed. No system is simultaneously interpretable and adversarially robust.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deployment: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666744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24128" y="3429000"/>
            <a:ext cx="3456432" cy="7132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≠ institutional trust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28032" y="342900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3666744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94960" y="3429000"/>
            <a:ext cx="3456432" cy="7132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explanation quality formally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4489704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24128" y="4251960"/>
            <a:ext cx="3456432" cy="7132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non-native writers, not just native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28032" y="425196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4489704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94960" y="4251960"/>
            <a:ext cx="3456432" cy="7132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robustness + interpretability jointly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0"/>
            <a:ext cx="530352" cy="5143500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3" name="Text 1"/>
          <p:cNvSpPr/>
          <p:nvPr/>
        </p:nvSpPr>
        <p:spPr>
          <a:xfrm>
            <a:off x="3507474" y="735341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16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438912"/>
            <a:ext cx="256032" cy="25603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  ·  F25NDOCS3W04013  ·  MSCS 2nd Semester  ·  Supervisor: Dr. Ahmad Niaz  ·  Islamia Univ. Bahawalpur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3302" y="3999749"/>
            <a:ext cx="1965960" cy="1024128"/>
          </a:xfrm>
          <a:prstGeom prst="roundRect">
            <a:avLst>
              <a:gd name="adj" fmla="val 1071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3302" y="3999749"/>
            <a:ext cx="19659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43302" y="4063757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43302" y="4639829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92142" y="3999749"/>
            <a:ext cx="1965960" cy="1024128"/>
          </a:xfrm>
          <a:prstGeom prst="roundRect">
            <a:avLst>
              <a:gd name="adj" fmla="val 1071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92142" y="3999749"/>
            <a:ext cx="1965960" cy="54864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15" name="Text 13"/>
          <p:cNvSpPr/>
          <p:nvPr/>
        </p:nvSpPr>
        <p:spPr>
          <a:xfrm>
            <a:off x="2292142" y="4063757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292142" y="4639829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40982" y="3999749"/>
            <a:ext cx="1965960" cy="1024128"/>
          </a:xfrm>
          <a:prstGeom prst="roundRect">
            <a:avLst>
              <a:gd name="adj" fmla="val 1071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40982" y="3999749"/>
            <a:ext cx="19659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440982" y="4063757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440982" y="4639829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9822" y="3999749"/>
            <a:ext cx="1965960" cy="1024128"/>
          </a:xfrm>
          <a:prstGeom prst="roundRect">
            <a:avLst>
              <a:gd name="adj" fmla="val 10714"/>
            </a:avLst>
          </a:prstGeom>
          <a:solidFill>
            <a:srgbClr val="111827"/>
          </a:solidFill>
          <a:ln/>
          <a:effectLst>
            <a:outerShdw blurRad="152400" dist="50800" dir="8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9822" y="3999749"/>
            <a:ext cx="1965960" cy="54864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23" name="Text 21"/>
          <p:cNvSpPr/>
          <p:nvPr/>
        </p:nvSpPr>
        <p:spPr>
          <a:xfrm>
            <a:off x="6589822" y="4063757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589822" y="4639829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1449</Words>
  <Application>Microsoft Office PowerPoint</Application>
  <PresentationFormat>On-screen Show (16:9)</PresentationFormat>
  <Paragraphs>252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Jawwad Ahmad</cp:lastModifiedBy>
  <cp:revision>22</cp:revision>
  <dcterms:created xsi:type="dcterms:W3CDTF">2026-04-25T07:02:59Z</dcterms:created>
  <dcterms:modified xsi:type="dcterms:W3CDTF">2026-04-25T07:32:19Z</dcterms:modified>
</cp:coreProperties>
</file>