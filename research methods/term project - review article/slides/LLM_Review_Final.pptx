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828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A2A38"/>
          </a:solidFill>
          <a:ln/>
        </p:spPr>
      </p:sp>
      <p:sp>
        <p:nvSpPr>
          <p:cNvPr id="3" name="Shape 1"/>
          <p:cNvSpPr/>
          <p:nvPr/>
        </p:nvSpPr>
        <p:spPr>
          <a:xfrm>
            <a:off x="4919472" y="0"/>
            <a:ext cx="201168" cy="5143500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" y="384048"/>
            <a:ext cx="502920" cy="502920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20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MSCS RESEARCH REVIEW  ·  2023–2026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822960"/>
            <a:ext cx="4297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vs.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84048" y="3493008"/>
            <a:ext cx="2286000" cy="64008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36576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Review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12080" y="6400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for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 Detection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1783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3796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Jawwad Ahmad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3796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F25NDOCS3W04013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971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3796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MSCS — 2nd Semester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3566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3796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Ahmad Niaz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4160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37960" y="4160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Islamia Univ. Bahawalpur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6459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3337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08960" y="320040"/>
            <a:ext cx="5806440" cy="502920"/>
          </a:xfrm>
          <a:prstGeom prst="rect">
            <a:avLst/>
          </a:prstGeom>
          <a:solidFill>
            <a:srgbClr val="FFF0EE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3200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03320" y="3200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Why detecting AI text matters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08960" y="886968"/>
            <a:ext cx="5806440" cy="502920"/>
          </a:xfrm>
          <a:prstGeom prst="rect">
            <a:avLst/>
          </a:prstGeom>
          <a:solidFill>
            <a:srgbClr val="FFF0EE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8869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3320" y="8869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— LLMs, LIME, SHAP, XAI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08960" y="1453896"/>
            <a:ext cx="58064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45389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145389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PRISMA (12 studies selected)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108960" y="2020824"/>
            <a:ext cx="58064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202082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202082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 — Stylometric &amp; Classical ML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108960" y="2587752"/>
            <a:ext cx="58064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0" y="258775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03320" y="25877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— Transformer Models + Adversarial Risk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108960" y="3154680"/>
            <a:ext cx="58064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1546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03320" y="31546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— Multi-Label Attribution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108960" y="3721608"/>
            <a:ext cx="58064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0" y="37216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03320" y="372160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What discriminates AI text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108960" y="4288536"/>
            <a:ext cx="58064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0" y="428853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03320" y="42885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&amp; Conclusion</a:t>
            </a:r>
            <a:endParaRPr lang="en-US" sz="1250" dirty="0"/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Detecting AI-Generated Text Matters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640080"/>
          </a:xfrm>
          <a:prstGeom prst="rect">
            <a:avLst/>
          </a:prstGeom>
          <a:solidFill>
            <a:srgbClr val="FFF0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05840"/>
            <a:ext cx="109728" cy="640080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like GPT-4, Claude, Llama and Gemini now produce text indistinguishable from human writing — by eye.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8503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" y="1984248"/>
            <a:ext cx="164592" cy="16459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783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everywhere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52928" y="1783080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(cheating) · Journalism (fake news) · Medicine (misinformation) · Law (forged evidence)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404872"/>
            <a:ext cx="8503920" cy="5486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" y="2606040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40487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methods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52928" y="2404872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scores &amp; stylometric analysis — interpretable but low accuracy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026664"/>
            <a:ext cx="8503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3227832"/>
            <a:ext cx="164592" cy="164592"/>
          </a:xfrm>
          <a:prstGeom prst="ellipse">
            <a:avLst/>
          </a:prstGeom>
          <a:solidFill>
            <a:srgbClr val="F4A738"/>
          </a:solidFill>
          <a:ln w="12700">
            <a:solidFill>
              <a:srgbClr val="F4A7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02666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improved 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852928" y="3026664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RoBERTa, DistilBERT — up to 91% accuracy, but work as "black boxes"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648456"/>
            <a:ext cx="8503920" cy="5486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" y="3849624"/>
            <a:ext cx="164592" cy="16459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64845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black-box problem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852928" y="3648456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says "AI-generated" but gives NO reason → educators &amp; courts cannot act on 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270248"/>
            <a:ext cx="8503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84048" y="4471416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2702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XAI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852928" y="4270248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methods (LIME &amp; SHAP) detect AND explain → auditable, trustworthy decisions</a:t>
            </a:r>
            <a:endParaRPr lang="en-US" sz="1200" dirty="0"/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Language Models Generate Text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566928"/>
          </a:xfrm>
          <a:prstGeom prst="rect">
            <a:avLst/>
          </a:prstGeom>
          <a:solidFill>
            <a:srgbClr val="E8F8F7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05840"/>
            <a:ext cx="109728" cy="5669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autocomplete — but trained on billions of words.  It predicts the next word, one at a time, based on probability.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8503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892808"/>
            <a:ext cx="164592" cy="16459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69164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54680" y="169164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self-attention to understand context across long text — knows what words relate to each other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13432"/>
            <a:ext cx="8503920" cy="56692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514600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31343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Generation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54680" y="231343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one token (word) at a time — each word is chosen based on all previous words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8503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3136392"/>
            <a:ext cx="164592" cy="164592"/>
          </a:xfrm>
          <a:prstGeom prst="ellipse">
            <a:avLst/>
          </a:prstGeom>
          <a:solidFill>
            <a:srgbClr val="F4A738"/>
          </a:solidFill>
          <a:ln w="12700">
            <a:solidFill>
              <a:srgbClr val="F4A7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93522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Setting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54680" y="293522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= predictable, safe text   |   High temperature = creative, random text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557016"/>
            <a:ext cx="8503920" cy="56692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3758184"/>
            <a:ext cx="164592" cy="16459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557016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Writing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154680" y="3557016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natural irregularities — rhythm changes, unusual words, sentence fragments, personal style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178808"/>
            <a:ext cx="8503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" y="4379976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17880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154680" y="4178808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Grammatically perfect, highly predictable, very smooth — this regularity itself becomes detectable</a:t>
            </a:r>
            <a:endParaRPr lang="en-US" sz="1200" dirty="0"/>
          </a:p>
        </p:txBody>
      </p:sp>
    </p:spTree>
  </p:cSld>
  <p:clrMapOvr>
    <a:masterClrMapping/>
  </p:clrMapOvr>
  <p:transition spd="med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 vs.  SHAP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3898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explain WHY an AI model made a decision — which words/features caused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874520"/>
            <a:ext cx="4069080" cy="2971800"/>
          </a:xfrm>
          <a:prstGeom prst="rect">
            <a:avLst/>
          </a:prstGeom>
          <a:solidFill>
            <a:srgbClr val="16222E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874520"/>
            <a:ext cx="4069080" cy="5669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87452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Interpretable Model-Agnostic Explanations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118872" cy="1188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986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Hides/masks words one by 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46704"/>
            <a:ext cx="118872" cy="1188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3009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how the prediction changes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18872" cy="1188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"these words caused the AI verdict"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51376"/>
            <a:ext cx="118872" cy="1188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1056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good for transformer models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553712"/>
            <a:ext cx="118872" cy="1188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507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slightly unstable (random process)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874520"/>
            <a:ext cx="4069080" cy="2971800"/>
          </a:xfrm>
          <a:prstGeom prst="rect">
            <a:avLst/>
          </a:prstGeom>
          <a:solidFill>
            <a:srgbClr val="16222E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874520"/>
            <a:ext cx="4069080" cy="566928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87452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92040" y="24871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944368"/>
            <a:ext cx="118872" cy="11887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3208" y="28986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cooperative game theory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3346704"/>
            <a:ext cx="118872" cy="11887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33009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= a player contributing to a result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3749040"/>
            <a:ext cx="118872" cy="11887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93208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exact, fair share of each word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4151376"/>
            <a:ext cx="118872" cy="11887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93208" y="41056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and reproducible every run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92040" y="4553712"/>
            <a:ext cx="118872" cy="11887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93208" y="4507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thorough — higher computing cost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6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73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Post-hoc  ·  Local  ·  Model-agnostic  ·  Feature-level attribution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A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Systematic Review — How 12 Studies Were Selected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914400" cy="74980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5156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4904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22376" y="1801368"/>
            <a:ext cx="109728" cy="21031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1106424"/>
            <a:ext cx="7452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08760" y="1106424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from 4 databases (Scholar 120 · ArXiv 72 · IEEE 38 · SciSpace 20)  →  68 duplicates removed  →  182 unique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914400" cy="7498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01168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" y="24505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2376" y="2761488"/>
            <a:ext cx="109728" cy="21031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2066544"/>
            <a:ext cx="7452360" cy="658368"/>
          </a:xfrm>
          <a:prstGeom prst="rect">
            <a:avLst/>
          </a:prstGeom>
          <a:solidFill>
            <a:srgbClr val="ECF0F1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08760" y="2066544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 by title &amp; abstract  →  126 excluded (not AGTD, no XAI, published before 2023, out of scope)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914400" cy="7498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97180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" y="341071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2376" y="3721608"/>
            <a:ext cx="109728" cy="21031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3026664"/>
            <a:ext cx="7452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08760" y="3026664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texts assessed  →  44 excluded (no formal XAI: 18 · dataset too small: 12 · non-English: 8 · no metrics: 6)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0040" y="3931920"/>
            <a:ext cx="914400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93192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0040" y="43708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71600" y="3986784"/>
            <a:ext cx="7452360" cy="658368"/>
          </a:xfrm>
          <a:prstGeom prst="rect">
            <a:avLst/>
          </a:prstGeom>
          <a:solidFill>
            <a:srgbClr val="ECF0F1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508760" y="3986784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studies included  |  All use LIME or SHAP  |  Published 2023–2026  |  Multi-domain coverage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criteria: English  ·  Jan 2023 – Mar 2026  ·  Uses LIME or SHAP  ·  Dataset ≥ 500 samples  ·  Reports Accuracy / F1 / AUC</a:t>
            </a:r>
            <a:endParaRPr lang="en-US" sz="1150" dirty="0"/>
          </a:p>
        </p:txBody>
      </p:sp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D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&amp; Classical Machine Learning Approaches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784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studies used handcrafted linguistic features with SVM, Logistic Regression, Random Forest classifiers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816352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2816352" cy="53035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17320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et al. (2023)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59" y="2011680"/>
            <a:ext cx="835243" cy="256032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+ SHAP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350008"/>
            <a:ext cx="263347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Simpson's Index (vocabulary diversity) and punctuation regularity are the strongest AI markers. Both LIME and SHAP agreed despite using completely different mechanisms.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251960"/>
            <a:ext cx="2633472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315968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Dataset covers English general domain only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1417320"/>
            <a:ext cx="2816352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417320"/>
            <a:ext cx="2816352" cy="53035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1417320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McGovern et al. (2024)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10128" y="2011680"/>
            <a:ext cx="1009388" cy="30175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3310128" y="2011680"/>
            <a:ext cx="10093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Visualization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10128" y="2350008"/>
            <a:ext cx="263347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LLM has a unique stylistic fingerprint — consistent POS tag distributions and high-frequency token profiles that distinguish them from humans AND from each other.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10128" y="4251960"/>
            <a:ext cx="2633472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Text 19"/>
          <p:cNvSpPr/>
          <p:nvPr/>
        </p:nvSpPr>
        <p:spPr>
          <a:xfrm>
            <a:off x="3310128" y="4315968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formal model-agnostic XAI (LIME/SHAP) applied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63056" y="1417320"/>
            <a:ext cx="2816352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1417320"/>
            <a:ext cx="2816352" cy="530352"/>
          </a:xfrm>
          <a:prstGeom prst="rect">
            <a:avLst/>
          </a:prstGeom>
          <a:solidFill>
            <a:srgbClr val="A569BD"/>
          </a:solidFill>
          <a:ln/>
        </p:spPr>
      </p:sp>
      <p:sp>
        <p:nvSpPr>
          <p:cNvPr id="24" name="Text 22"/>
          <p:cNvSpPr/>
          <p:nvPr/>
        </p:nvSpPr>
        <p:spPr>
          <a:xfrm>
            <a:off x="6254496" y="1417320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Przystalski et al. (2025)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54496" y="2011680"/>
            <a:ext cx="890106" cy="338328"/>
          </a:xfrm>
          <a:prstGeom prst="rect">
            <a:avLst/>
          </a:prstGeom>
          <a:solidFill>
            <a:srgbClr val="A569BD"/>
          </a:solidFill>
          <a:ln/>
        </p:spPr>
      </p:sp>
      <p:sp>
        <p:nvSpPr>
          <p:cNvPr id="26" name="Text 24"/>
          <p:cNvSpPr/>
          <p:nvPr/>
        </p:nvSpPr>
        <p:spPr>
          <a:xfrm>
            <a:off x="6254495" y="2011680"/>
            <a:ext cx="890107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(global + local)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54496" y="2350008"/>
            <a:ext cx="263347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short texts (&lt;200 words): Grammatical standardization carries 2× the weight of any other feature. LLMs follow grammar so perfectly that the perfection itself is suspicious.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54496" y="4251960"/>
            <a:ext cx="2633472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Text 27"/>
          <p:cNvSpPr/>
          <p:nvPr/>
        </p:nvSpPr>
        <p:spPr>
          <a:xfrm>
            <a:off x="6254496" y="4315968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May not generalize to formal professional writing</a:t>
            </a:r>
            <a:endParaRPr lang="en-US" sz="1000" dirty="0"/>
          </a:p>
        </p:txBody>
      </p:sp>
    </p:spTree>
  </p:cSld>
  <p:clrMapOvr>
    <a:masterClrMapping/>
  </p:clrMapOvr>
  <p:transition spd="med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Deep Learning Methods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09728" cy="9875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0789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Mitrovic et al. (2023)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" y="1435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Arch: DistilBERT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1115568"/>
            <a:ext cx="1188720" cy="34747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11155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~84%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720840" y="1051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revealed ChatGPT reviews overuse superlatives ("exceptional", "outstanding"). Human reviews use idiosyncratic vocab and hedged evaluations like "pretty good, but..."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21408"/>
            <a:ext cx="85039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21408"/>
            <a:ext cx="109728" cy="9875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" y="21945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 et al. — HULLMI (2024)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" y="25511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Arch: RoBERTa-Sentinel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2231136"/>
            <a:ext cx="1188720" cy="34747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22311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~91%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20840" y="216712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LIME did NOT reduce accuracy — explainability and accuracy are complementary. LIME revealed: formulaic hedging, impersonal constructions, overly smooth transitions drive the detector.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85039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36976"/>
            <a:ext cx="109728" cy="9875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33101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 et al. (2025)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" y="36667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Arch: BERT · RoBERTa · GPT-2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3346704"/>
            <a:ext cx="1188720" cy="347472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346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~89%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0840" y="3282696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is more stable than LIME across runs. Both can expose cases where the model is correct for the wrong reasons — a critical finding for fairness auditing.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370832"/>
            <a:ext cx="8503920" cy="658368"/>
          </a:xfrm>
          <a:prstGeom prst="rect">
            <a:avLst/>
          </a:prstGeom>
          <a:solidFill>
            <a:srgbClr val="FEF9E7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370832"/>
            <a:ext cx="109728" cy="658368"/>
          </a:xfrm>
          <a:prstGeom prst="rect">
            <a:avLst/>
          </a:prstGeom>
          <a:solidFill>
            <a:srgbClr val="F4A738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" y="4407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51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Mohammadi et al. (2025) — The Adversarial Paradox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" y="46634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51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explanations show attackers exactly which words to replace with synonyms → accuracy drops 20–35 pp. No solution exists yet. Most urgent open problem in the field.</a:t>
            </a:r>
            <a:endParaRPr lang="en-US" sz="1150" dirty="0"/>
          </a:p>
        </p:txBody>
      </p:sp>
    </p:spTree>
  </p:cSld>
  <p:clrMapOvr>
    <a:masterClrMapping/>
  </p:clrMapOvr>
  <p:transition spd="med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E510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A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Attribution &amp; Cross-Domain Generalization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784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"is it AI?" → Which AI wrote it? Does detection work across different domains?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99032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99032"/>
            <a:ext cx="109728" cy="6400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99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Adilazuarda et al. (2023)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01568" y="1399032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paradigm dominates across all domains. Transformers lead on single-domain; stylometry generalizes more stably cross-domain.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130552"/>
            <a:ext cx="8503920" cy="640080"/>
          </a:xfrm>
          <a:prstGeom prst="rect">
            <a:avLst/>
          </a:prstGeom>
          <a:solidFill>
            <a:srgbClr val="ECF0F1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30552"/>
            <a:ext cx="109728" cy="640080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1305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Najjar et al. (2025)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01568" y="2130552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profiles fingerprint each LLM. Claude outputs are the hardest to detect — most similar stylometrically to human writing.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62072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62072"/>
            <a:ext cx="109728" cy="640080"/>
          </a:xfrm>
          <a:prstGeom prst="rect">
            <a:avLst/>
          </a:prstGeom>
          <a:solidFill>
            <a:srgbClr val="F4A738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8620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Zahraa et al. (2025)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01568" y="2862072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pipeline: SHAP distinguishes GPT-4 vs Llama through fine-grained differences in syntactic complexity and hedging.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593592"/>
            <a:ext cx="8503920" cy="640080"/>
          </a:xfrm>
          <a:prstGeom prst="rect">
            <a:avLst/>
          </a:prstGeom>
          <a:solidFill>
            <a:srgbClr val="ECF0F1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593592"/>
            <a:ext cx="109728" cy="6400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5935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Baharifar et al. (2025)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01568" y="3593592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domain: AI misinformation detected by overconfident assertions and missing hedging ("may", "suggests", "is consistent with").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325112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325112"/>
            <a:ext cx="109728" cy="640080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432511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Iqbal &amp; Kashem (2025)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01568" y="4325112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ensemble framework — cheaper than transformers, suitable for resource-constrained institutions.</a:t>
            </a:r>
            <a:endParaRPr lang="en-US" sz="1200" dirty="0"/>
          </a:p>
        </p:txBody>
      </p:sp>
    </p:spTree>
  </p:cSld>
  <p:clrMapOvr>
    <a:masterClrMapping/>
  </p:clrMapOvr>
  <p:transition spd="med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 That Make LLM Text Detectable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115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and SHAP agree on all 7 features across ALL 12 studies and ALL 3 paradigms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36192"/>
            <a:ext cx="8503920" cy="448056"/>
          </a:xfrm>
          <a:prstGeom prst="rect">
            <a:avLst/>
          </a:prstGeom>
          <a:solidFill>
            <a:srgbClr val="1A2E1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536192"/>
            <a:ext cx="91440" cy="448056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536192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Grammatical standardization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62272" y="1645920"/>
            <a:ext cx="27432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536192"/>
            <a:ext cx="41605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too grammatically perfect — humans make natural errors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8503920" cy="448056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029968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Formulaic transitional phrases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62272" y="2139696"/>
            <a:ext cx="27432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029968"/>
            <a:ext cx="41605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Overuse of "Furthermore", "In conclusion", "It is worth noting that"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8503920" cy="448056"/>
          </a:xfrm>
          <a:prstGeom prst="rect">
            <a:avLst/>
          </a:prstGeom>
          <a:solidFill>
            <a:srgbClr val="16222E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523744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lexical entropy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62272" y="2633472"/>
            <a:ext cx="27432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523744"/>
            <a:ext cx="41605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predictable vocabulary — stays in safe, common words only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8503920" cy="448056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017520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Superlatives &amp; assertive constructions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62272" y="3127248"/>
            <a:ext cx="27432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017520"/>
            <a:ext cx="41605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say "exceptional", "outstanding" — humans say "pretty good"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511296"/>
            <a:ext cx="8503920" cy="448056"/>
          </a:xfrm>
          <a:prstGeom prst="rect">
            <a:avLst/>
          </a:prstGeom>
          <a:solidFill>
            <a:srgbClr val="16222E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3511296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epistemic hedging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62272" y="3621024"/>
            <a:ext cx="27432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511296"/>
            <a:ext cx="41605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skip "may", "suggests", "is consistent with" — sound too certain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005072"/>
            <a:ext cx="8503920" cy="448056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4005072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 distribution anomalies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62272" y="4114800"/>
            <a:ext cx="27432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005072"/>
            <a:ext cx="41605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overuse adjective-noun pairs and passive voice constructions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4498848"/>
            <a:ext cx="8503920" cy="448056"/>
          </a:xfrm>
          <a:prstGeom prst="rect">
            <a:avLst/>
          </a:prstGeom>
          <a:solidFill>
            <a:srgbClr val="16222E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4498848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 coherence over-smoothing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62272" y="4608576"/>
            <a:ext cx="27432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4498848"/>
            <a:ext cx="41605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essays too smooth — humans have rough transitions and logical leaps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Problems the Field Has Not Yet Solved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66928" cy="713232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05840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552" y="1051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87552" y="1417320"/>
            <a:ext cx="1051560" cy="237744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141732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0" y="1069848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XAI-guided token replacement drops accuracy by 20–35 pp with no semantic change. No system is both interpretable and robust. New architectures needed.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10512"/>
            <a:ext cx="8503920" cy="713232"/>
          </a:xfrm>
          <a:prstGeom prst="rect">
            <a:avLst/>
          </a:prstGeom>
          <a:solidFill>
            <a:srgbClr val="ECF0F1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10512"/>
            <a:ext cx="566928" cy="7132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10512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7552" y="18562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XAI Evaluation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87552" y="2221992"/>
            <a:ext cx="1051560" cy="23774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2221992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1874520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to test if an explanation is faithful, stable, or actually helpful to humans. "Explainable" remains a qualitative, unverifiable claim.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615184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615184"/>
            <a:ext cx="566928" cy="7132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615184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87552" y="26609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for Non-Native Writers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87552" y="3026664"/>
            <a:ext cx="1051560" cy="23774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" y="302666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2679192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regularity also characterizes non-native English speakers. They may be falsely flagged as AI. No study has empirically tested this — a major ethical gap.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419856"/>
            <a:ext cx="8503920" cy="713232"/>
          </a:xfrm>
          <a:prstGeom prst="rect">
            <a:avLst/>
          </a:prstGeom>
          <a:solidFill>
            <a:srgbClr val="ECF0F1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419856"/>
            <a:ext cx="566928" cy="7132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419856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87552" y="34655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Generalization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87552" y="3831336"/>
            <a:ext cx="1051560" cy="23774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383133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3483864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legal domain is unstudied. Systems trained on web text fail on medical/legal writing where humans also write formally. Failure mechanism not understood.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224528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4224528"/>
            <a:ext cx="566928" cy="7132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224528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87552" y="4270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Detection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987552" y="4636008"/>
            <a:ext cx="1051560" cy="23774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8" name="Text 36"/>
          <p:cNvSpPr/>
          <p:nvPr/>
        </p:nvSpPr>
        <p:spPr>
          <a:xfrm>
            <a:off x="987552" y="463600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4288536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studies are English only. No LIME or SHAP applied to Arabic, Urdu, Chinese, or other languages. International applicability is entirely unknown.</a:t>
            </a:r>
            <a:endParaRPr lang="en-US" sz="1100" dirty="0"/>
          </a:p>
        </p:txBody>
      </p:sp>
    </p:spTree>
  </p:cSld>
  <p:clrMapOvr>
    <a:masterClrMapping/>
  </p:clrMapOvr>
  <p:transition spd="med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Review Found and What It Means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1234440"/>
          </a:xfrm>
          <a:prstGeom prst="rect">
            <a:avLst/>
          </a:prstGeom>
          <a:solidFill>
            <a:srgbClr val="E9F7E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09728" cy="1234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06984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Main Positive Finding — Convergent Validity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143560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and SHAP consistently identify the same 4 markers across all architectures: grammatical standardization, formulaic transitions, low lexical entropy, and suppressed epistemic hedging. This convergence across completely different methods proves these are genuine, stable properties of LLM-generated prose.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350008"/>
            <a:ext cx="8503920" cy="1115568"/>
          </a:xfrm>
          <a:prstGeom prst="rect">
            <a:avLst/>
          </a:prstGeom>
          <a:solidFill>
            <a:srgbClr val="FDEDEC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50008"/>
            <a:ext cx="109728" cy="1115568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414016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Main Critical Finding — Transparency ≠ Robustness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" y="2779776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adversarial paradox is unresolved. Most domain-by-LLM combinations are unstudied. Fairness for non-native writers is unaddressed empirically. No current system is simultaneously interpretable and adversarially robust.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implications: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950208"/>
            <a:ext cx="4224528" cy="475488"/>
          </a:xfrm>
          <a:prstGeom prst="rect">
            <a:avLst/>
          </a:prstGeom>
          <a:solidFill>
            <a:srgbClr val="ECF0F1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950208"/>
            <a:ext cx="82296" cy="47548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395020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not enough — always explain the decision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27448" y="3950208"/>
            <a:ext cx="4224528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3950208"/>
            <a:ext cx="82296" cy="47548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95020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explanation quality with standardized benchmarks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4498848"/>
            <a:ext cx="4224528" cy="475488"/>
          </a:xfrm>
          <a:prstGeom prst="rect">
            <a:avLst/>
          </a:prstGeom>
          <a:solidFill>
            <a:srgbClr val="ECF0F1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498848"/>
            <a:ext cx="82296" cy="47548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" y="449884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systems on non-native writers, not just native English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27448" y="4498848"/>
            <a:ext cx="4224528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27448" y="4498848"/>
            <a:ext cx="82296" cy="47548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449884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adversarial robustness together with interpretability</a:t>
            </a:r>
            <a:endParaRPr lang="en-US" sz="1150" dirty="0"/>
          </a:p>
        </p:txBody>
      </p:sp>
    </p:spTree>
  </p:cSld>
  <p:clrMapOvr>
    <a:masterClrMapping/>
  </p:clrMapOvr>
  <p:transition spd="med"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1371600" y="1901952"/>
            <a:ext cx="6400800" cy="64008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Jawwad Ahmad  ·  F25NDOCS3W04013  ·  MSCS 2nd Semester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Islamia University of Bahawalpur  ·  Supervisor: Dr. Ahmad Niaz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3611880"/>
            <a:ext cx="1645920" cy="1097280"/>
          </a:xfrm>
          <a:prstGeom prst="rect">
            <a:avLst/>
          </a:prstGeom>
          <a:solidFill>
            <a:srgbClr val="161F2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611880"/>
            <a:ext cx="1645920" cy="73152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85032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77240" y="43068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Reviewed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3611880"/>
            <a:ext cx="1645920" cy="1097280"/>
          </a:xfrm>
          <a:prstGeom prst="rect">
            <a:avLst/>
          </a:prstGeom>
          <a:solidFill>
            <a:srgbClr val="161F2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3611880"/>
            <a:ext cx="1645920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3685032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2743200" y="43068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611880"/>
            <a:ext cx="1645920" cy="1097280"/>
          </a:xfrm>
          <a:prstGeom prst="rect">
            <a:avLst/>
          </a:prstGeom>
          <a:solidFill>
            <a:srgbClr val="161F2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611880"/>
            <a:ext cx="1645920" cy="73152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685032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709160" y="43068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3611880"/>
            <a:ext cx="1645920" cy="1097280"/>
          </a:xfrm>
          <a:prstGeom prst="rect">
            <a:avLst/>
          </a:prstGeom>
          <a:solidFill>
            <a:srgbClr val="161F2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3611880"/>
            <a:ext cx="1645920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685032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675120" y="43068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1595</Words>
  <Application>Microsoft Office PowerPoint</Application>
  <PresentationFormat>On-screen Show (16:9)</PresentationFormat>
  <Paragraphs>214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vs LLM Text Detection</dc:title>
  <dc:subject>PptxGenJS Presentation</dc:subject>
  <dc:creator>PptxGenJS</dc:creator>
  <cp:lastModifiedBy>Jawwad Ahmad</cp:lastModifiedBy>
  <cp:revision>3</cp:revision>
  <dcterms:created xsi:type="dcterms:W3CDTF">2026-04-23T07:36:39Z</dcterms:created>
  <dcterms:modified xsi:type="dcterms:W3CDTF">2026-04-24T17:02:10Z</dcterms:modified>
</cp:coreProperties>
</file>