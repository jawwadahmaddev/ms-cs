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61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03706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3931920" y="0"/>
            <a:ext cx="640080" cy="640080"/>
          </a:xfrm>
          <a:prstGeom prst="rect">
            <a:avLst/>
          </a:prstGeom>
          <a:solidFill>
            <a:srgbClr val="E879F9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502920"/>
            <a:ext cx="39319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Human</a:t>
            </a:r>
            <a:endParaRPr lang="en-US" sz="60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vs.</a:t>
            </a:r>
            <a:endParaRPr lang="en-US" sz="60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LLM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11480" y="338328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chemeClr val="bg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Detection</a:t>
            </a:r>
            <a:endParaRPr lang="en-US" sz="28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411480" y="409651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BE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Systematic Review  ·  2023 – 2026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892040" y="347472"/>
            <a:ext cx="3931920" cy="1325880"/>
          </a:xfrm>
          <a:prstGeom prst="roundRect">
            <a:avLst>
              <a:gd name="adj" fmla="val 8276"/>
            </a:avLst>
          </a:prstGeom>
          <a:solidFill>
            <a:srgbClr val="111827"/>
          </a:solidFill>
          <a:ln/>
          <a:effectLst>
            <a:outerShdw blurRad="152400" dist="50800" dir="87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166360" y="566928"/>
            <a:ext cx="256032" cy="256032"/>
          </a:xfrm>
          <a:prstGeom prst="ellipse">
            <a:avLst/>
          </a:prstGeom>
          <a:solidFill>
            <a:srgbClr val="E879F9"/>
          </a:solidFill>
          <a:ln w="12700">
            <a:solidFill>
              <a:srgbClr val="E879F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77840" y="384048"/>
            <a:ext cx="1097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6720840" y="457200"/>
            <a:ext cx="19659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Studies Synthesized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 – 2026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166360" y="1261872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MSCS Research Review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92040" y="1828800"/>
            <a:ext cx="3931920" cy="2971800"/>
          </a:xfrm>
          <a:prstGeom prst="roundRect">
            <a:avLst>
              <a:gd name="adj" fmla="val 3692"/>
            </a:avLst>
          </a:prstGeom>
          <a:solidFill>
            <a:srgbClr val="111827"/>
          </a:solidFill>
          <a:ln/>
          <a:effectLst>
            <a:outerShdw blurRad="152400" dist="50800" dir="8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166360" y="2011680"/>
            <a:ext cx="1325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565392" y="2011680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Jawwad Ahmad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166360" y="2560320"/>
            <a:ext cx="1325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565392" y="2560320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F25NDOCS3W04013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166360" y="3108960"/>
            <a:ext cx="1325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565392" y="3108960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MSCS — 2nd Semester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166360" y="3657600"/>
            <a:ext cx="1325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565392" y="3657600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Ahmad Niaz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166360" y="4206240"/>
            <a:ext cx="1325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565392" y="4206240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Islamia Univ. Bahawalpur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41148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What's</a:t>
            </a:r>
            <a:endParaRPr lang="en-US" sz="4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Covered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457200" y="17830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sections  ·  13 slides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0" y="365760"/>
            <a:ext cx="1280160" cy="128016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92240" y="365760"/>
            <a:ext cx="1280160" cy="1280160"/>
          </a:xfrm>
          <a:prstGeom prst="ellipse">
            <a:avLst/>
          </a:prstGeom>
          <a:solidFill>
            <a:srgbClr val="E879F9"/>
          </a:solidFill>
          <a:ln w="12700">
            <a:solidFill>
              <a:srgbClr val="E879F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80960" y="365760"/>
            <a:ext cx="1280160" cy="1280160"/>
          </a:xfrm>
          <a:prstGeom prst="ellipse">
            <a:avLst/>
          </a:prstGeom>
          <a:solidFill>
            <a:srgbClr val="A5B4FC"/>
          </a:solidFill>
          <a:ln w="12700">
            <a:solidFill>
              <a:srgbClr val="A5B4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267712"/>
            <a:ext cx="2057400" cy="1261872"/>
          </a:xfrm>
          <a:prstGeom prst="roundRect">
            <a:avLst>
              <a:gd name="adj" fmla="val 8696"/>
            </a:avLst>
          </a:prstGeom>
          <a:solidFill>
            <a:srgbClr val="111827"/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21792" y="2414016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79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21792" y="2724912"/>
            <a:ext cx="17556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21792" y="3090672"/>
            <a:ext cx="17556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detecting AI text matters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651760" y="2267712"/>
            <a:ext cx="2057400" cy="1261872"/>
          </a:xfrm>
          <a:prstGeom prst="roundRect">
            <a:avLst>
              <a:gd name="adj" fmla="val 8696"/>
            </a:avLst>
          </a:prstGeom>
          <a:solidFill>
            <a:srgbClr val="6366F1"/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816352" y="2414016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816352" y="2724912"/>
            <a:ext cx="17556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816352" y="3090672"/>
            <a:ext cx="17556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· LIME · SHAP · XAI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846320" y="2267712"/>
            <a:ext cx="2057400" cy="1261872"/>
          </a:xfrm>
          <a:prstGeom prst="roundRect">
            <a:avLst>
              <a:gd name="adj" fmla="val 8696"/>
            </a:avLst>
          </a:prstGeom>
          <a:solidFill>
            <a:srgbClr val="F1F5F9"/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010912" y="2414016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10912" y="2724912"/>
            <a:ext cx="17556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010912" y="3090672"/>
            <a:ext cx="17556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— 12 studies selected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040880" y="2267712"/>
            <a:ext cx="2057400" cy="1261872"/>
          </a:xfrm>
          <a:prstGeom prst="roundRect">
            <a:avLst>
              <a:gd name="adj" fmla="val 8696"/>
            </a:avLst>
          </a:prstGeom>
          <a:solidFill>
            <a:srgbClr val="F1F5F9"/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205472" y="2414016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205472" y="2724912"/>
            <a:ext cx="17556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1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205472" y="3090672"/>
            <a:ext cx="17556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Stylometric &amp; Classical ML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7200" y="3685032"/>
            <a:ext cx="2057400" cy="1261872"/>
          </a:xfrm>
          <a:prstGeom prst="roundRect">
            <a:avLst>
              <a:gd name="adj" fmla="val 8696"/>
            </a:avLst>
          </a:prstGeom>
          <a:solidFill>
            <a:srgbClr val="F1F5F9"/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21792" y="3831336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366F1"/>
                </a:solidFill>
                <a:latin typeface="Calibri" pitchFamily="34" charset="0"/>
                <a:cs typeface="Calibri" pitchFamily="34" charset="-120"/>
              </a:rPr>
              <a:t>05</a:t>
            </a:r>
          </a:p>
        </p:txBody>
      </p:sp>
      <p:sp>
        <p:nvSpPr>
          <p:cNvPr id="25" name="Text 23"/>
          <p:cNvSpPr/>
          <p:nvPr/>
        </p:nvSpPr>
        <p:spPr>
          <a:xfrm>
            <a:off x="621792" y="4142232"/>
            <a:ext cx="17556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cs typeface="Calibri" pitchFamily="34" charset="-120"/>
              </a:rPr>
              <a:t>Theme 2</a:t>
            </a:r>
          </a:p>
        </p:txBody>
      </p:sp>
      <p:sp>
        <p:nvSpPr>
          <p:cNvPr id="26" name="Text 24"/>
          <p:cNvSpPr/>
          <p:nvPr/>
        </p:nvSpPr>
        <p:spPr>
          <a:xfrm>
            <a:off x="621792" y="4507992"/>
            <a:ext cx="17556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cs typeface="Calibri" pitchFamily="34" charset="-120"/>
              </a:rPr>
              <a:t>Transformers + Adversarial paradox</a:t>
            </a:r>
          </a:p>
        </p:txBody>
      </p:sp>
      <p:sp>
        <p:nvSpPr>
          <p:cNvPr id="27" name="Shape 25"/>
          <p:cNvSpPr/>
          <p:nvPr/>
        </p:nvSpPr>
        <p:spPr>
          <a:xfrm>
            <a:off x="2651760" y="3685032"/>
            <a:ext cx="2057400" cy="1261872"/>
          </a:xfrm>
          <a:prstGeom prst="roundRect">
            <a:avLst>
              <a:gd name="adj" fmla="val 8696"/>
            </a:avLst>
          </a:prstGeom>
          <a:solidFill>
            <a:srgbClr val="F1F5F9"/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2816352" y="3831336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816352" y="4142232"/>
            <a:ext cx="17556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3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2816352" y="4507992"/>
            <a:ext cx="17556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Multi-label attribution &amp; domains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846320" y="3685032"/>
            <a:ext cx="2057400" cy="1261872"/>
          </a:xfrm>
          <a:prstGeom prst="roundRect">
            <a:avLst>
              <a:gd name="adj" fmla="val 8696"/>
            </a:avLst>
          </a:prstGeom>
          <a:solidFill>
            <a:srgbClr val="6366F1"/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010912" y="3831336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010912" y="4142232"/>
            <a:ext cx="17556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010912" y="4507992"/>
            <a:ext cx="17556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separates AI from human text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7040880" y="3685032"/>
            <a:ext cx="2057400" cy="1261872"/>
          </a:xfrm>
          <a:prstGeom prst="roundRect">
            <a:avLst>
              <a:gd name="adj" fmla="val 8696"/>
            </a:avLst>
          </a:prstGeom>
          <a:solidFill>
            <a:srgbClr val="111827"/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7205472" y="3831336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205472" y="4142232"/>
            <a:ext cx="17556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 &amp; Conclusion</a:t>
            </a:r>
            <a:endParaRPr lang="en-US" sz="1400" dirty="0">
              <a:solidFill>
                <a:schemeClr val="bg2"/>
              </a:solidFill>
            </a:endParaRPr>
          </a:p>
        </p:txBody>
      </p:sp>
      <p:sp>
        <p:nvSpPr>
          <p:cNvPr id="38" name="Text 36"/>
          <p:cNvSpPr/>
          <p:nvPr/>
        </p:nvSpPr>
        <p:spPr>
          <a:xfrm>
            <a:off x="7205472" y="4507992"/>
            <a:ext cx="17556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dirty="0">
                <a:solidFill>
                  <a:srgbClr val="A5B4FC"/>
                </a:solidFill>
                <a:latin typeface="Calibri" pitchFamily="34" charset="0"/>
                <a:cs typeface="Calibri" pitchFamily="34" charset="-120"/>
              </a:rPr>
              <a:t>5 open problems + research roadmap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6217920" y="292608"/>
            <a:ext cx="2560320" cy="987552"/>
          </a:xfrm>
          <a:prstGeom prst="roundRect">
            <a:avLst>
              <a:gd name="adj" fmla="val 11111"/>
            </a:avLst>
          </a:prstGeom>
          <a:solidFill>
            <a:srgbClr val="6366F1"/>
          </a:solidFill>
          <a:ln/>
          <a:effectLst>
            <a:outerShdw blurRad="152400" dist="50800" dir="8700000" algn="bl" rotWithShape="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355080" y="329184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writes like</a:t>
            </a: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human now.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4160520" cy="1078992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58368" y="1719072"/>
            <a:ext cx="402336" cy="402336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7190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07008" y="1463040"/>
            <a:ext cx="32735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produce human-like text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207008" y="1810512"/>
            <a:ext cx="3273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 · Claude · Llama · Gemini — fluent, coherent, stylistically indistinguishable prose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828032" y="1371600"/>
            <a:ext cx="4160520" cy="1078992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29200" y="1719072"/>
            <a:ext cx="402336" cy="402336"/>
          </a:xfrm>
          <a:prstGeom prst="ellipse">
            <a:avLst/>
          </a:prstGeom>
          <a:solidFill>
            <a:srgbClr val="E879F9"/>
          </a:solidFill>
          <a:ln w="12700">
            <a:solidFill>
              <a:srgbClr val="E879F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0" y="17190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577840" y="1463040"/>
            <a:ext cx="32735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across every domain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577840" y="1810512"/>
            <a:ext cx="3273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fraud · Fake journalism · Medical misinformation · Forged legal evidence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2578608"/>
            <a:ext cx="4160520" cy="1078992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58368" y="2926080"/>
            <a:ext cx="402336" cy="402336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292608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07008" y="2670048"/>
            <a:ext cx="32735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detectors were weak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207008" y="3017520"/>
            <a:ext cx="3273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Perplexity scores &amp; stylometry — low accuracy, easily fooled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828032" y="2578608"/>
            <a:ext cx="4160520" cy="1078992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029200" y="2926080"/>
            <a:ext cx="402336" cy="402336"/>
          </a:xfrm>
          <a:prstGeom prst="ellipse">
            <a:avLst/>
          </a:prstGeom>
          <a:solidFill>
            <a:srgbClr val="E879F9"/>
          </a:solidFill>
          <a:ln w="12700">
            <a:solidFill>
              <a:srgbClr val="E879F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0" y="292608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577840" y="2670048"/>
            <a:ext cx="32735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Transformers improved accuracy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577840" y="3017520"/>
            <a:ext cx="3273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RoBERTa, DistilBERT reach ~91% — but are opaque black boxes that can't explain themselves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57200" y="3785616"/>
            <a:ext cx="4160520" cy="1078992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58368" y="4133088"/>
            <a:ext cx="402336" cy="402336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8368" y="413308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207008" y="3877056"/>
            <a:ext cx="32735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explanation = no action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1207008" y="4224528"/>
            <a:ext cx="3273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Educators, courts, journals cannot act on a verdict with no auditable reasoning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828032" y="3785616"/>
            <a:ext cx="4160520" cy="1078992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029200" y="4133088"/>
            <a:ext cx="402336" cy="40233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0" y="413308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5577840" y="3877056"/>
            <a:ext cx="32735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XAI is the solution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5577840" y="4224528"/>
            <a:ext cx="3273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LIME &amp; SHAP make detection transparent — providing auditable, human-readable evidence</a:t>
            </a:r>
            <a:endParaRPr lang="en-US" sz="11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LLMs Work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457200" y="987552"/>
            <a:ext cx="5943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predict the next word — one token at a time — based on probability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5120640" cy="1078992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13232" y="1508760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architecture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13232" y="1856232"/>
            <a:ext cx="4663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Self-attention captures context across long text — understands which words relate to each other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2606040"/>
            <a:ext cx="5120640" cy="1078992"/>
          </a:xfrm>
          <a:prstGeom prst="roundRect">
            <a:avLst>
              <a:gd name="adj" fmla="val 10169"/>
            </a:avLst>
          </a:prstGeom>
          <a:solidFill>
            <a:srgbClr val="6366F1"/>
          </a:solidFill>
          <a:ln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13232" y="2697480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Autoregressive generation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13232" y="3044952"/>
            <a:ext cx="4663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word chosen from a probability distribution — one at a time, conditioned on all previous words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3794760"/>
            <a:ext cx="5120640" cy="1078992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13232" y="3886200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setting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13232" y="4233672"/>
            <a:ext cx="4663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→ predictable, safe text   ·   High → creative, surprising output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833872" y="1303020"/>
            <a:ext cx="2834640" cy="1709928"/>
          </a:xfrm>
          <a:prstGeom prst="roundRect">
            <a:avLst>
              <a:gd name="adj" fmla="val 6977"/>
            </a:avLst>
          </a:prstGeom>
          <a:solidFill>
            <a:srgbClr val="111827"/>
          </a:solidFill>
          <a:ln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6080760" y="1572768"/>
            <a:ext cx="274320" cy="274320"/>
          </a:xfrm>
          <a:prstGeom prst="ellipse">
            <a:avLst/>
          </a:prstGeom>
          <a:solidFill>
            <a:srgbClr val="E879F9"/>
          </a:solidFill>
          <a:ln w="12700">
            <a:solidFill>
              <a:srgbClr val="E879F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10528" y="1508760"/>
            <a:ext cx="2057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Writing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080760" y="1828800"/>
            <a:ext cx="24871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irregularities · idiosyncratic vocabulary · rhythm variation · personal stylistic fingerprints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080760" y="2514600"/>
            <a:ext cx="841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79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Detectable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967728" y="2514600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pattern: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570470" y="2514600"/>
            <a:ext cx="886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irregularity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852160" y="3163824"/>
            <a:ext cx="2834640" cy="1709928"/>
          </a:xfrm>
          <a:prstGeom prst="roundRect">
            <a:avLst>
              <a:gd name="adj" fmla="val 6977"/>
            </a:avLst>
          </a:prstGeom>
          <a:solidFill>
            <a:srgbClr val="F1F5F9"/>
          </a:solidFill>
          <a:ln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080760" y="3319272"/>
            <a:ext cx="274320" cy="27432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10528" y="3255264"/>
            <a:ext cx="2057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Writing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080760" y="3575304"/>
            <a:ext cx="24871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Grammatically perfect · high lexical predictability · overly smooth — this regularity is itself detectable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080760" y="4261104"/>
            <a:ext cx="841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Detectable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967728" y="4261104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pattern: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570470" y="4261104"/>
            <a:ext cx="841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perfection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XAI METHODS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35734" y="576072"/>
            <a:ext cx="2820572" cy="941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6366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LIME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5391091" y="576072"/>
            <a:ext cx="2961249" cy="941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E879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SHAP</a:t>
            </a:r>
            <a:endParaRPr lang="en-US" sz="6000" dirty="0"/>
          </a:p>
        </p:txBody>
      </p:sp>
      <p:sp>
        <p:nvSpPr>
          <p:cNvPr id="5" name="Shape 3"/>
          <p:cNvSpPr/>
          <p:nvPr/>
        </p:nvSpPr>
        <p:spPr>
          <a:xfrm>
            <a:off x="4425696" y="1033272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26464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explain WHY an AI model flagged a text — which words or features caused the decision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792224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Interpretable Model-Agnostic Explanations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214255"/>
            <a:ext cx="3977640" cy="530352"/>
          </a:xfrm>
          <a:prstGeom prst="roundRect">
            <a:avLst>
              <a:gd name="adj" fmla="val 20690"/>
            </a:avLst>
          </a:prstGeom>
          <a:solidFill>
            <a:srgbClr val="111827"/>
          </a:solidFill>
          <a:ln/>
          <a:effectLst>
            <a:outerShdw blurRad="152400" dist="50800" dir="87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1792" y="2369703"/>
            <a:ext cx="201168" cy="201168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50976" y="2214255"/>
            <a:ext cx="3383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Masks words one-by-one to see how prediction changes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2836047"/>
            <a:ext cx="3977640" cy="530352"/>
          </a:xfrm>
          <a:prstGeom prst="roundRect">
            <a:avLst>
              <a:gd name="adj" fmla="val 20690"/>
            </a:avLst>
          </a:prstGeom>
          <a:solidFill>
            <a:srgbClr val="111827"/>
          </a:solidFill>
          <a:ln/>
          <a:effectLst>
            <a:outerShdw blurRad="152400" dist="50800" dir="8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1792" y="2991495"/>
            <a:ext cx="201168" cy="201168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50976" y="2836047"/>
            <a:ext cx="3383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Reports: these tokens pushed the "AI-generated" verdict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" y="3457839"/>
            <a:ext cx="3977640" cy="530352"/>
          </a:xfrm>
          <a:prstGeom prst="roundRect">
            <a:avLst>
              <a:gd name="adj" fmla="val 20690"/>
            </a:avLst>
          </a:prstGeom>
          <a:solidFill>
            <a:srgbClr val="111827"/>
          </a:solidFill>
          <a:ln/>
          <a:effectLst>
            <a:outerShdw blurRad="152400" dist="50800" dir="8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" y="3613287"/>
            <a:ext cx="201168" cy="201168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0976" y="3457839"/>
            <a:ext cx="3383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— good fit for transformer pipelines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51925" y="4055012"/>
            <a:ext cx="3977640" cy="530352"/>
          </a:xfrm>
          <a:prstGeom prst="roundRect">
            <a:avLst>
              <a:gd name="adj" fmla="val 20690"/>
            </a:avLst>
          </a:prstGeom>
          <a:solidFill>
            <a:srgbClr val="111827"/>
          </a:solidFill>
          <a:ln/>
          <a:effectLst>
            <a:outerShdw blurRad="152400" dist="50800" dir="8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6012" y="4187952"/>
            <a:ext cx="201168" cy="201168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50976" y="4055012"/>
            <a:ext cx="3383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Slightly unstable due to random perturbation sampling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668366" y="1792224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AB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SHapley Additive exPlanations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63440" y="2196318"/>
            <a:ext cx="4023360" cy="530352"/>
          </a:xfrm>
          <a:prstGeom prst="roundRect">
            <a:avLst>
              <a:gd name="adj" fmla="val 20690"/>
            </a:avLst>
          </a:prstGeom>
          <a:solidFill>
            <a:srgbClr val="111827"/>
          </a:solidFill>
          <a:ln/>
          <a:effectLst>
            <a:outerShdw blurRad="152400" dist="50800" dir="8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28032" y="2351766"/>
            <a:ext cx="201168" cy="201168"/>
          </a:xfrm>
          <a:prstGeom prst="ellipse">
            <a:avLst/>
          </a:prstGeom>
          <a:solidFill>
            <a:srgbClr val="E879F9"/>
          </a:solidFill>
          <a:ln w="12700">
            <a:solidFill>
              <a:srgbClr val="E879F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57216" y="2196318"/>
            <a:ext cx="3429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cooperative game theory — each word = a player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663440" y="2818110"/>
            <a:ext cx="4023360" cy="530352"/>
          </a:xfrm>
          <a:prstGeom prst="roundRect">
            <a:avLst>
              <a:gd name="adj" fmla="val 20690"/>
            </a:avLst>
          </a:prstGeom>
          <a:solidFill>
            <a:srgbClr val="111827"/>
          </a:solidFill>
          <a:ln/>
          <a:effectLst>
            <a:outerShdw blurRad="152400" dist="50800" dir="8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28032" y="2973558"/>
            <a:ext cx="201168" cy="201168"/>
          </a:xfrm>
          <a:prstGeom prst="ellipse">
            <a:avLst/>
          </a:prstGeom>
          <a:solidFill>
            <a:srgbClr val="E879F9"/>
          </a:solidFill>
          <a:ln w="12700">
            <a:solidFill>
              <a:srgbClr val="E879F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57216" y="2818110"/>
            <a:ext cx="3429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Calculates the exact, fair contribution of every token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4663440" y="3439902"/>
            <a:ext cx="4023360" cy="530352"/>
          </a:xfrm>
          <a:prstGeom prst="roundRect">
            <a:avLst>
              <a:gd name="adj" fmla="val 20690"/>
            </a:avLst>
          </a:prstGeom>
          <a:solidFill>
            <a:srgbClr val="111827"/>
          </a:solidFill>
          <a:ln/>
          <a:effectLst>
            <a:outerShdw blurRad="152400" dist="50800" dir="8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828032" y="3595350"/>
            <a:ext cx="201168" cy="201168"/>
          </a:xfrm>
          <a:prstGeom prst="ellipse">
            <a:avLst/>
          </a:prstGeom>
          <a:solidFill>
            <a:srgbClr val="E879F9"/>
          </a:solidFill>
          <a:ln w="12700">
            <a:solidFill>
              <a:srgbClr val="E879F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57216" y="3439902"/>
            <a:ext cx="3429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and fully reproducible across all runs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4663440" y="4061694"/>
            <a:ext cx="4023360" cy="530352"/>
          </a:xfrm>
          <a:prstGeom prst="roundRect">
            <a:avLst>
              <a:gd name="adj" fmla="val 20690"/>
            </a:avLst>
          </a:prstGeom>
          <a:solidFill>
            <a:srgbClr val="111827"/>
          </a:solidFill>
          <a:ln/>
          <a:effectLst>
            <a:outerShdw blurRad="152400" dist="50800" dir="8700000" algn="bl" rotWithShape="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28032" y="4217142"/>
            <a:ext cx="201168" cy="201168"/>
          </a:xfrm>
          <a:prstGeom prst="ellipse">
            <a:avLst/>
          </a:prstGeom>
          <a:solidFill>
            <a:srgbClr val="E879F9"/>
          </a:solidFill>
          <a:ln w="12700">
            <a:solidFill>
              <a:srgbClr val="E879F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57216" y="4061694"/>
            <a:ext cx="3429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compute-intensive — preferred for rigorous ranking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570697" y="4718304"/>
            <a:ext cx="1870048" cy="292608"/>
          </a:xfrm>
          <a:prstGeom prst="roundRect">
            <a:avLst>
              <a:gd name="adj" fmla="val 31250"/>
            </a:avLst>
          </a:prstGeom>
          <a:solidFill>
            <a:srgbClr val="111827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856497" y="4718304"/>
            <a:ext cx="12984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Post-hoc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495002" y="4733075"/>
            <a:ext cx="1963102" cy="292608"/>
          </a:xfrm>
          <a:prstGeom prst="roundRect">
            <a:avLst>
              <a:gd name="adj" fmla="val 31250"/>
            </a:avLst>
          </a:prstGeom>
          <a:solidFill>
            <a:srgbClr val="111827"/>
          </a:solidFill>
          <a:ln/>
        </p:spPr>
      </p:sp>
      <p:sp>
        <p:nvSpPr>
          <p:cNvPr id="36" name="Text 34"/>
          <p:cNvSpPr/>
          <p:nvPr/>
        </p:nvSpPr>
        <p:spPr>
          <a:xfrm>
            <a:off x="3669595" y="4730519"/>
            <a:ext cx="16139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scope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489510" y="4736592"/>
            <a:ext cx="1963102" cy="292608"/>
          </a:xfrm>
          <a:prstGeom prst="roundRect">
            <a:avLst>
              <a:gd name="adj" fmla="val 31250"/>
            </a:avLst>
          </a:prstGeom>
          <a:solidFill>
            <a:srgbClr val="111827"/>
          </a:solidFill>
          <a:ln/>
        </p:spPr>
      </p:sp>
      <p:sp>
        <p:nvSpPr>
          <p:cNvPr id="38" name="Text 36"/>
          <p:cNvSpPr/>
          <p:nvPr/>
        </p:nvSpPr>
        <p:spPr>
          <a:xfrm>
            <a:off x="6856635" y="4736592"/>
            <a:ext cx="12288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Model-agnostic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5486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Methodology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5669280" y="256032"/>
            <a:ext cx="32004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4200" b="1" dirty="0">
                <a:solidFill>
                  <a:srgbClr val="E2E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250→12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framework  ·  Systematic Literature Review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804672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417320"/>
            <a:ext cx="10515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250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1783080" y="1673352"/>
            <a:ext cx="960120" cy="274320"/>
          </a:xfrm>
          <a:prstGeom prst="roundRect">
            <a:avLst>
              <a:gd name="adj" fmla="val 33333"/>
            </a:avLst>
          </a:prstGeom>
          <a:solidFill>
            <a:srgbClr val="0F172A"/>
          </a:solidFill>
          <a:ln/>
        </p:spPr>
      </p:sp>
      <p:sp>
        <p:nvSpPr>
          <p:cNvPr id="8" name="Text 6"/>
          <p:cNvSpPr/>
          <p:nvPr/>
        </p:nvSpPr>
        <p:spPr>
          <a:xfrm>
            <a:off x="1783080" y="16733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880360" y="1417320"/>
            <a:ext cx="56692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Searched 4 databases: Google Scholar (120) · ArXiv (72) · IEEE Xplore (38) · SciSpace (20)  →  68 duplicates removed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96112" y="2221992"/>
            <a:ext cx="36576" cy="10058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1" name="Shape 9"/>
          <p:cNvSpPr/>
          <p:nvPr/>
        </p:nvSpPr>
        <p:spPr>
          <a:xfrm>
            <a:off x="832104" y="2304288"/>
            <a:ext cx="146304" cy="146304"/>
          </a:xfrm>
          <a:prstGeom prst="ellipse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322576"/>
            <a:ext cx="8229600" cy="804672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94360" y="2322576"/>
            <a:ext cx="10515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200" b="1" dirty="0">
                <a:solidFill>
                  <a:srgbClr val="6366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182</a:t>
            </a:r>
            <a:endParaRPr lang="en-US" sz="3200" dirty="0"/>
          </a:p>
        </p:txBody>
      </p:sp>
      <p:sp>
        <p:nvSpPr>
          <p:cNvPr id="14" name="Shape 12"/>
          <p:cNvSpPr/>
          <p:nvPr/>
        </p:nvSpPr>
        <p:spPr>
          <a:xfrm>
            <a:off x="1783080" y="2578608"/>
            <a:ext cx="960120" cy="274320"/>
          </a:xfrm>
          <a:prstGeom prst="roundRect">
            <a:avLst>
              <a:gd name="adj" fmla="val 33333"/>
            </a:avLst>
          </a:prstGeom>
          <a:solidFill>
            <a:srgbClr val="6366F1"/>
          </a:solidFill>
          <a:ln/>
        </p:spPr>
      </p:sp>
      <p:sp>
        <p:nvSpPr>
          <p:cNvPr id="15" name="Text 13"/>
          <p:cNvSpPr/>
          <p:nvPr/>
        </p:nvSpPr>
        <p:spPr>
          <a:xfrm>
            <a:off x="1783080" y="2578608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880360" y="2322576"/>
            <a:ext cx="56692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&amp; abstract screening  →  126 excluded: not AGTD · no XAI component · published before 2023 · out of scope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96112" y="3127248"/>
            <a:ext cx="36576" cy="10058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8" name="Shape 16"/>
          <p:cNvSpPr/>
          <p:nvPr/>
        </p:nvSpPr>
        <p:spPr>
          <a:xfrm>
            <a:off x="832104" y="3209544"/>
            <a:ext cx="146304" cy="146304"/>
          </a:xfrm>
          <a:prstGeom prst="ellipse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227832"/>
            <a:ext cx="8229600" cy="804672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94360" y="3227832"/>
            <a:ext cx="10515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600" b="1" dirty="0">
                <a:solidFill>
                  <a:srgbClr val="E879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56</a:t>
            </a:r>
            <a:endParaRPr lang="en-US" sz="3600" dirty="0"/>
          </a:p>
        </p:txBody>
      </p:sp>
      <p:sp>
        <p:nvSpPr>
          <p:cNvPr id="21" name="Shape 19"/>
          <p:cNvSpPr/>
          <p:nvPr/>
        </p:nvSpPr>
        <p:spPr>
          <a:xfrm>
            <a:off x="1783080" y="3483864"/>
            <a:ext cx="960120" cy="274320"/>
          </a:xfrm>
          <a:prstGeom prst="roundRect">
            <a:avLst>
              <a:gd name="adj" fmla="val 33333"/>
            </a:avLst>
          </a:prstGeom>
          <a:solidFill>
            <a:srgbClr val="E879F9"/>
          </a:solidFill>
          <a:ln/>
        </p:spPr>
      </p:sp>
      <p:sp>
        <p:nvSpPr>
          <p:cNvPr id="22" name="Text 20"/>
          <p:cNvSpPr/>
          <p:nvPr/>
        </p:nvSpPr>
        <p:spPr>
          <a:xfrm>
            <a:off x="1783080" y="3483864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ELIGIBLE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880360" y="3227832"/>
            <a:ext cx="56692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Full-text review  →  44 excluded: no formal XAI (18) · dataset &lt; 500 samples (12) · non-English (8) · no metrics (6)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96112" y="4032504"/>
            <a:ext cx="36576" cy="10058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5" name="Shape 23"/>
          <p:cNvSpPr/>
          <p:nvPr/>
        </p:nvSpPr>
        <p:spPr>
          <a:xfrm>
            <a:off x="832104" y="4114800"/>
            <a:ext cx="146304" cy="146304"/>
          </a:xfrm>
          <a:prstGeom prst="ellipse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4133088"/>
            <a:ext cx="8229600" cy="804672"/>
          </a:xfrm>
          <a:prstGeom prst="roundRect">
            <a:avLst>
              <a:gd name="adj" fmla="val 13636"/>
            </a:avLst>
          </a:prstGeom>
          <a:solidFill>
            <a:srgbClr val="6366F1"/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94360" y="4133088"/>
            <a:ext cx="10515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4000" dirty="0"/>
          </a:p>
        </p:txBody>
      </p:sp>
      <p:sp>
        <p:nvSpPr>
          <p:cNvPr id="28" name="Shape 26"/>
          <p:cNvSpPr/>
          <p:nvPr/>
        </p:nvSpPr>
        <p:spPr>
          <a:xfrm>
            <a:off x="1783080" y="4389120"/>
            <a:ext cx="960120" cy="274320"/>
          </a:xfrm>
          <a:prstGeom prst="roundRect">
            <a:avLst>
              <a:gd name="adj" fmla="val 33333"/>
            </a:avLst>
          </a:prstGeom>
          <a:solidFill>
            <a:srgbClr val="E879F9"/>
          </a:solidFill>
          <a:ln/>
        </p:spPr>
      </p:sp>
      <p:sp>
        <p:nvSpPr>
          <p:cNvPr id="29" name="Text 27"/>
          <p:cNvSpPr/>
          <p:nvPr/>
        </p:nvSpPr>
        <p:spPr>
          <a:xfrm>
            <a:off x="1783080" y="438912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2880360" y="4133088"/>
            <a:ext cx="56692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synthesis  ·  All use LIME or SHAP  ·  Published 2023 – 2026  ·  Multi-domain coverage</a:t>
            </a:r>
            <a:endParaRPr lang="en-US" sz="12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Theme 1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3858768" y="438912"/>
            <a:ext cx="2377440" cy="310896"/>
          </a:xfrm>
          <a:prstGeom prst="roundRect">
            <a:avLst>
              <a:gd name="adj" fmla="val 29412"/>
            </a:avLst>
          </a:prstGeom>
          <a:solidFill>
            <a:srgbClr val="111827"/>
          </a:solidFill>
          <a:ln/>
        </p:spPr>
      </p:sp>
      <p:sp>
        <p:nvSpPr>
          <p:cNvPr id="4" name="Text 2"/>
          <p:cNvSpPr/>
          <p:nvPr/>
        </p:nvSpPr>
        <p:spPr>
          <a:xfrm>
            <a:off x="3858768" y="438912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Stylometric &amp; Classical ML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57200" y="9326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studies · SVM · Logistic Regression · Random Forest · LIME · SHAP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298448"/>
            <a:ext cx="2706624" cy="3584448"/>
          </a:xfrm>
          <a:prstGeom prst="roundRect">
            <a:avLst>
              <a:gd name="adj" fmla="val 4054"/>
            </a:avLst>
          </a:prstGeom>
          <a:solidFill>
            <a:srgbClr val="6366F1"/>
          </a:solidFill>
          <a:ln/>
          <a:effectLst>
            <a:outerShdw blurRad="152400" dist="50800" dir="87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8368" y="1417320"/>
            <a:ext cx="230428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Shah et al.</a:t>
            </a:r>
            <a:endParaRPr lang="en-US" sz="17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2023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58368" y="2176272"/>
            <a:ext cx="1097280" cy="274320"/>
          </a:xfrm>
          <a:prstGeom prst="roundRect">
            <a:avLst>
              <a:gd name="adj" fmla="val 33333"/>
            </a:avLst>
          </a:prstGeom>
          <a:solidFill>
            <a:srgbClr val="2D2D2D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217627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LIME + SHAP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58368" y="2542032"/>
            <a:ext cx="2304288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Simpson's Index and punctuation regularity are the top AI markers. LIME and SHAP agreed using completely different mechanisms — convergent validity.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58368" y="4187952"/>
            <a:ext cx="2304288" cy="475488"/>
          </a:xfrm>
          <a:prstGeom prst="roundRect">
            <a:avLst>
              <a:gd name="adj" fmla="val 15385"/>
            </a:avLst>
          </a:prstGeom>
          <a:solidFill>
            <a:srgbClr val="00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713232" y="4187952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English general domain only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310128" y="1298448"/>
            <a:ext cx="2706624" cy="3584448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511296" y="1417320"/>
            <a:ext cx="230428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McGovern</a:t>
            </a:r>
            <a:endParaRPr lang="en-US" sz="17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et al. 2024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3511296" y="2176272"/>
            <a:ext cx="1097280" cy="274320"/>
          </a:xfrm>
          <a:prstGeom prst="roundRect">
            <a:avLst>
              <a:gd name="adj" fmla="val 33333"/>
            </a:avLst>
          </a:prstGeom>
          <a:solidFill>
            <a:srgbClr val="F1F5F9"/>
          </a:solidFill>
          <a:ln/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511296" y="217627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Attn. visual.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511296" y="2542032"/>
            <a:ext cx="2304288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LLM has a stylistic fingerprint — consistent POS distributions and high-frequency token profiles that distinguish both from humans and from each other.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511296" y="4187952"/>
            <a:ext cx="2304288" cy="475488"/>
          </a:xfrm>
          <a:prstGeom prst="roundRect">
            <a:avLst>
              <a:gd name="adj" fmla="val 15385"/>
            </a:avLst>
          </a:prstGeom>
          <a:solidFill>
            <a:srgbClr val="000000"/>
          </a:solidFill>
          <a:ln/>
        </p:spPr>
      </p:sp>
      <p:sp>
        <p:nvSpPr>
          <p:cNvPr id="19" name="Text 17"/>
          <p:cNvSpPr/>
          <p:nvPr/>
        </p:nvSpPr>
        <p:spPr>
          <a:xfrm>
            <a:off x="3566160" y="4187952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No formal LIME or SHAP applied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163056" y="1298448"/>
            <a:ext cx="2706624" cy="3584448"/>
          </a:xfrm>
          <a:prstGeom prst="roundRect">
            <a:avLst>
              <a:gd name="adj" fmla="val 4054"/>
            </a:avLst>
          </a:prstGeom>
          <a:solidFill>
            <a:srgbClr val="111827"/>
          </a:solidFill>
          <a:ln/>
          <a:effectLst>
            <a:outerShdw blurRad="152400" dist="50800" dir="8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364224" y="1417320"/>
            <a:ext cx="230428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Przystalski</a:t>
            </a:r>
            <a:endParaRPr lang="en-US" sz="17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et al. 2025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6364224" y="2176272"/>
            <a:ext cx="1097280" cy="274320"/>
          </a:xfrm>
          <a:prstGeom prst="roundRect">
            <a:avLst>
              <a:gd name="adj" fmla="val 33333"/>
            </a:avLst>
          </a:prstGeom>
          <a:solidFill>
            <a:srgbClr val="2D2D2D"/>
          </a:solidFill>
          <a:ln/>
        </p:spPr>
      </p:sp>
      <p:sp>
        <p:nvSpPr>
          <p:cNvPr id="23" name="Text 21"/>
          <p:cNvSpPr/>
          <p:nvPr/>
        </p:nvSpPr>
        <p:spPr>
          <a:xfrm>
            <a:off x="6364224" y="217627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global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364224" y="2542032"/>
            <a:ext cx="2304288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short texts (&lt;200 words): grammatical standardization carries 2× the weight of any other feature. LLMs are too grammatically perfect — the perfection is the tell.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364224" y="4187952"/>
            <a:ext cx="2304288" cy="475488"/>
          </a:xfrm>
          <a:prstGeom prst="roundRect">
            <a:avLst>
              <a:gd name="adj" fmla="val 15385"/>
            </a:avLst>
          </a:prstGeom>
          <a:solidFill>
            <a:srgbClr val="000000"/>
          </a:solidFill>
          <a:ln/>
        </p:spPr>
      </p:sp>
      <p:sp>
        <p:nvSpPr>
          <p:cNvPr id="26" name="Text 24"/>
          <p:cNvSpPr/>
          <p:nvPr/>
        </p:nvSpPr>
        <p:spPr>
          <a:xfrm>
            <a:off x="6419088" y="4187952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May not generalize to formal professional writing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57200" y="4937760"/>
            <a:ext cx="8229600" cy="164592"/>
          </a:xfrm>
          <a:prstGeom prst="roundRect">
            <a:avLst>
              <a:gd name="adj" fmla="val 27778"/>
            </a:avLst>
          </a:prstGeom>
          <a:solidFill>
            <a:srgbClr val="6366F1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491947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finding: LLM text is more grammatically regular and lexically predictable than human text — confirmed across all 3 studies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Theme 2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4754880" y="438912"/>
            <a:ext cx="2331720" cy="310896"/>
          </a:xfrm>
          <a:prstGeom prst="roundRect">
            <a:avLst>
              <a:gd name="adj" fmla="val 29412"/>
            </a:avLst>
          </a:pr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4754880" y="438912"/>
            <a:ext cx="2331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Deep Learning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57200" y="9326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studies · DistilBERT · BERT · RoBERTa · GPT-2 fine-tuned for detection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298448"/>
            <a:ext cx="2706624" cy="2514600"/>
          </a:xfrm>
          <a:prstGeom prst="roundRect">
            <a:avLst>
              <a:gd name="adj" fmla="val 4364"/>
            </a:avLst>
          </a:prstGeom>
          <a:solidFill>
            <a:srgbClr val="111827"/>
          </a:solidFill>
          <a:ln/>
          <a:effectLst>
            <a:outerShdw blurRad="152400" dist="50800" dir="87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8368" y="1389888"/>
            <a:ext cx="157276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Mitrovic</a:t>
            </a:r>
            <a:endParaRPr lang="en-US" sz="15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et al. 2023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212848" y="1408176"/>
            <a:ext cx="777240" cy="548640"/>
          </a:xfrm>
          <a:prstGeom prst="roundRect">
            <a:avLst>
              <a:gd name="adj" fmla="val 13333"/>
            </a:avLst>
          </a:prstGeom>
          <a:solidFill>
            <a:srgbClr val="1C1C3A"/>
          </a:solidFill>
          <a:ln/>
        </p:spPr>
      </p:sp>
      <p:sp>
        <p:nvSpPr>
          <p:cNvPr id="9" name="Text 7"/>
          <p:cNvSpPr/>
          <p:nvPr/>
        </p:nvSpPr>
        <p:spPr>
          <a:xfrm>
            <a:off x="2212848" y="1408176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366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84%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212848" y="1764792"/>
            <a:ext cx="777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58368" y="2212848"/>
            <a:ext cx="1417320" cy="256032"/>
          </a:xfrm>
          <a:prstGeom prst="roundRect">
            <a:avLst>
              <a:gd name="adj" fmla="val 35714"/>
            </a:avLst>
          </a:prstGeom>
          <a:solidFill>
            <a:srgbClr val="1E1E2E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" y="2212848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DistilBERT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58368" y="2578608"/>
            <a:ext cx="2304288" cy="11338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reviews overuse superlatives like "exceptional" and "outstanding". Human reviews are hedged and personal.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310128" y="1298448"/>
            <a:ext cx="2706624" cy="2514600"/>
          </a:xfrm>
          <a:prstGeom prst="roundRect">
            <a:avLst>
              <a:gd name="adj" fmla="val 4364"/>
            </a:avLst>
          </a:prstGeom>
          <a:solidFill>
            <a:srgbClr val="111827"/>
          </a:solidFill>
          <a:ln/>
          <a:effectLst>
            <a:outerShdw blurRad="152400" dist="50800" dir="8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511296" y="1389888"/>
            <a:ext cx="157276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Joshi et al.</a:t>
            </a:r>
            <a:endParaRPr lang="en-US" sz="15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HULLMI 2024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065776" y="1408176"/>
            <a:ext cx="777240" cy="548640"/>
          </a:xfrm>
          <a:prstGeom prst="roundRect">
            <a:avLst>
              <a:gd name="adj" fmla="val 13333"/>
            </a:avLst>
          </a:prstGeom>
          <a:solidFill>
            <a:srgbClr val="1C1C3A"/>
          </a:solidFill>
          <a:ln/>
        </p:spPr>
      </p:sp>
      <p:sp>
        <p:nvSpPr>
          <p:cNvPr id="17" name="Text 15"/>
          <p:cNvSpPr/>
          <p:nvPr/>
        </p:nvSpPr>
        <p:spPr>
          <a:xfrm>
            <a:off x="5065776" y="1408176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366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91%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065776" y="1764792"/>
            <a:ext cx="777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511296" y="2212848"/>
            <a:ext cx="1417320" cy="256032"/>
          </a:xfrm>
          <a:prstGeom prst="roundRect">
            <a:avLst>
              <a:gd name="adj" fmla="val 35714"/>
            </a:avLst>
          </a:prstGeom>
          <a:solidFill>
            <a:srgbClr val="1E1E2E"/>
          </a:solidFill>
          <a:ln/>
        </p:spPr>
      </p:sp>
      <p:sp>
        <p:nvSpPr>
          <p:cNvPr id="20" name="Text 18"/>
          <p:cNvSpPr/>
          <p:nvPr/>
        </p:nvSpPr>
        <p:spPr>
          <a:xfrm>
            <a:off x="3511296" y="2212848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RoBERTa-Sentinel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511296" y="2578608"/>
            <a:ext cx="2304288" cy="11338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LIME does NOT reduce accuracy. Explainability complements performance — it is not a trade-off.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163056" y="1298448"/>
            <a:ext cx="2706624" cy="2514600"/>
          </a:xfrm>
          <a:prstGeom prst="roundRect">
            <a:avLst>
              <a:gd name="adj" fmla="val 4364"/>
            </a:avLst>
          </a:prstGeom>
          <a:solidFill>
            <a:srgbClr val="111827"/>
          </a:solidFill>
          <a:ln/>
          <a:effectLst>
            <a:outerShdw blurRad="152400" dist="50800" dir="8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364224" y="1389888"/>
            <a:ext cx="157276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Masih</a:t>
            </a:r>
            <a:endParaRPr lang="en-US" sz="15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et al. 2025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7918704" y="1408176"/>
            <a:ext cx="777240" cy="548640"/>
          </a:xfrm>
          <a:prstGeom prst="roundRect">
            <a:avLst>
              <a:gd name="adj" fmla="val 13333"/>
            </a:avLst>
          </a:prstGeom>
          <a:solidFill>
            <a:srgbClr val="1C1C3A"/>
          </a:solidFill>
          <a:ln/>
        </p:spPr>
      </p:sp>
      <p:sp>
        <p:nvSpPr>
          <p:cNvPr id="25" name="Text 23"/>
          <p:cNvSpPr/>
          <p:nvPr/>
        </p:nvSpPr>
        <p:spPr>
          <a:xfrm>
            <a:off x="7918704" y="1408176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366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89%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7918704" y="1764792"/>
            <a:ext cx="777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364224" y="2212848"/>
            <a:ext cx="1417320" cy="256032"/>
          </a:xfrm>
          <a:prstGeom prst="roundRect">
            <a:avLst>
              <a:gd name="adj" fmla="val 35714"/>
            </a:avLst>
          </a:prstGeom>
          <a:solidFill>
            <a:srgbClr val="1E1E2E"/>
          </a:solidFill>
          <a:ln/>
        </p:spPr>
      </p:sp>
      <p:sp>
        <p:nvSpPr>
          <p:cNvPr id="28" name="Text 26"/>
          <p:cNvSpPr/>
          <p:nvPr/>
        </p:nvSpPr>
        <p:spPr>
          <a:xfrm>
            <a:off x="6364224" y="2212848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· RoBERTa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364224" y="2578608"/>
            <a:ext cx="2304288" cy="11338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is more stable than LIME. Both reveal when a model is correct for the wrong reasons — critical for auditing.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57200" y="3913632"/>
            <a:ext cx="8412480" cy="1115568"/>
          </a:xfrm>
          <a:prstGeom prst="roundRect">
            <a:avLst>
              <a:gd name="adj" fmla="val 9836"/>
            </a:avLst>
          </a:prstGeom>
          <a:solidFill>
            <a:srgbClr val="1A0A10"/>
          </a:solidFill>
          <a:ln/>
          <a:effectLst>
            <a:glow rad="63500">
              <a:schemeClr val="accent3">
                <a:satMod val="175000"/>
                <a:alpha val="40000"/>
              </a:schemeClr>
            </a:glow>
            <a:outerShdw blurRad="152400" dist="50800" dir="8700000" algn="bl" rotWithShape="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85800" y="4133088"/>
            <a:ext cx="402336" cy="402336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234440" y="3968496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Paradox  —  Mohammadi et al. 2025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1234440" y="4315968"/>
            <a:ext cx="7223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XAI explanations reveal which tokens to replace with synonyms → accuracy drops 20–35 pp with no change in meaning. Any system transparent enough to explain its decisions provides a roadmap for evasion. No solution exists. Most urgent open problem in the field.</a:t>
            </a:r>
            <a:endParaRPr lang="en-US" sz="1200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Theme 3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4754880" y="438912"/>
            <a:ext cx="2743200" cy="310896"/>
          </a:xfrm>
          <a:prstGeom prst="roundRect">
            <a:avLst>
              <a:gd name="adj" fmla="val 29412"/>
            </a:avLst>
          </a:prstGeom>
          <a:solidFill>
            <a:srgbClr val="111827"/>
          </a:solidFill>
          <a:ln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754880" y="438912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Multi-Label Attribution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57200" y="9326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studies — not just "is it AI?" but which AI? Does it work across domains?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46520" y="1298448"/>
            <a:ext cx="2286000" cy="1874520"/>
          </a:xfrm>
          <a:prstGeom prst="roundRect">
            <a:avLst>
              <a:gd name="adj" fmla="val 5854"/>
            </a:avLst>
          </a:prstGeom>
          <a:solidFill>
            <a:srgbClr val="6366F1"/>
          </a:solidFill>
          <a:ln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601968" y="1389888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601968" y="1719072"/>
            <a:ext cx="19659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outputs are the hardest to detect — most similar to human writing stylometrically.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298448"/>
            <a:ext cx="585216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/>
          <a:effectLst>
            <a:outerShdw blurRad="152400" dist="50800" dir="8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1499616"/>
            <a:ext cx="237744" cy="237744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4128" y="1298448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Adilazuarda et al. 2023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01568" y="1298448"/>
            <a:ext cx="27614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paradigm dominates. Transformers lead on single-domain; stylometry generalizes more stably cross-domain.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029968"/>
            <a:ext cx="5852160" cy="640080"/>
          </a:xfrm>
          <a:prstGeom prst="roundRect">
            <a:avLst>
              <a:gd name="adj" fmla="val 17143"/>
            </a:avLst>
          </a:prstGeom>
          <a:solidFill>
            <a:srgbClr val="F1F5F9"/>
          </a:solidFill>
          <a:ln/>
          <a:effectLst>
            <a:outerShdw blurRad="152400" dist="50800" dir="8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2231136"/>
            <a:ext cx="237744" cy="237744"/>
          </a:xfrm>
          <a:prstGeom prst="ellipse">
            <a:avLst/>
          </a:prstGeom>
          <a:solidFill>
            <a:srgbClr val="E879F9"/>
          </a:solidFill>
          <a:ln w="12700">
            <a:solidFill>
              <a:srgbClr val="E879F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24128" y="2029968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Najjar et al. 2025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01568" y="2029968"/>
            <a:ext cx="27614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XAI profiles fingerprint each LLM separately — GPT-4, Llama, Gemini and Claude each produce distinct feature signatures.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761488"/>
            <a:ext cx="585216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/>
          <a:effectLst>
            <a:outerShdw blurRad="152400" dist="50800" dir="8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2962656"/>
            <a:ext cx="237744" cy="237744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24128" y="2761488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Zahraa et al. 2025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401568" y="2761488"/>
            <a:ext cx="27614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Multi-label SHAP: distinguishes GPT-4 vs Llama via syntactic complexity and hedging frequency differences.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57200" y="3493008"/>
            <a:ext cx="5852160" cy="640080"/>
          </a:xfrm>
          <a:prstGeom prst="roundRect">
            <a:avLst>
              <a:gd name="adj" fmla="val 17143"/>
            </a:avLst>
          </a:prstGeom>
          <a:solidFill>
            <a:srgbClr val="F1F5F9"/>
          </a:solidFill>
          <a:ln/>
          <a:effectLst>
            <a:outerShdw blurRad="152400" dist="50800" dir="8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0080" y="3694176"/>
            <a:ext cx="237744" cy="237744"/>
          </a:xfrm>
          <a:prstGeom prst="ellipse">
            <a:avLst/>
          </a:prstGeom>
          <a:solidFill>
            <a:srgbClr val="E879F9"/>
          </a:solidFill>
          <a:ln w="12700">
            <a:solidFill>
              <a:srgbClr val="E879F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24128" y="3493008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Baharifar et al. 2025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401568" y="3493008"/>
            <a:ext cx="27614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domain: AI misinformation flagged by overconfident assertions and absent hedging ("may", "suggests").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57200" y="4224528"/>
            <a:ext cx="585216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/>
          <a:effectLst>
            <a:outerShdw blurRad="152400" dist="50800" dir="8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40080" y="4425696"/>
            <a:ext cx="237744" cy="23774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24128" y="4224528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Iqbal &amp; Kashem 2025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401568" y="4224528"/>
            <a:ext cx="27614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ensemble — no transformers needed, suitable for resource-limited institutional deployment.</a:t>
            </a:r>
            <a:endParaRPr lang="en-US" sz="11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6400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Findings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457200" y="95097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features that make LLM text detectable — agreed by LIME &amp; SHAP across all 12 studies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8229600" cy="475488"/>
          </a:xfrm>
          <a:prstGeom prst="roundRect">
            <a:avLst>
              <a:gd name="adj" fmla="val 23077"/>
            </a:avLst>
          </a:prstGeom>
          <a:solidFill>
            <a:srgbClr val="6366F1"/>
          </a:solidFill>
          <a:ln/>
          <a:effectLst>
            <a:outerShdw blurRad="152400" dist="50800" dir="87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58368" y="1463040"/>
            <a:ext cx="219456" cy="219456"/>
          </a:xfrm>
          <a:prstGeom prst="ellipse">
            <a:avLst/>
          </a:prstGeom>
          <a:solidFill>
            <a:srgbClr val="E879F9"/>
          </a:solidFill>
          <a:ln w="12700">
            <a:solidFill>
              <a:srgbClr val="E879F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1325880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Grammatical standardization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892040" y="1325880"/>
            <a:ext cx="3611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LLMs are too grammatically perfect — humans make natural errors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856232"/>
            <a:ext cx="8229600" cy="475488"/>
          </a:xfrm>
          <a:prstGeom prst="roundRect">
            <a:avLst>
              <a:gd name="adj" fmla="val 23077"/>
            </a:avLst>
          </a:prstGeom>
          <a:solidFill>
            <a:srgbClr val="0D1120"/>
          </a:solidFill>
          <a:ln/>
          <a:effectLst>
            <a:outerShdw blurRad="152400" dist="50800" dir="87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58368" y="1993392"/>
            <a:ext cx="219456" cy="219456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4128" y="1856232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Formulaic transitional phrases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92040" y="1856232"/>
            <a:ext cx="3611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Overuse of "Furthermore", "In conclusion", "It is worth noting that"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386584"/>
            <a:ext cx="8229600" cy="475488"/>
          </a:xfrm>
          <a:prstGeom prst="roundRect">
            <a:avLst>
              <a:gd name="adj" fmla="val 23077"/>
            </a:avLst>
          </a:prstGeom>
          <a:solidFill>
            <a:srgbClr val="111827"/>
          </a:solidFill>
          <a:ln/>
          <a:effectLst>
            <a:outerShdw blurRad="152400" dist="50800" dir="8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58368" y="2523744"/>
            <a:ext cx="219456" cy="219456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24128" y="2386584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lexical entropy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92040" y="2386584"/>
            <a:ext cx="3611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predictable vocabulary — stays in common, safe words only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916936"/>
            <a:ext cx="8229600" cy="475488"/>
          </a:xfrm>
          <a:prstGeom prst="roundRect">
            <a:avLst>
              <a:gd name="adj" fmla="val 23077"/>
            </a:avLst>
          </a:prstGeom>
          <a:solidFill>
            <a:srgbClr val="0D1120"/>
          </a:solidFill>
          <a:ln/>
          <a:effectLst>
            <a:outerShdw blurRad="152400" dist="50800" dir="8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8368" y="3054096"/>
            <a:ext cx="219456" cy="219456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24128" y="2916936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Superlatives &amp; assertive constructions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92040" y="2916936"/>
            <a:ext cx="3611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say "exceptional" — humans say "pretty good, but..."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447288"/>
            <a:ext cx="8229600" cy="475488"/>
          </a:xfrm>
          <a:prstGeom prst="roundRect">
            <a:avLst>
              <a:gd name="adj" fmla="val 23077"/>
            </a:avLst>
          </a:prstGeom>
          <a:solidFill>
            <a:srgbClr val="111827"/>
          </a:solidFill>
          <a:ln/>
          <a:effectLst>
            <a:outerShdw blurRad="152400" dist="50800" dir="8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58368" y="3584448"/>
            <a:ext cx="219456" cy="219456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24128" y="3447288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Absence of epistemic hedging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92040" y="3447288"/>
            <a:ext cx="3611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skip "may", "suggests" — they state everything as fact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3977640"/>
            <a:ext cx="8229600" cy="475488"/>
          </a:xfrm>
          <a:prstGeom prst="roundRect">
            <a:avLst>
              <a:gd name="adj" fmla="val 23077"/>
            </a:avLst>
          </a:prstGeom>
          <a:solidFill>
            <a:srgbClr val="0D1120"/>
          </a:solidFill>
          <a:ln/>
          <a:effectLst>
            <a:outerShdw blurRad="152400" dist="50800" dir="8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58368" y="4114800"/>
            <a:ext cx="219456" cy="219456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24128" y="3977640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tag distribution anomalies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92040" y="3977640"/>
            <a:ext cx="3611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overuse adjective-noun pairs and passive voice constructions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4507992"/>
            <a:ext cx="8229600" cy="475488"/>
          </a:xfrm>
          <a:prstGeom prst="roundRect">
            <a:avLst>
              <a:gd name="adj" fmla="val 23077"/>
            </a:avLst>
          </a:prstGeom>
          <a:solidFill>
            <a:srgbClr val="111827"/>
          </a:solidFill>
          <a:ln/>
          <a:effectLst>
            <a:outerShdw blurRad="152400" dist="50800" dir="8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58368" y="4645152"/>
            <a:ext cx="219456" cy="219456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24128" y="4507992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Discourse coherence over-smoothing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892040" y="4507992"/>
            <a:ext cx="3611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essays are too well-organized — humans have rough natural transitions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6400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Gaps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457200" y="95097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structural problems the field has not yet solved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8229600" cy="658368"/>
          </a:xfrm>
          <a:prstGeom prst="roundRect">
            <a:avLst>
              <a:gd name="adj" fmla="val 16667"/>
            </a:avLst>
          </a:prstGeom>
          <a:solidFill>
            <a:srgbClr val="111827"/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325880"/>
            <a:ext cx="640080" cy="658368"/>
          </a:xfrm>
          <a:prstGeom prst="rect">
            <a:avLst/>
          </a:prstGeom>
          <a:noFill/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3F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325880" y="1527048"/>
            <a:ext cx="1005840" cy="256032"/>
          </a:xfrm>
          <a:prstGeom prst="roundRect">
            <a:avLst>
              <a:gd name="adj" fmla="val 35714"/>
            </a:avLst>
          </a:prstGeom>
          <a:solidFill>
            <a:srgbClr val="F43F5E"/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325880" y="1527048"/>
            <a:ext cx="1005840" cy="256032"/>
          </a:xfrm>
          <a:prstGeom prst="rect">
            <a:avLst/>
          </a:prstGeom>
          <a:noFill/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450592" y="1325880"/>
            <a:ext cx="2377440" cy="658368"/>
          </a:xfrm>
          <a:prstGeom prst="rect">
            <a:avLst/>
          </a:prstGeom>
          <a:noFill/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Robustness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956048" y="1325880"/>
            <a:ext cx="3657600" cy="658368"/>
          </a:xfrm>
          <a:prstGeom prst="rect">
            <a:avLst/>
          </a:prstGeom>
          <a:noFill/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XAI-guided token replacement drops accuracy 20-35 pp. No system is simultaneously interpretable and robust.</a:t>
            </a:r>
            <a:endParaRPr lang="en-US" sz="1150" dirty="0">
              <a:solidFill>
                <a:schemeClr val="bg1"/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457200" y="2075688"/>
            <a:ext cx="822960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075688"/>
            <a:ext cx="640080" cy="658368"/>
          </a:xfrm>
          <a:prstGeom prst="rect">
            <a:avLst/>
          </a:prstGeom>
          <a:noFill/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325880" y="2276856"/>
            <a:ext cx="1005840" cy="256032"/>
          </a:xfrm>
          <a:prstGeom prst="roundRect">
            <a:avLst>
              <a:gd name="adj" fmla="val 35714"/>
            </a:avLst>
          </a:prstGeom>
          <a:solidFill>
            <a:srgbClr val="F59E0B"/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325880" y="2276856"/>
            <a:ext cx="1005840" cy="256032"/>
          </a:xfrm>
          <a:prstGeom prst="rect">
            <a:avLst/>
          </a:prstGeom>
          <a:noFill/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450592" y="2075688"/>
            <a:ext cx="2377440" cy="658368"/>
          </a:xfrm>
          <a:prstGeom prst="rect">
            <a:avLst/>
          </a:prstGeom>
          <a:noFill/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XAI Evaluation Standard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56048" y="2075688"/>
            <a:ext cx="3657600" cy="658368"/>
          </a:xfrm>
          <a:prstGeom prst="rect">
            <a:avLst/>
          </a:prstGeom>
          <a:noFill/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benchmark tests if explanations are faithful, stable, or useful to humans. Explainability is still unverifiable.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2825496"/>
            <a:ext cx="822960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94360" y="2825496"/>
            <a:ext cx="640080" cy="658368"/>
          </a:xfrm>
          <a:prstGeom prst="rect">
            <a:avLst/>
          </a:prstGeom>
          <a:noFill/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325880" y="3026664"/>
            <a:ext cx="1005840" cy="256032"/>
          </a:xfrm>
          <a:prstGeom prst="roundRect">
            <a:avLst>
              <a:gd name="adj" fmla="val 35714"/>
            </a:avLst>
          </a:prstGeom>
          <a:solidFill>
            <a:srgbClr val="F59E0B"/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325880" y="3026664"/>
            <a:ext cx="1005840" cy="256032"/>
          </a:xfrm>
          <a:prstGeom prst="rect">
            <a:avLst/>
          </a:prstGeom>
          <a:noFill/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450592" y="2825496"/>
            <a:ext cx="2377440" cy="658368"/>
          </a:xfrm>
          <a:prstGeom prst="rect">
            <a:avLst/>
          </a:prstGeom>
          <a:noFill/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 for Non-Native Writers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956048" y="2825496"/>
            <a:ext cx="3657600" cy="658368"/>
          </a:xfrm>
          <a:prstGeom prst="rect">
            <a:avLst/>
          </a:prstGeom>
          <a:noFill/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Grammatical regularity also marks non-native English writers. They may be falsely flagged as AI. Untested.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57200" y="3575304"/>
            <a:ext cx="822960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94360" y="3575304"/>
            <a:ext cx="640080" cy="658368"/>
          </a:xfrm>
          <a:prstGeom prst="rect">
            <a:avLst/>
          </a:prstGeom>
          <a:noFill/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325880" y="3776472"/>
            <a:ext cx="1005840" cy="256032"/>
          </a:xfrm>
          <a:prstGeom prst="roundRect">
            <a:avLst>
              <a:gd name="adj" fmla="val 35714"/>
            </a:avLst>
          </a:prstGeom>
          <a:solidFill>
            <a:srgbClr val="F59E0B"/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325880" y="3776472"/>
            <a:ext cx="1005840" cy="256032"/>
          </a:xfrm>
          <a:prstGeom prst="rect">
            <a:avLst/>
          </a:prstGeom>
          <a:noFill/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450592" y="3575304"/>
            <a:ext cx="2377440" cy="658368"/>
          </a:xfrm>
          <a:prstGeom prst="rect">
            <a:avLst/>
          </a:prstGeom>
          <a:noFill/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Cross-Domain Generalization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956048" y="3575304"/>
            <a:ext cx="3657600" cy="658368"/>
          </a:xfrm>
          <a:prstGeom prst="rect">
            <a:avLst/>
          </a:prstGeom>
          <a:noFill/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domain entirely unstudied. Systems trained on web text fail badly on medical or legal formal writing.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57200" y="4325112"/>
            <a:ext cx="822960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94360" y="4325112"/>
            <a:ext cx="640080" cy="658368"/>
          </a:xfrm>
          <a:prstGeom prst="rect">
            <a:avLst/>
          </a:prstGeom>
          <a:noFill/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1325880" y="4526280"/>
            <a:ext cx="1005840" cy="256032"/>
          </a:xfrm>
          <a:prstGeom prst="roundRect">
            <a:avLst>
              <a:gd name="adj" fmla="val 35714"/>
            </a:avLst>
          </a:prstGeom>
          <a:solidFill>
            <a:srgbClr val="10B981"/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1325880" y="4526280"/>
            <a:ext cx="1005840" cy="256032"/>
          </a:xfrm>
          <a:prstGeom prst="rect">
            <a:avLst/>
          </a:prstGeom>
          <a:noFill/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450592" y="4325112"/>
            <a:ext cx="2377440" cy="658368"/>
          </a:xfrm>
          <a:prstGeom prst="rect">
            <a:avLst/>
          </a:prstGeom>
          <a:noFill/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Detection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956048" y="4325112"/>
            <a:ext cx="3657600" cy="658368"/>
          </a:xfrm>
          <a:prstGeom prst="rect">
            <a:avLst/>
          </a:prstGeom>
          <a:noFill/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12 studies in English only. No LIME or SHAP applied to Arabic, Urdu, Chinese or any other language.</a:t>
            </a:r>
            <a:endParaRPr lang="en-US" sz="11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160520" cy="1938528"/>
          </a:xfrm>
          <a:prstGeom prst="roundRect">
            <a:avLst>
              <a:gd name="adj" fmla="val 5660"/>
            </a:avLst>
          </a:prstGeom>
          <a:solidFill>
            <a:srgbClr val="6366F1"/>
          </a:solidFill>
          <a:ln/>
          <a:effectLst>
            <a:outerShdw blurRad="152400" dist="50800" dir="8700000" algn="bl" rotWithShape="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9224" y="1124712"/>
            <a:ext cx="329184" cy="32918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11436" y="1116250"/>
            <a:ext cx="33101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Positive Finding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1417320"/>
            <a:ext cx="3794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Convergent Validity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85800" y="1883664"/>
            <a:ext cx="3794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LIME and SHAP identify the same 4 markers across all architectures: grammatical standardization, formulaic transitions, low lexical entropy, and suppressed epistemic hedging. Convergence across different methods proves these are genuine, stable properties of AI prose.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46320" y="1005840"/>
            <a:ext cx="3840480" cy="1938528"/>
          </a:xfrm>
          <a:prstGeom prst="roundRect">
            <a:avLst>
              <a:gd name="adj" fmla="val 5660"/>
            </a:avLst>
          </a:prstGeom>
          <a:solidFill>
            <a:srgbClr val="111827"/>
          </a:solidFill>
          <a:ln/>
          <a:effectLst>
            <a:outerShdw blurRad="152400" dist="50800" dir="8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5062501" y="1116250"/>
            <a:ext cx="329184" cy="329184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532120" y="1078992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Critical Finding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74920" y="1417320"/>
            <a:ext cx="349300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Transparency ≠ Robustness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074920" y="1930066"/>
            <a:ext cx="3493008" cy="9320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adversarial paradox is unresolved. Most domain-by-LLM combinations are unstudied. Fairness for non-native writers is unaddressed. No system is simultaneously interpretable and adversarially robust.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306324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Implications for deployment: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429000"/>
            <a:ext cx="416052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58368" y="3666744"/>
            <a:ext cx="237744" cy="237744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024128" y="3429000"/>
            <a:ext cx="3456432" cy="713232"/>
          </a:xfrm>
          <a:prstGeom prst="rect">
            <a:avLst/>
          </a:prstGeom>
          <a:noFill/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alone ≠ institutional trust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828032" y="3429000"/>
            <a:ext cx="4160520" cy="713232"/>
          </a:xfrm>
          <a:prstGeom prst="roundRect">
            <a:avLst>
              <a:gd name="adj" fmla="val 15385"/>
            </a:avLst>
          </a:prstGeom>
          <a:solidFill>
            <a:srgbClr val="F1F5F9"/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029200" y="3666744"/>
            <a:ext cx="237744" cy="237744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394960" y="3429000"/>
            <a:ext cx="3456432" cy="713232"/>
          </a:xfrm>
          <a:prstGeom prst="rect">
            <a:avLst/>
          </a:prstGeom>
          <a:noFill/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explanation quality formally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4251960"/>
            <a:ext cx="4160520" cy="713232"/>
          </a:xfrm>
          <a:prstGeom prst="roundRect">
            <a:avLst>
              <a:gd name="adj" fmla="val 15385"/>
            </a:avLst>
          </a:prstGeom>
          <a:solidFill>
            <a:srgbClr val="F1F5F9"/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58368" y="4489704"/>
            <a:ext cx="237744" cy="237744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024128" y="4251960"/>
            <a:ext cx="3456432" cy="713232"/>
          </a:xfrm>
          <a:prstGeom prst="rect">
            <a:avLst/>
          </a:prstGeom>
          <a:noFill/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on non-native writers, not just native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828032" y="4251960"/>
            <a:ext cx="416052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029200" y="4489704"/>
            <a:ext cx="237744" cy="237744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394960" y="4251960"/>
            <a:ext cx="3456432" cy="713232"/>
          </a:xfrm>
          <a:prstGeom prst="rect">
            <a:avLst/>
          </a:prstGeom>
          <a:noFill/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Pursue robustness + interpretability jointly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13648" y="0"/>
            <a:ext cx="530352" cy="5143500"/>
          </a:xfrm>
          <a:prstGeom prst="rect">
            <a:avLst/>
          </a:prstGeom>
          <a:solidFill>
            <a:srgbClr val="E879F9"/>
          </a:solidFill>
          <a:ln/>
        </p:spPr>
      </p:sp>
      <p:sp>
        <p:nvSpPr>
          <p:cNvPr id="3" name="Text 1"/>
          <p:cNvSpPr/>
          <p:nvPr/>
        </p:nvSpPr>
        <p:spPr>
          <a:xfrm>
            <a:off x="3507474" y="735341"/>
            <a:ext cx="54864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Q&amp;A</a:t>
            </a:r>
            <a:endParaRPr lang="en-US" sz="16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438912"/>
            <a:ext cx="256032" cy="256032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713232"/>
            <a:ext cx="7955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</a:t>
            </a:r>
            <a:endParaRPr lang="en-US" sz="8800" dirty="0"/>
          </a:p>
        </p:txBody>
      </p:sp>
      <p:sp>
        <p:nvSpPr>
          <p:cNvPr id="6" name="Text 4"/>
          <p:cNvSpPr/>
          <p:nvPr/>
        </p:nvSpPr>
        <p:spPr>
          <a:xfrm>
            <a:off x="457200" y="1810512"/>
            <a:ext cx="79552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0" b="1" dirty="0">
                <a:solidFill>
                  <a:srgbClr val="6366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You.</a:t>
            </a:r>
            <a:endParaRPr lang="en-US" sz="880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6400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352044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Jawwad Ahmad  ·  F25NDOCS3W04013  ·  MSCS 2nd Semester  ·  Supervisor: Dr. Ahmad Niaz  ·  Islamia Univ. Bahawalpur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43302" y="3999749"/>
            <a:ext cx="1965960" cy="1024128"/>
          </a:xfrm>
          <a:prstGeom prst="roundRect">
            <a:avLst>
              <a:gd name="adj" fmla="val 10714"/>
            </a:avLst>
          </a:prstGeom>
          <a:solidFill>
            <a:srgbClr val="111827"/>
          </a:solidFill>
          <a:ln/>
          <a:effectLst>
            <a:outerShdw blurRad="152400" dist="50800" dir="8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43302" y="3999749"/>
            <a:ext cx="1965960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43302" y="4063757"/>
            <a:ext cx="1965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143302" y="4639829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292142" y="3999749"/>
            <a:ext cx="1965960" cy="1024128"/>
          </a:xfrm>
          <a:prstGeom prst="roundRect">
            <a:avLst>
              <a:gd name="adj" fmla="val 10714"/>
            </a:avLst>
          </a:prstGeom>
          <a:solidFill>
            <a:srgbClr val="111827"/>
          </a:solidFill>
          <a:ln/>
          <a:effectLst>
            <a:outerShdw blurRad="152400" dist="50800" dir="8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92142" y="3999749"/>
            <a:ext cx="1965960" cy="54864"/>
          </a:xfrm>
          <a:prstGeom prst="rect">
            <a:avLst/>
          </a:prstGeom>
          <a:solidFill>
            <a:srgbClr val="E879F9"/>
          </a:solidFill>
          <a:ln/>
        </p:spPr>
      </p:sp>
      <p:sp>
        <p:nvSpPr>
          <p:cNvPr id="15" name="Text 13"/>
          <p:cNvSpPr/>
          <p:nvPr/>
        </p:nvSpPr>
        <p:spPr>
          <a:xfrm>
            <a:off x="2292142" y="4063757"/>
            <a:ext cx="1965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2292142" y="4639829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440982" y="3999749"/>
            <a:ext cx="1965960" cy="1024128"/>
          </a:xfrm>
          <a:prstGeom prst="roundRect">
            <a:avLst>
              <a:gd name="adj" fmla="val 10714"/>
            </a:avLst>
          </a:prstGeom>
          <a:solidFill>
            <a:srgbClr val="111827"/>
          </a:solidFill>
          <a:ln/>
          <a:effectLst>
            <a:outerShdw blurRad="152400" dist="50800" dir="8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440982" y="3999749"/>
            <a:ext cx="1965960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9" name="Text 17"/>
          <p:cNvSpPr/>
          <p:nvPr/>
        </p:nvSpPr>
        <p:spPr>
          <a:xfrm>
            <a:off x="4440982" y="4063757"/>
            <a:ext cx="1965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4440982" y="4639829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589822" y="3999749"/>
            <a:ext cx="1965960" cy="1024128"/>
          </a:xfrm>
          <a:prstGeom prst="roundRect">
            <a:avLst>
              <a:gd name="adj" fmla="val 10714"/>
            </a:avLst>
          </a:prstGeom>
          <a:solidFill>
            <a:srgbClr val="111827"/>
          </a:solidFill>
          <a:ln/>
          <a:effectLst>
            <a:outerShdw blurRad="152400" dist="50800" dir="8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589822" y="3999749"/>
            <a:ext cx="1965960" cy="54864"/>
          </a:xfrm>
          <a:prstGeom prst="rect">
            <a:avLst/>
          </a:prstGeom>
          <a:solidFill>
            <a:srgbClr val="E879F9"/>
          </a:solidFill>
          <a:ln/>
        </p:spPr>
      </p:sp>
      <p:sp>
        <p:nvSpPr>
          <p:cNvPr id="23" name="Text 21"/>
          <p:cNvSpPr/>
          <p:nvPr/>
        </p:nvSpPr>
        <p:spPr>
          <a:xfrm>
            <a:off x="6589822" y="4063757"/>
            <a:ext cx="1965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6589822" y="4639829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XAI Methods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</TotalTime>
  <Words>1443</Words>
  <Application>Microsoft Office PowerPoint</Application>
  <PresentationFormat>On-screen Show (16:9)</PresentationFormat>
  <Paragraphs>250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Jawwad Ahmad</cp:lastModifiedBy>
  <cp:revision>29</cp:revision>
  <dcterms:created xsi:type="dcterms:W3CDTF">2026-04-25T07:02:59Z</dcterms:created>
  <dcterms:modified xsi:type="dcterms:W3CDTF">2026-04-26T11:15:14Z</dcterms:modified>
</cp:coreProperties>
</file>