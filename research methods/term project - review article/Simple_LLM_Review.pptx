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Identification of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vs. LLM-Generated Text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907792"/>
            <a:ext cx="27432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|  F25NDOCS3W04013  |  MSCS 2nd Semester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Ahmad Niaz  —  The Islamia University of Bahawalpur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1097280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914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detecting AI text matters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914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0" y="1097280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5596128" y="914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LLMs, LIME, SHAP, XAI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01952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60120" y="2084832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190195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How 12 studies were selected (PRISMA)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901952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901952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0" y="2084832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190195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Stylometric &amp; Classical ML methods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889504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0120" y="3072384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" y="28895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Transformer models + Adversarial risk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889504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2889504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0" y="3072384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/>
          <p:nvPr/>
        </p:nvSpPr>
        <p:spPr>
          <a:xfrm>
            <a:off x="5596128" y="28895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Multi-label attribution &amp; domain generalization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877056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877056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0120" y="4059936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9"/>
          <p:cNvSpPr/>
          <p:nvPr/>
        </p:nvSpPr>
        <p:spPr>
          <a:xfrm>
            <a:off x="1069848" y="387705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What discriminates AI text from human text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877056"/>
            <a:ext cx="41605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3877056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486400" y="4059936"/>
            <a:ext cx="27432" cy="411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Text 33"/>
          <p:cNvSpPr/>
          <p:nvPr/>
        </p:nvSpPr>
        <p:spPr>
          <a:xfrm>
            <a:off x="5596128" y="387705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This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now write text that looks exactly like human writing.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91056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Llama, Gemini — produce fluent, coherent, human-like 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66544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84248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in academia (cheating), journalism (fake news), medicine (misinformation), law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59736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detectors used perplexity scores &amp; writing style analysis — not very accurate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35224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(RoBERTa, DistilBERT) improved accuracy but work as "black boxes"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10712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= the system says "AI-generated" but cannot tell you WHY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86200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explanation → educators, courts, and journals cannot act on the verdict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361688"/>
            <a:ext cx="80284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Explainable AI (XAI) — detect AND explain the decision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How LLMs Generate 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960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the next word, one at a time, based on probability — like autocomplete but vastly more powerful.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9659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self-attention to understand context across long 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8503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54203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one token at a time based on probability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118104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181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11810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predictable text   |   High = creative/random 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694176"/>
            <a:ext cx="8503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941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69417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rhythm variation, unusual words, personal style, grammatical irregularities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270248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70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427024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grammatically regular, lexically predictable, overly smooth — this is detectable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LIME and SHAP (XAI Methods)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explain WHY an AI model made a decision — which words/features caused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38328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402336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17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084832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Masks/hides words one by 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660904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57860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how the AI prediction changes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072384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simple explanation: "these words caused the AI verdict"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648456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566160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can be slightly unstable (random process)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4142232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4059936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with transformer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417320"/>
            <a:ext cx="4023360" cy="3383280"/>
          </a:xfrm>
          <a:prstGeom prst="rect">
            <a:avLst/>
          </a:prstGeom>
          <a:solidFill>
            <a:srgbClr val="EAFAF1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417320"/>
            <a:ext cx="4023360" cy="54864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417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92040" y="2167128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2084832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cooperative game theory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2660904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257860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each word as a "player" contributing to the prediction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3154680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3072384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exact, fair contribution of every word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3648456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566160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reproducible every time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4142232"/>
            <a:ext cx="109728" cy="1097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4059936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rigorous feature ranking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are:  Post-hoc  ·  Local  ·  Model-agnostic  ·  Feature-level attribution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PRISMA Systematic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were the 12 studies selected?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64592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716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1417320"/>
            <a:ext cx="681228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173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records from 4 databases  →  68 duplicates removed  →  182 unique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057400"/>
            <a:ext cx="54864" cy="15544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212848"/>
            <a:ext cx="1645920" cy="6858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21284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57400" y="2258568"/>
            <a:ext cx="681228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225856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screened by title &amp; abstract  →  126 excluded (not AGTD, no XAI, pre-2023)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2898648"/>
            <a:ext cx="54864" cy="15544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3054096"/>
            <a:ext cx="1645920" cy="68580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05409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3099816"/>
            <a:ext cx="681228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09981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full texts assessed  →  44 excluded (no formal XAI, small dataset, non-English)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3739896"/>
            <a:ext cx="54864" cy="15544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895344"/>
            <a:ext cx="1645920" cy="68580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895344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57400" y="3941064"/>
            <a:ext cx="681228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0" y="3941064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studies included  |  2023–2026  |  All use LIME or SHAP formally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criteria: English  ·  Jan 2023–Mar 2026  ·  Uses LIME or SHAP  ·  Dataset ≥ 500 samples  ·  Reports Accuracy / F1 / AUC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Stylometric &amp; Classical ML Approaches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studies used handcrafted linguistic features + classical classifiers (SVM, Random Forest, Logistic Regression)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89888"/>
            <a:ext cx="2798064" cy="35204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389888"/>
            <a:ext cx="2798064" cy="45720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8988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et al. (2023)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LIME + SHAP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" y="2267712"/>
            <a:ext cx="2560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 &amp; punctuation regularity are the strongest AI markers. Both LIME and SHAP agreed — across different mechanisms.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" y="4407408"/>
            <a:ext cx="2560320" cy="274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English general domain only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6976" y="1389888"/>
            <a:ext cx="2798064" cy="35204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1389888"/>
            <a:ext cx="2798064" cy="45720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138988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McGovern et al. (2024)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46704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Attention visualization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46704" y="2267712"/>
            <a:ext cx="2560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has a unique stylistic fingerprint. Consistent POS tag patterns &amp; high-frequency tokens distinguish LLMs from humans and from each other.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46704" y="4407408"/>
            <a:ext cx="2560320" cy="274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formal model-agnostic XAI used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1389888"/>
            <a:ext cx="2798064" cy="35204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389888"/>
            <a:ext cx="2798064" cy="457200"/>
          </a:xfrm>
          <a:prstGeom prst="rect">
            <a:avLst/>
          </a:prstGeom>
          <a:solidFill>
            <a:srgbClr val="5B2C8D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138988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Przystalski et al. (2025)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SHAP (global + local)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91072" y="2267712"/>
            <a:ext cx="2560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texts (&lt;200 words): Grammatical standardization has 2× the weight of any other feature. LLMs are too grammatically perfect — humans make natural errors.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91072" y="4407408"/>
            <a:ext cx="2560320" cy="274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May not generalize to professional writing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82896"/>
            <a:ext cx="8412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 across all 3 studies: LLM text is more grammatically regular and lexically predictable than human text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Transformer-Based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studies used fine-tuned transformer models (RoBERTa, DistilBERT, BERT) — much higher accuracy but less interpretable by default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Mitrovic et al. (2023)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81328"/>
            <a:ext cx="1005840" cy="32004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813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~84%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reviews overuse superlatives ("exceptional", "outstanding"). Human reviews are idiosyncratic and hedged.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441448"/>
            <a:ext cx="850392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14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et al. — HULLMI (2024)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532888"/>
            <a:ext cx="1005840" cy="32004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328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~91%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RoBERTa-Sentinel is best. Adding LIME does NOT reduce accuracy — explainability and accuracy are complementary, not a trade-off.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493008"/>
            <a:ext cx="850392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566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et al. (2025)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584448"/>
            <a:ext cx="1005840" cy="32004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584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~89%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more stable than LIME across runs. Both can expose when a model is correct for the wrong reasons.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50292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91440" cy="502920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572000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Mohammadi et al. (2025) — The Adversarial Paradox:  XAI explanations tell attackers exactly which words to replace. This drops accuracy by 20–35%. No solution exists yet.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Multi-Label Attribution &amp; Generalization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studies go beyond "is it AI?" to ask: which AI wrote this? Does detection work across different domains?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73152" cy="56692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417320"/>
            <a:ext cx="8339328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17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 et al. (2023)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paradigm wins across all domains. Transformers lead on single-domain; stylometry generalizes more stably cross-domain.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73152" cy="56692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2121408"/>
            <a:ext cx="8339328" cy="56692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214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Najjar et al. (2025)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29000" y="212140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profiles create LLM fingerprints. Claude outputs are the hardest to detect — most similar to human writing stylistically.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825496"/>
            <a:ext cx="73152" cy="56692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" y="2825496"/>
            <a:ext cx="8339328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254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et al. (2025)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282549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pipeline: SHAP distinguishes GPT-4 vs. Llama by syntactic complexity and hedging frequency.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73152" cy="56692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3529584"/>
            <a:ext cx="8339328" cy="56692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5295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et al. (2025)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29000" y="352958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domain: AI misinformation detected by overconfident assertions and missing hedging ("may", "suggests").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233672"/>
            <a:ext cx="73152" cy="56692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" y="4233672"/>
            <a:ext cx="8339328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2336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 &amp; Kashem (2025)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29000" y="423367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ensemble framework — cheaper than transformers, suitable for resource-limited institutions.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— What Makes LLM Text Detectable?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agree on these 7 features across ALL 12 studies and ALL 3 paradigms: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889504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298448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298448"/>
            <a:ext cx="33558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298448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298448"/>
            <a:ext cx="1956816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85432" y="129844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found 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2889504" cy="448056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719072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standardization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719072"/>
            <a:ext cx="3355848" cy="448056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719072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too grammatically perfect — humans make natural errors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1719072"/>
            <a:ext cx="1956816" cy="448056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719072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#1 feature — found in ALL 3 paradigms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2889504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2194560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transitional phrases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194560"/>
            <a:ext cx="3355848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2194560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overuse "Furthermore", "In conclusion", "It is worth noting"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194560"/>
            <a:ext cx="1956816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85432" y="2194560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+ Transformer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670048"/>
            <a:ext cx="2889504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2670048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entropy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2670048"/>
            <a:ext cx="3355848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2670048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vocabulary is very predictable — stays in safe common words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12280" y="2670048"/>
            <a:ext cx="1956816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85432" y="2670048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+ Ensemble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145536"/>
            <a:ext cx="2889504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3145536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Superlatives &amp; assertive constructions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37560" y="3145536"/>
            <a:ext cx="3355848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3410712" y="3145536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say "exceptional", "outstanding" — humans say "pretty good"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3145536"/>
            <a:ext cx="1956816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6885432" y="3145536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621024"/>
            <a:ext cx="2889504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" y="3621024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epistemic hedging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7560" y="3621024"/>
            <a:ext cx="3355848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410712" y="3621024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skip "may", "suggests", "is consistent with" — sound too certain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12280" y="3621024"/>
            <a:ext cx="1956816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85432" y="3621024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+ Domain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096512"/>
            <a:ext cx="2889504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393192" y="4096512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 anomalies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37560" y="4096512"/>
            <a:ext cx="3355848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4" name="Text 42"/>
          <p:cNvSpPr/>
          <p:nvPr/>
        </p:nvSpPr>
        <p:spPr>
          <a:xfrm>
            <a:off x="3410712" y="4096512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overuse adjective-noun pairs and passive voice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12280" y="4096512"/>
            <a:ext cx="1956816" cy="44805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6885432" y="4096512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4572000"/>
            <a:ext cx="2889504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" y="4572000"/>
            <a:ext cx="2816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coherence over-smoothing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337560" y="4572000"/>
            <a:ext cx="3355848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410712" y="4572000"/>
            <a:ext cx="328269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essays are too smooth, too well-organized — humans have rough transitions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12280" y="4572000"/>
            <a:ext cx="1956816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885432" y="4572000"/>
            <a:ext cx="188366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Multi-label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Research Gaps — What Still Needs to be Solved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57200" cy="68580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914400"/>
            <a:ext cx="795528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914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097280"/>
            <a:ext cx="1005840" cy="292608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0972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9144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XAI-guided token replacement drops accuracy by 20–35%. No system is simultaneously interpretable AND robust. Needs new architectures.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728216"/>
            <a:ext cx="457200" cy="685800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282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8680" y="1728216"/>
            <a:ext cx="795528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172821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XAI Evaluation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1911096"/>
            <a:ext cx="1005840" cy="29260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9110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1728216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benchmark to measure if an explanation is faithful, stable, or actually helpful to humans. "Explainable" is still a qualitative claim.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457200" cy="685800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54203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" y="2542032"/>
            <a:ext cx="795528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25420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for Non-Native Writers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34840" y="2724912"/>
            <a:ext cx="1005840" cy="29260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27249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54203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regularity and formulaic language also characterize non-native English speakers. These writers may be falsely flagged as AI. Untested.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355848"/>
            <a:ext cx="457200" cy="685800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3558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8680" y="3355848"/>
            <a:ext cx="795528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33558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34840" y="3538728"/>
            <a:ext cx="1005840" cy="292608"/>
          </a:xfrm>
          <a:prstGeom prst="rect">
            <a:avLst/>
          </a:prstGeom>
          <a:solidFill>
            <a:srgbClr val="E08D2A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3538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3558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legal domain is unstudied. Detection systems trained on web text fail on medical/legal writing where humans also write formally.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169664"/>
            <a:ext cx="457200" cy="68580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16966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68680" y="4169664"/>
            <a:ext cx="7955280" cy="685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4169664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Detection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34840" y="4352544"/>
            <a:ext cx="1005840" cy="292608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37" name="Text 35"/>
          <p:cNvSpPr/>
          <p:nvPr/>
        </p:nvSpPr>
        <p:spPr>
          <a:xfrm>
            <a:off x="4434840" y="43525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4169664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studies are in English only. No study applies LIME or SHAP to Arabic, Urdu, Chinese, or any other language.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8872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1188720"/>
          </a:xfrm>
          <a:prstGeom prst="rect">
            <a:avLst/>
          </a:prstGeom>
          <a:solidFill>
            <a:srgbClr val="2D93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926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Main Positive Finding — Convergent Validity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consistently identify the same 4 markers of LLM text across all architectures: grammatical standardization, formulaic transitions, low lexical entropy, and suppressed epistemic hedging. This convergence proves these are genuine, stable properties of AI-generated prose.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100584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40280"/>
            <a:ext cx="109728" cy="100584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0428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Main Critical Finding — Transparency ≠ Robustness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paradox is unresolved. Most domain-by-LLM combinations are unstudied. Fairness for non-native writers is unaddressed. No current system is simultaneously interpretable and adversarially robust.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implications for institutions deploying detection systems: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94760"/>
            <a:ext cx="4160520" cy="47548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794760"/>
            <a:ext cx="73152" cy="4754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9476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 — explain the decision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794760"/>
            <a:ext cx="4160520" cy="47548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794760"/>
            <a:ext cx="73152" cy="4754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79476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explanation quality with standardized benchmarks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343400"/>
            <a:ext cx="4160520" cy="47548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343400"/>
            <a:ext cx="73152" cy="4754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4340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non-native writers, not just native English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343400"/>
            <a:ext cx="4160520" cy="47548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4343400"/>
            <a:ext cx="73152" cy="4754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34340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adversarial robustness together with interpretability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|  F25NDOCS3W04013  |  MSCS 2nd Semester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  |  Supervisor: Dr. Ahmad Niaz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886200"/>
            <a:ext cx="155448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9136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80360" y="3886200"/>
            <a:ext cx="155448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39136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80360" y="4480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886200"/>
            <a:ext cx="155448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9136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09160" y="4480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3886200"/>
            <a:ext cx="155448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AAAAAA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39136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537960" y="4480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vs LLM Text Detection</dc:title>
  <dc:subject>PptxGenJS Presentation</dc:subject>
  <dc:creator>PptxGenJS</dc:creator>
  <cp:lastModifiedBy>PptxGenJS</cp:lastModifiedBy>
  <cp:revision>1</cp:revision>
  <dcterms:created xsi:type="dcterms:W3CDTF">2026-04-22T20:01:17Z</dcterms:created>
  <dcterms:modified xsi:type="dcterms:W3CDTF">2026-04-22T20:01:17Z</dcterms:modified>
</cp:coreProperties>
</file>