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0" y="0"/>
            <a:ext cx="4114800" cy="5143500"/>
          </a:xfrm>
          <a:prstGeom prst="rect">
            <a:avLst/>
          </a:prstGeom>
          <a:solidFill>
            <a:srgbClr val="1A2A38"/>
          </a:solidFill>
          <a:ln/>
        </p:spPr>
      </p:sp>
      <p:sp>
        <p:nvSpPr>
          <p:cNvPr id="3" name="Shape 1"/>
          <p:cNvSpPr/>
          <p:nvPr/>
        </p:nvSpPr>
        <p:spPr>
          <a:xfrm>
            <a:off x="4919472" y="0"/>
            <a:ext cx="201168" cy="5143500"/>
          </a:xfrm>
          <a:prstGeom prst="rect">
            <a:avLst/>
          </a:prstGeom>
          <a:solidFill>
            <a:srgbClr val="E8533A"/>
          </a:solidFill>
          <a:ln/>
        </p:spPr>
      </p:sp>
      <p:sp>
        <p:nvSpPr>
          <p:cNvPr id="4" name="Shape 2"/>
          <p:cNvSpPr/>
          <p:nvPr/>
        </p:nvSpPr>
        <p:spPr>
          <a:xfrm>
            <a:off x="384048" y="384048"/>
            <a:ext cx="502920" cy="502920"/>
          </a:xfrm>
          <a:prstGeom prst="ellipse">
            <a:avLst/>
          </a:prstGeom>
          <a:solidFill>
            <a:srgbClr val="E8533A"/>
          </a:solidFill>
          <a:ln w="12700">
            <a:solidFill>
              <a:srgbClr val="E853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3200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85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MSCS RESEARCH REVIEW  ·  2023–2026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84048" y="822960"/>
            <a:ext cx="42976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vs.</a:t>
            </a:r>
            <a:endParaRPr lang="en-US" sz="4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LLM-Generated</a:t>
            </a:r>
            <a:endParaRPr lang="en-US" sz="4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endParaRPr lang="en-US" sz="4600" dirty="0"/>
          </a:p>
        </p:txBody>
      </p:sp>
      <p:sp>
        <p:nvSpPr>
          <p:cNvPr id="7" name="Shape 5"/>
          <p:cNvSpPr/>
          <p:nvPr/>
        </p:nvSpPr>
        <p:spPr>
          <a:xfrm>
            <a:off x="384048" y="3493008"/>
            <a:ext cx="2286000" cy="64008"/>
          </a:xfrm>
          <a:prstGeom prst="rect">
            <a:avLst/>
          </a:prstGeom>
          <a:solidFill>
            <a:srgbClr val="E8533A"/>
          </a:solidFill>
          <a:ln/>
        </p:spPr>
      </p:sp>
      <p:sp>
        <p:nvSpPr>
          <p:cNvPr id="8" name="Text 6"/>
          <p:cNvSpPr/>
          <p:nvPr/>
        </p:nvSpPr>
        <p:spPr>
          <a:xfrm>
            <a:off x="384048" y="3657600"/>
            <a:ext cx="4389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Systematic Review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212080" y="64008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AI for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Text Detection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212080" y="178308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E85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537960" y="17830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Jawwad Ahmad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212080" y="237744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E85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537960" y="23774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F25NDOCS3W04013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212080" y="297180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E85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537960" y="29718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MSCS — 2nd Semester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212080" y="356616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E85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537960" y="35661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Ahmad Niaz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212080" y="416052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E85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537960" y="41605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Islamia Univ. Bahawalpur</a:t>
            </a:r>
            <a:endParaRPr lang="en-US" sz="1200" dirty="0"/>
          </a:p>
        </p:txBody>
      </p:sp>
    </p:spTree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5143500"/>
          </a:xfrm>
          <a:prstGeom prst="rect">
            <a:avLst/>
          </a:prstGeom>
          <a:solidFill>
            <a:srgbClr val="E8533A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1645920"/>
            <a:ext cx="25603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</a:t>
            </a:r>
            <a:endParaRPr lang="en-US" sz="2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OUTLINE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82880" y="333756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DD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Sections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108960" y="320040"/>
            <a:ext cx="5806440" cy="502920"/>
          </a:xfrm>
          <a:prstGeom prst="rect">
            <a:avLst/>
          </a:prstGeom>
          <a:solidFill>
            <a:srgbClr val="FFF0EE"/>
          </a:solidFill>
          <a:ln/>
          <a:effectLst>
            <a:outerShdw sx="100000" sy="100000" kx="0" ky="0" algn="bl" rotWithShape="0" blurRad="1270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0" y="32004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5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703320" y="320040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— Why detecting AI text matters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108960" y="886968"/>
            <a:ext cx="5806440" cy="502920"/>
          </a:xfrm>
          <a:prstGeom prst="rect">
            <a:avLst/>
          </a:prstGeom>
          <a:solidFill>
            <a:srgbClr val="FFF0EE"/>
          </a:solidFill>
          <a:ln/>
          <a:effectLst>
            <a:outerShdw sx="100000" sy="100000" kx="0" ky="0" algn="bl" rotWithShape="0" blurRad="127000" dist="38100" dir="810000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00400" y="886968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5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703320" y="886968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Concepts — LLMs, LIME, SHAP, XAI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108960" y="1453896"/>
            <a:ext cx="580644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200400" y="1453896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5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703320" y="1453896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— PRISMA (12 studies selected)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3108960" y="2020824"/>
            <a:ext cx="580644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200400" y="2020824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5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703320" y="2020824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 1 — Stylometric &amp; Classical ML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3108960" y="2587752"/>
            <a:ext cx="580644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200400" y="2587752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5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703320" y="2587752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 2 — Transformer Models + Adversarial Risk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3108960" y="3154680"/>
            <a:ext cx="580644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200400" y="315468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5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703320" y="3154680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 3 — Multi-Label Attribution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3108960" y="3721608"/>
            <a:ext cx="580644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200400" y="3721608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5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703320" y="3721608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 — What discriminates AI text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3108960" y="4288536"/>
            <a:ext cx="580644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200400" y="4288536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5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703320" y="4288536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Gaps &amp; Conclusion</a:t>
            </a:r>
            <a:endParaRPr lang="en-US" sz="1250" dirty="0"/>
          </a:p>
        </p:txBody>
      </p:sp>
    </p:spTree>
  </p:cSld>
  <p:clrMapOvr>
    <a:masterClrMapping/>
  </p:clrMapOvr>
  <p:transition spd="med">
    <p:push dir="r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5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743200" y="0"/>
            <a:ext cx="6035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Detecting AI-Generated Text Matters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8503920" cy="640080"/>
          </a:xfrm>
          <a:prstGeom prst="rect">
            <a:avLst/>
          </a:prstGeom>
          <a:solidFill>
            <a:srgbClr val="FFF0EE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1005840"/>
            <a:ext cx="109728" cy="640080"/>
          </a:xfrm>
          <a:prstGeom prst="rect">
            <a:avLst/>
          </a:prstGeom>
          <a:solidFill>
            <a:srgbClr val="E8533A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0058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models like GPT-4, Claude, Llama and Gemini now produce text indistinguishable from human writing — by eye.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0040" y="1783080"/>
            <a:ext cx="8503920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384048" y="1984248"/>
            <a:ext cx="164592" cy="164592"/>
          </a:xfrm>
          <a:prstGeom prst="ellipse">
            <a:avLst/>
          </a:prstGeom>
          <a:solidFill>
            <a:srgbClr val="E8533A"/>
          </a:solidFill>
          <a:ln w="12700">
            <a:solidFill>
              <a:srgbClr val="E853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178308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 everywhere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2852928" y="1783080"/>
            <a:ext cx="5897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(cheating) · Journalism (fake news) · Medicine (misinformation) · Law (forged evidence)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0040" y="2404872"/>
            <a:ext cx="8503920" cy="548640"/>
          </a:xfrm>
          <a:prstGeom prst="rect">
            <a:avLst/>
          </a:prstGeom>
          <a:solidFill>
            <a:srgbClr val="ECF0F1"/>
          </a:solidFill>
          <a:ln/>
        </p:spPr>
      </p:sp>
      <p:sp>
        <p:nvSpPr>
          <p:cNvPr id="13" name="Shape 11"/>
          <p:cNvSpPr/>
          <p:nvPr/>
        </p:nvSpPr>
        <p:spPr>
          <a:xfrm>
            <a:off x="384048" y="2606040"/>
            <a:ext cx="164592" cy="164592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" y="2404872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detection methods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2852928" y="2404872"/>
            <a:ext cx="5897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Perplexity scores &amp; stylometric analysis — interpretable but low accuracy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0040" y="3026664"/>
            <a:ext cx="8503920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384048" y="3227832"/>
            <a:ext cx="164592" cy="164592"/>
          </a:xfrm>
          <a:prstGeom prst="ellipse">
            <a:avLst/>
          </a:prstGeom>
          <a:solidFill>
            <a:srgbClr val="F4A738"/>
          </a:solidFill>
          <a:ln w="12700">
            <a:solidFill>
              <a:srgbClr val="F4A73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" y="3026664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Transformers improved it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2852928" y="3026664"/>
            <a:ext cx="5897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RoBERTa, DistilBERT — up to 91% accuracy, but work as "black boxes"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20040" y="3648456"/>
            <a:ext cx="8503920" cy="548640"/>
          </a:xfrm>
          <a:prstGeom prst="rect">
            <a:avLst/>
          </a:prstGeom>
          <a:solidFill>
            <a:srgbClr val="ECF0F1"/>
          </a:solidFill>
          <a:ln/>
        </p:spPr>
      </p:sp>
      <p:sp>
        <p:nvSpPr>
          <p:cNvPr id="21" name="Shape 19"/>
          <p:cNvSpPr/>
          <p:nvPr/>
        </p:nvSpPr>
        <p:spPr>
          <a:xfrm>
            <a:off x="384048" y="3849624"/>
            <a:ext cx="164592" cy="164592"/>
          </a:xfrm>
          <a:prstGeom prst="ellipse">
            <a:avLst/>
          </a:prstGeom>
          <a:solidFill>
            <a:srgbClr val="E8533A"/>
          </a:solidFill>
          <a:ln w="12700">
            <a:solidFill>
              <a:srgbClr val="E8533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8368" y="3648456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black-box problem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2852928" y="3648456"/>
            <a:ext cx="5897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says "AI-generated" but gives NO reason → educators &amp; courts cannot act on it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20040" y="4270248"/>
            <a:ext cx="8503920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Shape 23"/>
          <p:cNvSpPr/>
          <p:nvPr/>
        </p:nvSpPr>
        <p:spPr>
          <a:xfrm>
            <a:off x="384048" y="4471416"/>
            <a:ext cx="164592" cy="164592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8368" y="4270248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solution: XAI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2852928" y="4270248"/>
            <a:ext cx="5897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AI methods (LIME &amp; SHAP) detect AND explain → auditable, trustworthy decisions</a:t>
            </a:r>
            <a:endParaRPr lang="en-US" sz="1200" dirty="0"/>
          </a:p>
        </p:txBody>
      </p:sp>
    </p:spTree>
  </p:cSld>
  <p:clrMapOvr>
    <a:masterClrMapping/>
  </p:clrMapOvr>
  <p:transition spd="med">
    <p:wipe dir="l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743200" y="0"/>
            <a:ext cx="6035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Large Language Models Generate Text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8503920" cy="566928"/>
          </a:xfrm>
          <a:prstGeom prst="rect">
            <a:avLst/>
          </a:prstGeom>
          <a:solidFill>
            <a:srgbClr val="E8F8F7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1005840"/>
            <a:ext cx="109728" cy="566928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005840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it as autocomplete — but trained on billions of words.  It predicts the next word, one at a time, based on probability.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320040" y="1691640"/>
            <a:ext cx="8503920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411480" y="1892808"/>
            <a:ext cx="164592" cy="164592"/>
          </a:xfrm>
          <a:prstGeom prst="ellipse">
            <a:avLst/>
          </a:prstGeom>
          <a:solidFill>
            <a:srgbClr val="E8533A"/>
          </a:solidFill>
          <a:ln w="12700">
            <a:solidFill>
              <a:srgbClr val="E853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1691640"/>
            <a:ext cx="2331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Architecture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154680" y="1691640"/>
            <a:ext cx="5577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self-attention to understand context across long text — knows what words relate to each other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0040" y="2313432"/>
            <a:ext cx="8503920" cy="566928"/>
          </a:xfrm>
          <a:prstGeom prst="rect">
            <a:avLst/>
          </a:prstGeom>
          <a:solidFill>
            <a:srgbClr val="ECF0F1"/>
          </a:solidFill>
          <a:ln/>
        </p:spPr>
      </p:sp>
      <p:sp>
        <p:nvSpPr>
          <p:cNvPr id="13" name="Shape 11"/>
          <p:cNvSpPr/>
          <p:nvPr/>
        </p:nvSpPr>
        <p:spPr>
          <a:xfrm>
            <a:off x="411480" y="2514600"/>
            <a:ext cx="164592" cy="164592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3232" y="2313432"/>
            <a:ext cx="2331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Autoregressive Generation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154680" y="2313432"/>
            <a:ext cx="5577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one token (word) at a time — each word is chosen based on all previous words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0040" y="2935224"/>
            <a:ext cx="8503920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411480" y="3136392"/>
            <a:ext cx="164592" cy="164592"/>
          </a:xfrm>
          <a:prstGeom prst="ellipse">
            <a:avLst/>
          </a:prstGeom>
          <a:solidFill>
            <a:srgbClr val="F4A738"/>
          </a:solidFill>
          <a:ln w="12700">
            <a:solidFill>
              <a:srgbClr val="F4A73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3232" y="2935224"/>
            <a:ext cx="2331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Setting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3154680" y="2935224"/>
            <a:ext cx="5577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temperature = predictable, safe text   |   High temperature = creative, random text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20040" y="3557016"/>
            <a:ext cx="8503920" cy="566928"/>
          </a:xfrm>
          <a:prstGeom prst="rect">
            <a:avLst/>
          </a:prstGeom>
          <a:solidFill>
            <a:srgbClr val="ECF0F1"/>
          </a:solidFill>
          <a:ln/>
        </p:spPr>
      </p:sp>
      <p:sp>
        <p:nvSpPr>
          <p:cNvPr id="21" name="Shape 19"/>
          <p:cNvSpPr/>
          <p:nvPr/>
        </p:nvSpPr>
        <p:spPr>
          <a:xfrm>
            <a:off x="411480" y="3758184"/>
            <a:ext cx="164592" cy="164592"/>
          </a:xfrm>
          <a:prstGeom prst="ellipse">
            <a:avLst/>
          </a:prstGeom>
          <a:solidFill>
            <a:srgbClr val="E8533A"/>
          </a:solidFill>
          <a:ln w="12700">
            <a:solidFill>
              <a:srgbClr val="E8533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13232" y="3557016"/>
            <a:ext cx="2331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Writing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3154680" y="3557016"/>
            <a:ext cx="5577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natural irregularities — rhythm changes, unusual words, sentence fragments, personal style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20040" y="4178808"/>
            <a:ext cx="8503920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Shape 23"/>
          <p:cNvSpPr/>
          <p:nvPr/>
        </p:nvSpPr>
        <p:spPr>
          <a:xfrm>
            <a:off x="411480" y="4379976"/>
            <a:ext cx="164592" cy="164592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13232" y="4178808"/>
            <a:ext cx="2331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Writing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3154680" y="4178808"/>
            <a:ext cx="5577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Grammatically perfect, highly predictable, very smooth — this regularity itself becomes detectable</a:t>
            </a:r>
            <a:endParaRPr lang="en-US" sz="1200" dirty="0"/>
          </a:p>
        </p:txBody>
      </p:sp>
    </p:spTree>
  </p:cSld>
  <p:clrMapOvr>
    <a:masterClrMapping/>
  </p:clrMapOvr>
  <p:transition spd="med">
    <p:push dir="r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E85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XAI Methods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LIME  vs.  SHAP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914400" y="1389888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explain WHY an AI model made a decision — which words/features caused it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" y="1874520"/>
            <a:ext cx="4069080" cy="2971800"/>
          </a:xfrm>
          <a:prstGeom prst="rect">
            <a:avLst/>
          </a:prstGeom>
          <a:solidFill>
            <a:srgbClr val="16222E"/>
          </a:solidFill>
          <a:ln/>
          <a:effectLst>
            <a:outerShdw sx="100000" sy="100000" kx="0" ky="0" algn="bl" rotWithShape="0" blurRad="1270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874520"/>
            <a:ext cx="4069080" cy="566928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1874520"/>
            <a:ext cx="4069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LIME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2487168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Interpretable Model-Agnostic Explanations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944368"/>
            <a:ext cx="118872" cy="118872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2898648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Hides/masks words one by one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3346704"/>
            <a:ext cx="118872" cy="118872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" y="3300984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Watches how the prediction changes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749040"/>
            <a:ext cx="118872" cy="118872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" y="37033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Reports: "these words caused the AI verdict"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4151376"/>
            <a:ext cx="118872" cy="118872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" y="4105656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— good for transformer models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4553712"/>
            <a:ext cx="118872" cy="118872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" y="4507992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be slightly unstable (random process)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754880" y="1874520"/>
            <a:ext cx="4069080" cy="2971800"/>
          </a:xfrm>
          <a:prstGeom prst="rect">
            <a:avLst/>
          </a:prstGeom>
          <a:solidFill>
            <a:srgbClr val="16222E"/>
          </a:solidFill>
          <a:ln/>
          <a:effectLst>
            <a:outerShdw sx="100000" sy="100000" kx="0" ky="0" algn="bl" rotWithShape="0" blurRad="127000" dist="38100" dir="8100000">
              <a:srgbClr val="000000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1874520"/>
            <a:ext cx="4069080" cy="566928"/>
          </a:xfrm>
          <a:prstGeom prst="rect">
            <a:avLst/>
          </a:prstGeom>
          <a:solidFill>
            <a:srgbClr val="E8533A"/>
          </a:solidFill>
          <a:ln/>
        </p:spPr>
      </p:sp>
      <p:sp>
        <p:nvSpPr>
          <p:cNvPr id="21" name="Text 19"/>
          <p:cNvSpPr/>
          <p:nvPr/>
        </p:nvSpPr>
        <p:spPr>
          <a:xfrm>
            <a:off x="4754880" y="1874520"/>
            <a:ext cx="4069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4892040" y="2487168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85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SHapley Additive exPlanations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892040" y="2944368"/>
            <a:ext cx="118872" cy="118872"/>
          </a:xfrm>
          <a:prstGeom prst="ellipse">
            <a:avLst/>
          </a:prstGeom>
          <a:solidFill>
            <a:srgbClr val="E8533A"/>
          </a:solidFill>
          <a:ln w="12700">
            <a:solidFill>
              <a:srgbClr val="E8533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93208" y="2898648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cooperative game theory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892040" y="3346704"/>
            <a:ext cx="118872" cy="118872"/>
          </a:xfrm>
          <a:prstGeom prst="ellipse">
            <a:avLst/>
          </a:prstGeom>
          <a:solidFill>
            <a:srgbClr val="E8533A"/>
          </a:solidFill>
          <a:ln w="12700">
            <a:solidFill>
              <a:srgbClr val="E8533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93208" y="3300984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word = a player contributing to a result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892040" y="3749040"/>
            <a:ext cx="118872" cy="118872"/>
          </a:xfrm>
          <a:prstGeom prst="ellipse">
            <a:avLst/>
          </a:prstGeom>
          <a:solidFill>
            <a:srgbClr val="E8533A"/>
          </a:solidFill>
          <a:ln w="12700">
            <a:solidFill>
              <a:srgbClr val="E8533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93208" y="37033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Calculates the exact, fair share of each word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892040" y="4151376"/>
            <a:ext cx="118872" cy="118872"/>
          </a:xfrm>
          <a:prstGeom prst="ellipse">
            <a:avLst/>
          </a:prstGeom>
          <a:solidFill>
            <a:srgbClr val="E8533A"/>
          </a:solidFill>
          <a:ln w="12700">
            <a:solidFill>
              <a:srgbClr val="E8533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93208" y="4105656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and reproducible every run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892040" y="4553712"/>
            <a:ext cx="118872" cy="118872"/>
          </a:xfrm>
          <a:prstGeom prst="ellipse">
            <a:avLst/>
          </a:prstGeom>
          <a:solidFill>
            <a:srgbClr val="E8533A"/>
          </a:solidFill>
          <a:ln w="12700">
            <a:solidFill>
              <a:srgbClr val="E8533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93208" y="4507992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thorough — higher computing cost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16222E"/>
          </a:solidFill>
          <a:ln/>
        </p:spPr>
      </p:sp>
      <p:sp>
        <p:nvSpPr>
          <p:cNvPr id="34" name="Text 32"/>
          <p:cNvSpPr/>
          <p:nvPr/>
        </p:nvSpPr>
        <p:spPr>
          <a:xfrm>
            <a:off x="457200" y="48737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Both: Post-hoc  ·  Local  ·  Model-agnostic  ·  Feature-level attribution</a:t>
            </a:r>
            <a:endParaRPr lang="en-US" sz="1150" dirty="0"/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4A7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743200" y="0"/>
            <a:ext cx="6035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PRISMA Systematic Review — How 12 Studies Were Selected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914400" cy="749808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051560"/>
            <a:ext cx="914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20040" y="1490472"/>
            <a:ext cx="914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22376" y="1801368"/>
            <a:ext cx="109728" cy="210312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9" name="Shape 7"/>
          <p:cNvSpPr/>
          <p:nvPr/>
        </p:nvSpPr>
        <p:spPr>
          <a:xfrm>
            <a:off x="1371600" y="1106424"/>
            <a:ext cx="745236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508760" y="1106424"/>
            <a:ext cx="7223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from 4 databases (Scholar 120 · ArXiv 72 · IEEE 38 · SciSpace 20)  →  68 duplicates removed  →  182 unique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20040" y="2011680"/>
            <a:ext cx="914400" cy="749808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2" name="Text 10"/>
          <p:cNvSpPr/>
          <p:nvPr/>
        </p:nvSpPr>
        <p:spPr>
          <a:xfrm>
            <a:off x="320040" y="2011680"/>
            <a:ext cx="914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20040" y="2450592"/>
            <a:ext cx="914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722376" y="2761488"/>
            <a:ext cx="109728" cy="210312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5" name="Shape 13"/>
          <p:cNvSpPr/>
          <p:nvPr/>
        </p:nvSpPr>
        <p:spPr>
          <a:xfrm>
            <a:off x="1371600" y="2066544"/>
            <a:ext cx="7452360" cy="658368"/>
          </a:xfrm>
          <a:prstGeom prst="rect">
            <a:avLst/>
          </a:prstGeom>
          <a:solidFill>
            <a:srgbClr val="ECF0F1"/>
          </a:solidFill>
          <a:ln/>
          <a:effectLst>
            <a:outerShdw sx="100000" sy="100000" kx="0" ky="0" algn="bl" rotWithShape="0" blurRad="127000" dist="38100" dir="8100000">
              <a:srgbClr val="000000">
                <a:alpha val="1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508760" y="2066544"/>
            <a:ext cx="7223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Screened by title &amp; abstract  →  126 excluded (not AGTD, no XAI, published before 2023, out of scope)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320040" y="2971800"/>
            <a:ext cx="914400" cy="749808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8" name="Text 16"/>
          <p:cNvSpPr/>
          <p:nvPr/>
        </p:nvSpPr>
        <p:spPr>
          <a:xfrm>
            <a:off x="320040" y="2971800"/>
            <a:ext cx="914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320040" y="3410712"/>
            <a:ext cx="914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ELIGIBLE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22376" y="3721608"/>
            <a:ext cx="109728" cy="210312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21" name="Shape 19"/>
          <p:cNvSpPr/>
          <p:nvPr/>
        </p:nvSpPr>
        <p:spPr>
          <a:xfrm>
            <a:off x="1371600" y="3026664"/>
            <a:ext cx="745236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1508760" y="3026664"/>
            <a:ext cx="7223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texts assessed  →  44 excluded (no formal XAI: 18 · dataset too small: 12 · non-English: 8 · no metrics: 6)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320040" y="3931920"/>
            <a:ext cx="914400" cy="74980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4" name="Text 22"/>
          <p:cNvSpPr/>
          <p:nvPr/>
        </p:nvSpPr>
        <p:spPr>
          <a:xfrm>
            <a:off x="320040" y="3931920"/>
            <a:ext cx="914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320040" y="4370832"/>
            <a:ext cx="914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1371600" y="3986784"/>
            <a:ext cx="7452360" cy="658368"/>
          </a:xfrm>
          <a:prstGeom prst="rect">
            <a:avLst/>
          </a:prstGeom>
          <a:solidFill>
            <a:srgbClr val="ECF0F1"/>
          </a:solidFill>
          <a:ln/>
          <a:effectLst>
            <a:outerShdw sx="100000" sy="100000" kx="0" ky="0" algn="bl" rotWithShape="0" blurRad="127000" dist="38100" dir="8100000">
              <a:srgbClr val="000000">
                <a:alpha val="1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1508760" y="3986784"/>
            <a:ext cx="7223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studies included  |  All use LIME or SHAP  |  Published 2023–2026  |  Multi-domain coverage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0" y="4828032"/>
            <a:ext cx="9144000" cy="310896"/>
          </a:xfrm>
          <a:prstGeom prst="rect">
            <a:avLst/>
          </a:prstGeom>
          <a:solidFill>
            <a:srgbClr val="FEF9E7"/>
          </a:solidFill>
          <a:ln/>
        </p:spPr>
      </p:sp>
      <p:sp>
        <p:nvSpPr>
          <p:cNvPr id="29" name="Text 27"/>
          <p:cNvSpPr/>
          <p:nvPr/>
        </p:nvSpPr>
        <p:spPr>
          <a:xfrm>
            <a:off x="365760" y="484632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Inclusion criteria: English  ·  Jan 2023 – Mar 2026  ·  Uses LIME or SHAP  ·  Dataset ≥ 500 samples  ·  Reports Accuracy / F1 / AUC</a:t>
            </a:r>
            <a:endParaRPr lang="en-US" sz="1150" dirty="0"/>
          </a:p>
        </p:txBody>
      </p:sp>
    </p:spTree>
  </p:cSld>
  <p:clrMapOvr>
    <a:masterClrMapping/>
  </p:clrMapOvr>
  <p:transition spd="med">
    <p:wipe dir="l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6C3483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DA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 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286000" y="0"/>
            <a:ext cx="6492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Stylometric &amp; Classical Machine Learning Approaches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65760" y="978408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studies used handcrafted linguistic features with SVM, Logistic Regression, Random Forest classifiers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417320"/>
            <a:ext cx="2816352" cy="3429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417320"/>
            <a:ext cx="2816352" cy="530352"/>
          </a:xfrm>
          <a:prstGeom prst="rect">
            <a:avLst/>
          </a:prstGeom>
          <a:solidFill>
            <a:srgbClr val="8E44AD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1417320"/>
            <a:ext cx="263347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Shah et al. (2023)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65760" y="2011680"/>
            <a:ext cx="640080" cy="256032"/>
          </a:xfrm>
          <a:prstGeom prst="rect">
            <a:avLst/>
          </a:prstGeom>
          <a:solidFill>
            <a:srgbClr val="8E44AD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201168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LIME + SHAP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65760" y="2350008"/>
            <a:ext cx="2633472" cy="1874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Simpson's Index (vocabulary diversity) and punctuation regularity are the strongest AI markers. Both LIME and SHAP agreed despite using completely different mechanisms.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4251960"/>
            <a:ext cx="2633472" cy="2743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3" name="Text 11"/>
          <p:cNvSpPr/>
          <p:nvPr/>
        </p:nvSpPr>
        <p:spPr>
          <a:xfrm>
            <a:off x="365760" y="4315968"/>
            <a:ext cx="26334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5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Dataset covers English general domain only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18688" y="1417320"/>
            <a:ext cx="2816352" cy="3429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18688" y="1417320"/>
            <a:ext cx="2816352" cy="530352"/>
          </a:xfrm>
          <a:prstGeom prst="rect">
            <a:avLst/>
          </a:prstGeom>
          <a:solidFill>
            <a:srgbClr val="9B59B6"/>
          </a:solidFill>
          <a:ln/>
        </p:spPr>
      </p:sp>
      <p:sp>
        <p:nvSpPr>
          <p:cNvPr id="16" name="Text 14"/>
          <p:cNvSpPr/>
          <p:nvPr/>
        </p:nvSpPr>
        <p:spPr>
          <a:xfrm>
            <a:off x="3310128" y="1417320"/>
            <a:ext cx="263347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McGovern et al. (2024)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3310128" y="2011680"/>
            <a:ext cx="640080" cy="256032"/>
          </a:xfrm>
          <a:prstGeom prst="rect">
            <a:avLst/>
          </a:prstGeom>
          <a:solidFill>
            <a:srgbClr val="9B59B6"/>
          </a:solidFill>
          <a:ln/>
        </p:spPr>
      </p:sp>
      <p:sp>
        <p:nvSpPr>
          <p:cNvPr id="18" name="Text 16"/>
          <p:cNvSpPr/>
          <p:nvPr/>
        </p:nvSpPr>
        <p:spPr>
          <a:xfrm>
            <a:off x="3310128" y="201168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Visualization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3310128" y="2350008"/>
            <a:ext cx="2633472" cy="1874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LLM has a unique stylistic fingerprint — consistent POS tag distributions and high-frequency token profiles that distinguish them from humans AND from each other.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310128" y="4251960"/>
            <a:ext cx="2633472" cy="2743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21" name="Text 19"/>
          <p:cNvSpPr/>
          <p:nvPr/>
        </p:nvSpPr>
        <p:spPr>
          <a:xfrm>
            <a:off x="3310128" y="4315968"/>
            <a:ext cx="26334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5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No formal model-agnostic XAI (LIME/SHAP) applied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163056" y="1417320"/>
            <a:ext cx="2816352" cy="3429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163056" y="1417320"/>
            <a:ext cx="2816352" cy="530352"/>
          </a:xfrm>
          <a:prstGeom prst="rect">
            <a:avLst/>
          </a:prstGeom>
          <a:solidFill>
            <a:srgbClr val="A569BD"/>
          </a:solidFill>
          <a:ln/>
        </p:spPr>
      </p:sp>
      <p:sp>
        <p:nvSpPr>
          <p:cNvPr id="24" name="Text 22"/>
          <p:cNvSpPr/>
          <p:nvPr/>
        </p:nvSpPr>
        <p:spPr>
          <a:xfrm>
            <a:off x="6254496" y="1417320"/>
            <a:ext cx="263347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Przystalski et al. (2025)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254496" y="2011680"/>
            <a:ext cx="640080" cy="256032"/>
          </a:xfrm>
          <a:prstGeom prst="rect">
            <a:avLst/>
          </a:prstGeom>
          <a:solidFill>
            <a:srgbClr val="A569BD"/>
          </a:solidFill>
          <a:ln/>
        </p:spPr>
      </p:sp>
      <p:sp>
        <p:nvSpPr>
          <p:cNvPr id="26" name="Text 24"/>
          <p:cNvSpPr/>
          <p:nvPr/>
        </p:nvSpPr>
        <p:spPr>
          <a:xfrm>
            <a:off x="6254496" y="201168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(global + local)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6254496" y="2350008"/>
            <a:ext cx="2633472" cy="1874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short texts (&lt;200 words): Grammatical standardization carries 2× the weight of any other feature. LLMs follow grammar so perfectly that the perfection itself is suspicious.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254496" y="4251960"/>
            <a:ext cx="2633472" cy="2743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29" name="Text 27"/>
          <p:cNvSpPr/>
          <p:nvPr/>
        </p:nvSpPr>
        <p:spPr>
          <a:xfrm>
            <a:off x="6254496" y="4315968"/>
            <a:ext cx="26334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5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May not generalize to formal professional writing</a:t>
            </a:r>
            <a:endParaRPr lang="en-US" sz="1000" dirty="0"/>
          </a:p>
        </p:txBody>
      </p:sp>
    </p:spTree>
  </p:cSld>
  <p:clrMapOvr>
    <a:masterClrMapping/>
  </p:clrMapOvr>
  <p:transition spd="med">
    <p:push dir="r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 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286000" y="0"/>
            <a:ext cx="6492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Transformer-Based Deep Learning Methods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8503920" cy="9875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05840"/>
            <a:ext cx="109728" cy="987552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7" name="Text 5"/>
          <p:cNvSpPr/>
          <p:nvPr/>
        </p:nvSpPr>
        <p:spPr>
          <a:xfrm>
            <a:off x="521208" y="1078992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Mitrovic et al. (2023)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21208" y="143560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Arch: DistilBERT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394960" y="1115568"/>
            <a:ext cx="1188720" cy="347472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10" name="Text 8"/>
          <p:cNvSpPr/>
          <p:nvPr/>
        </p:nvSpPr>
        <p:spPr>
          <a:xfrm>
            <a:off x="5394960" y="1115568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 ~84%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720840" y="105156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revealed ChatGPT reviews overuse superlatives ("exceptional", "outstanding"). Human reviews use idiosyncratic vocab and hedged evaluations like "pretty good, but..."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0040" y="2121408"/>
            <a:ext cx="8503920" cy="9875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2121408"/>
            <a:ext cx="109728" cy="987552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14" name="Text 12"/>
          <p:cNvSpPr/>
          <p:nvPr/>
        </p:nvSpPr>
        <p:spPr>
          <a:xfrm>
            <a:off x="521208" y="2194560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Joshi et al. — HULLMI (2024)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21208" y="2551176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Arch: RoBERTa-Sentinel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394960" y="2231136"/>
            <a:ext cx="1188720" cy="347472"/>
          </a:xfrm>
          <a:prstGeom prst="rect">
            <a:avLst/>
          </a:prstGeom>
          <a:solidFill>
            <a:srgbClr val="1E8449"/>
          </a:solidFill>
          <a:ln/>
        </p:spPr>
      </p:sp>
      <p:sp>
        <p:nvSpPr>
          <p:cNvPr id="17" name="Text 15"/>
          <p:cNvSpPr/>
          <p:nvPr/>
        </p:nvSpPr>
        <p:spPr>
          <a:xfrm>
            <a:off x="5394960" y="2231136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 ~91%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720840" y="2167128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LIME did NOT reduce accuracy — explainability and accuracy are complementary. LIME revealed: formulaic hedging, impersonal constructions, overly smooth transitions drive the detector.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20040" y="3236976"/>
            <a:ext cx="8503920" cy="9875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" y="3236976"/>
            <a:ext cx="109728" cy="987552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21" name="Text 19"/>
          <p:cNvSpPr/>
          <p:nvPr/>
        </p:nvSpPr>
        <p:spPr>
          <a:xfrm>
            <a:off x="521208" y="3310128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Masih et al. (2025)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21208" y="366674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Arch: BERT · RoBERTa · GPT-2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394960" y="3346704"/>
            <a:ext cx="1188720" cy="347472"/>
          </a:xfrm>
          <a:prstGeom prst="rect">
            <a:avLst/>
          </a:prstGeom>
          <a:solidFill>
            <a:srgbClr val="7D6608"/>
          </a:solidFill>
          <a:ln/>
        </p:spPr>
      </p:sp>
      <p:sp>
        <p:nvSpPr>
          <p:cNvPr id="24" name="Text 22"/>
          <p:cNvSpPr/>
          <p:nvPr/>
        </p:nvSpPr>
        <p:spPr>
          <a:xfrm>
            <a:off x="5394960" y="3346704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 ~89%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720840" y="3282696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is more stable than LIME across runs. Both can expose cases where the model is correct for the wrong reasons — a critical finding for fairness auditing.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20040" y="4370832"/>
            <a:ext cx="8503920" cy="658368"/>
          </a:xfrm>
          <a:prstGeom prst="rect">
            <a:avLst/>
          </a:prstGeom>
          <a:solidFill>
            <a:srgbClr val="FEF9E7"/>
          </a:solidFill>
          <a:ln/>
          <a:effectLst>
            <a:outerShdw sx="100000" sy="100000" kx="0" ky="0" algn="bl" rotWithShape="0" blurRad="127000" dist="38100" dir="8100000">
              <a:srgbClr val="000000">
                <a:alpha val="1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0040" y="4370832"/>
            <a:ext cx="109728" cy="658368"/>
          </a:xfrm>
          <a:prstGeom prst="rect">
            <a:avLst/>
          </a:prstGeom>
          <a:solidFill>
            <a:srgbClr val="F4A738"/>
          </a:solidFill>
          <a:ln/>
        </p:spPr>
      </p:sp>
      <p:sp>
        <p:nvSpPr>
          <p:cNvPr id="28" name="Text 26"/>
          <p:cNvSpPr/>
          <p:nvPr/>
        </p:nvSpPr>
        <p:spPr>
          <a:xfrm>
            <a:off x="521208" y="44074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E51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Mohammadi et al. (2025) — The Adversarial Paradox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21208" y="4663440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E51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XAI explanations show attackers exactly which words to replace with synonyms → accuracy drops 20–35 pp. No solution exists yet. Most urgent open problem in the field.</a:t>
            </a:r>
            <a:endParaRPr lang="en-US" sz="1150" dirty="0"/>
          </a:p>
        </p:txBody>
      </p:sp>
    </p:spTree>
  </p:cSld>
  <p:clrMapOvr>
    <a:masterClrMapping/>
  </p:clrMapOvr>
  <p:transition spd="med">
    <p:wipe dir="l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7E5109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4A7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 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286000" y="0"/>
            <a:ext cx="6492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Multi-Label Attribution &amp; Cross-Domain Generalization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65760" y="978408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"is it AI?" → Which AI wrote it? Does detection work across different domains?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399032"/>
            <a:ext cx="850392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399032"/>
            <a:ext cx="109728" cy="640080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8" name="Text 6"/>
          <p:cNvSpPr/>
          <p:nvPr/>
        </p:nvSpPr>
        <p:spPr>
          <a:xfrm>
            <a:off x="530352" y="1399032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Adilazuarda et al. (2023)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401568" y="1399032"/>
            <a:ext cx="5349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paradigm dominates across all domains. Transformers lead on single-domain; stylometry generalizes more stably cross-domain.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" y="2130552"/>
            <a:ext cx="8503920" cy="640080"/>
          </a:xfrm>
          <a:prstGeom prst="rect">
            <a:avLst/>
          </a:prstGeom>
          <a:solidFill>
            <a:srgbClr val="ECF0F1"/>
          </a:solidFill>
          <a:ln/>
          <a:effectLst>
            <a:outerShdw sx="100000" sy="100000" kx="0" ky="0" algn="bl" rotWithShape="0" blurRad="127000" dist="38100" dir="8100000">
              <a:srgbClr val="000000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2130552"/>
            <a:ext cx="109728" cy="640080"/>
          </a:xfrm>
          <a:prstGeom prst="rect">
            <a:avLst/>
          </a:prstGeom>
          <a:solidFill>
            <a:srgbClr val="E8533A"/>
          </a:solidFill>
          <a:ln/>
        </p:spPr>
      </p:sp>
      <p:sp>
        <p:nvSpPr>
          <p:cNvPr id="12" name="Text 10"/>
          <p:cNvSpPr/>
          <p:nvPr/>
        </p:nvSpPr>
        <p:spPr>
          <a:xfrm>
            <a:off x="530352" y="2130552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Najjar et al. (2025)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401568" y="2130552"/>
            <a:ext cx="5349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XAI profiles fingerprint each LLM. Claude outputs are the hardest to detect — most similar stylometrically to human writing.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0040" y="2862072"/>
            <a:ext cx="850392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2862072"/>
            <a:ext cx="109728" cy="640080"/>
          </a:xfrm>
          <a:prstGeom prst="rect">
            <a:avLst/>
          </a:prstGeom>
          <a:solidFill>
            <a:srgbClr val="F4A738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2862072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Zahraa et al. (2025)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3401568" y="2862072"/>
            <a:ext cx="5349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Multi-label pipeline: SHAP distinguishes GPT-4 vs Llama through fine-grained differences in syntactic complexity and hedging.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20040" y="3593592"/>
            <a:ext cx="8503920" cy="640080"/>
          </a:xfrm>
          <a:prstGeom prst="rect">
            <a:avLst/>
          </a:prstGeom>
          <a:solidFill>
            <a:srgbClr val="ECF0F1"/>
          </a:solidFill>
          <a:ln/>
          <a:effectLst>
            <a:outerShdw sx="100000" sy="100000" kx="0" ky="0" algn="bl" rotWithShape="0" blurRad="127000" dist="38100" dir="8100000">
              <a:srgbClr val="000000">
                <a:alpha val="1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" y="3593592"/>
            <a:ext cx="109728" cy="640080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20" name="Text 18"/>
          <p:cNvSpPr/>
          <p:nvPr/>
        </p:nvSpPr>
        <p:spPr>
          <a:xfrm>
            <a:off x="530352" y="3593592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Baharifar et al. (2025)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3401568" y="3593592"/>
            <a:ext cx="5349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domain: AI misinformation detected by overconfident assertions and missing hedging ("may", "suggests", "is consistent with").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20040" y="4325112"/>
            <a:ext cx="850392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" y="4325112"/>
            <a:ext cx="109728" cy="640080"/>
          </a:xfrm>
          <a:prstGeom prst="rect">
            <a:avLst/>
          </a:prstGeom>
          <a:solidFill>
            <a:srgbClr val="E8533A"/>
          </a:solidFill>
          <a:ln/>
        </p:spPr>
      </p:sp>
      <p:sp>
        <p:nvSpPr>
          <p:cNvPr id="24" name="Text 22"/>
          <p:cNvSpPr/>
          <p:nvPr/>
        </p:nvSpPr>
        <p:spPr>
          <a:xfrm>
            <a:off x="530352" y="4325112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Iqbal &amp; Kashem (2025)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3401568" y="4325112"/>
            <a:ext cx="5349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ensemble framework — cheaper than transformers, suitable for resource-constrained institutions.</a:t>
            </a:r>
            <a:endParaRPr lang="en-US" sz="1200" dirty="0"/>
          </a:p>
        </p:txBody>
      </p:sp>
    </p:spTree>
  </p:cSld>
  <p:clrMapOvr>
    <a:masterClrMapping/>
  </p:clrMapOvr>
  <p:transition spd="med">
    <p:push dir="r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E85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Features That Make LLM Text Detectable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14400" y="111556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LIME and SHAP agree on all 7 features across ALL 12 studies and ALL 3 paradigms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536192"/>
            <a:ext cx="8503920" cy="448056"/>
          </a:xfrm>
          <a:prstGeom prst="rect">
            <a:avLst/>
          </a:prstGeom>
          <a:solidFill>
            <a:srgbClr val="1A2E1C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1536192"/>
            <a:ext cx="91440" cy="448056"/>
          </a:xfrm>
          <a:prstGeom prst="rect">
            <a:avLst/>
          </a:prstGeom>
          <a:solidFill>
            <a:srgbClr val="E8533A"/>
          </a:solidFill>
          <a:ln/>
        </p:spPr>
      </p:sp>
      <p:sp>
        <p:nvSpPr>
          <p:cNvPr id="7" name="Text 5"/>
          <p:cNvSpPr/>
          <p:nvPr/>
        </p:nvSpPr>
        <p:spPr>
          <a:xfrm>
            <a:off x="530352" y="1536192"/>
            <a:ext cx="384048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5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Grammatical standardization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462272" y="1645920"/>
            <a:ext cx="27432" cy="237744"/>
          </a:xfrm>
          <a:prstGeom prst="rect">
            <a:avLst/>
          </a:prstGeom>
          <a:solidFill>
            <a:srgbClr val="444444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0" y="1536192"/>
            <a:ext cx="416052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are too grammatically perfect — humans make natural errors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" y="2029968"/>
            <a:ext cx="8503920" cy="448056"/>
          </a:xfrm>
          <a:prstGeom prst="rect">
            <a:avLst/>
          </a:prstGeom>
          <a:solidFill>
            <a:srgbClr val="1A2535"/>
          </a:solidFill>
          <a:ln/>
        </p:spPr>
      </p:sp>
      <p:sp>
        <p:nvSpPr>
          <p:cNvPr id="11" name="Text 9"/>
          <p:cNvSpPr/>
          <p:nvPr/>
        </p:nvSpPr>
        <p:spPr>
          <a:xfrm>
            <a:off x="530352" y="2029968"/>
            <a:ext cx="384048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Formulaic transitional phrases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462272" y="2139696"/>
            <a:ext cx="27432" cy="237744"/>
          </a:xfrm>
          <a:prstGeom prst="rect">
            <a:avLst/>
          </a:prstGeom>
          <a:solidFill>
            <a:srgbClr val="444444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0" y="2029968"/>
            <a:ext cx="416052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Overuse of "Furthermore", "In conclusion", "It is worth noting that"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0040" y="2523744"/>
            <a:ext cx="8503920" cy="448056"/>
          </a:xfrm>
          <a:prstGeom prst="rect">
            <a:avLst/>
          </a:prstGeom>
          <a:solidFill>
            <a:srgbClr val="16222E"/>
          </a:solidFill>
          <a:ln/>
        </p:spPr>
      </p:sp>
      <p:sp>
        <p:nvSpPr>
          <p:cNvPr id="15" name="Text 13"/>
          <p:cNvSpPr/>
          <p:nvPr/>
        </p:nvSpPr>
        <p:spPr>
          <a:xfrm>
            <a:off x="530352" y="2523744"/>
            <a:ext cx="384048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lexical entropy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462272" y="2633472"/>
            <a:ext cx="27432" cy="237744"/>
          </a:xfrm>
          <a:prstGeom prst="rect">
            <a:avLst/>
          </a:prstGeom>
          <a:solidFill>
            <a:srgbClr val="444444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0" y="2523744"/>
            <a:ext cx="416052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predictable vocabulary — stays in safe, common words only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20040" y="3017520"/>
            <a:ext cx="8503920" cy="448056"/>
          </a:xfrm>
          <a:prstGeom prst="rect">
            <a:avLst/>
          </a:prstGeom>
          <a:solidFill>
            <a:srgbClr val="1A2535"/>
          </a:solidFill>
          <a:ln/>
        </p:spPr>
      </p:sp>
      <p:sp>
        <p:nvSpPr>
          <p:cNvPr id="19" name="Text 17"/>
          <p:cNvSpPr/>
          <p:nvPr/>
        </p:nvSpPr>
        <p:spPr>
          <a:xfrm>
            <a:off x="530352" y="3017520"/>
            <a:ext cx="384048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Superlatives &amp; assertive constructions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462272" y="3127248"/>
            <a:ext cx="27432" cy="237744"/>
          </a:xfrm>
          <a:prstGeom prst="rect">
            <a:avLst/>
          </a:prstGeom>
          <a:solidFill>
            <a:srgbClr val="444444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0" y="3017520"/>
            <a:ext cx="416052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say "exceptional", "outstanding" — humans say "pretty good"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20040" y="3511296"/>
            <a:ext cx="8503920" cy="448056"/>
          </a:xfrm>
          <a:prstGeom prst="rect">
            <a:avLst/>
          </a:prstGeom>
          <a:solidFill>
            <a:srgbClr val="16222E"/>
          </a:solidFill>
          <a:ln/>
        </p:spPr>
      </p:sp>
      <p:sp>
        <p:nvSpPr>
          <p:cNvPr id="23" name="Text 21"/>
          <p:cNvSpPr/>
          <p:nvPr/>
        </p:nvSpPr>
        <p:spPr>
          <a:xfrm>
            <a:off x="530352" y="3511296"/>
            <a:ext cx="384048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Absence of epistemic hedging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462272" y="3621024"/>
            <a:ext cx="27432" cy="237744"/>
          </a:xfrm>
          <a:prstGeom prst="rect">
            <a:avLst/>
          </a:prstGeom>
          <a:solidFill>
            <a:srgbClr val="444444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0" y="3511296"/>
            <a:ext cx="416052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skip "may", "suggests", "is consistent with" — sound too certain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20040" y="4005072"/>
            <a:ext cx="8503920" cy="448056"/>
          </a:xfrm>
          <a:prstGeom prst="rect">
            <a:avLst/>
          </a:prstGeom>
          <a:solidFill>
            <a:srgbClr val="1A2535"/>
          </a:solidFill>
          <a:ln/>
        </p:spPr>
      </p:sp>
      <p:sp>
        <p:nvSpPr>
          <p:cNvPr id="27" name="Text 25"/>
          <p:cNvSpPr/>
          <p:nvPr/>
        </p:nvSpPr>
        <p:spPr>
          <a:xfrm>
            <a:off x="530352" y="4005072"/>
            <a:ext cx="384048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 tag distribution anomalies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462272" y="4114800"/>
            <a:ext cx="27432" cy="237744"/>
          </a:xfrm>
          <a:prstGeom prst="rect">
            <a:avLst/>
          </a:prstGeom>
          <a:solidFill>
            <a:srgbClr val="444444"/>
          </a:solidFill>
          <a:ln/>
        </p:spPr>
      </p:sp>
      <p:sp>
        <p:nvSpPr>
          <p:cNvPr id="29" name="Text 27"/>
          <p:cNvSpPr/>
          <p:nvPr/>
        </p:nvSpPr>
        <p:spPr>
          <a:xfrm>
            <a:off x="4572000" y="4005072"/>
            <a:ext cx="416052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overuse adjective-noun pairs and passive voice constructions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320040" y="4498848"/>
            <a:ext cx="8503920" cy="448056"/>
          </a:xfrm>
          <a:prstGeom prst="rect">
            <a:avLst/>
          </a:prstGeom>
          <a:solidFill>
            <a:srgbClr val="16222E"/>
          </a:solidFill>
          <a:ln/>
        </p:spPr>
      </p:sp>
      <p:sp>
        <p:nvSpPr>
          <p:cNvPr id="31" name="Text 29"/>
          <p:cNvSpPr/>
          <p:nvPr/>
        </p:nvSpPr>
        <p:spPr>
          <a:xfrm>
            <a:off x="530352" y="4498848"/>
            <a:ext cx="384048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Discourse coherence over-smoothing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462272" y="4608576"/>
            <a:ext cx="27432" cy="237744"/>
          </a:xfrm>
          <a:prstGeom prst="rect">
            <a:avLst/>
          </a:prstGeom>
          <a:solidFill>
            <a:srgbClr val="444444"/>
          </a:solidFill>
          <a:ln/>
        </p:spPr>
      </p:sp>
      <p:sp>
        <p:nvSpPr>
          <p:cNvPr id="33" name="Text 31"/>
          <p:cNvSpPr/>
          <p:nvPr/>
        </p:nvSpPr>
        <p:spPr>
          <a:xfrm>
            <a:off x="4572000" y="4498848"/>
            <a:ext cx="416052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essays too smooth — humans have rough transitions and logical leaps</a:t>
            </a:r>
            <a:endParaRPr lang="en-US" sz="1200" dirty="0"/>
          </a:p>
        </p:txBody>
      </p:sp>
    </p:spTree>
  </p:cSld>
  <p:clrMapOvr>
    <a:masterClrMapping/>
  </p:clrMapOvr>
  <p:transition spd="slow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E8533A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DD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GAPS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291840" y="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Problems the Field Has Not Yet Solved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850392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05840"/>
            <a:ext cx="566928" cy="713232"/>
          </a:xfrm>
          <a:prstGeom prst="rect">
            <a:avLst/>
          </a:prstGeom>
          <a:solidFill>
            <a:srgbClr val="E8533A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1005840"/>
            <a:ext cx="56692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87552" y="105156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Adversarial Robustness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987552" y="1417320"/>
            <a:ext cx="1051560" cy="237744"/>
          </a:xfrm>
          <a:prstGeom prst="rect">
            <a:avLst/>
          </a:prstGeom>
          <a:solidFill>
            <a:srgbClr val="E8533A"/>
          </a:solidFill>
          <a:ln/>
        </p:spPr>
      </p:sp>
      <p:sp>
        <p:nvSpPr>
          <p:cNvPr id="10" name="Text 8"/>
          <p:cNvSpPr/>
          <p:nvPr/>
        </p:nvSpPr>
        <p:spPr>
          <a:xfrm>
            <a:off x="987552" y="1417320"/>
            <a:ext cx="1051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846320" y="1069848"/>
            <a:ext cx="38862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XAI-guided token replacement drops accuracy by 20–35 pp with no semantic change. No system is both interpretable and robust. New architectures needed.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" y="1810512"/>
            <a:ext cx="8503920" cy="713232"/>
          </a:xfrm>
          <a:prstGeom prst="rect">
            <a:avLst/>
          </a:prstGeom>
          <a:solidFill>
            <a:srgbClr val="ECF0F1"/>
          </a:solidFill>
          <a:ln/>
          <a:effectLst>
            <a:outerShdw sx="100000" sy="100000" kx="0" ky="0" algn="bl" rotWithShape="0" blurRad="127000" dist="38100" dir="8100000">
              <a:srgbClr val="000000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1810512"/>
            <a:ext cx="566928" cy="713232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4" name="Text 12"/>
          <p:cNvSpPr/>
          <p:nvPr/>
        </p:nvSpPr>
        <p:spPr>
          <a:xfrm>
            <a:off x="320040" y="1810512"/>
            <a:ext cx="56692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987552" y="185623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Standardized XAI Evaluation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987552" y="2221992"/>
            <a:ext cx="1051560" cy="237744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7" name="Text 15"/>
          <p:cNvSpPr/>
          <p:nvPr/>
        </p:nvSpPr>
        <p:spPr>
          <a:xfrm>
            <a:off x="987552" y="2221992"/>
            <a:ext cx="1051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846320" y="1874520"/>
            <a:ext cx="38862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benchmark to test if an explanation is faithful, stable, or actually helpful to humans. "Explainable" remains a qualitative, unverifiable claim.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0040" y="2615184"/>
            <a:ext cx="850392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" y="2615184"/>
            <a:ext cx="566928" cy="713232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21" name="Text 19"/>
          <p:cNvSpPr/>
          <p:nvPr/>
        </p:nvSpPr>
        <p:spPr>
          <a:xfrm>
            <a:off x="320040" y="2615184"/>
            <a:ext cx="56692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987552" y="2660904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Fairness for Non-Native Writers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987552" y="3026664"/>
            <a:ext cx="1051560" cy="237744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24" name="Text 22"/>
          <p:cNvSpPr/>
          <p:nvPr/>
        </p:nvSpPr>
        <p:spPr>
          <a:xfrm>
            <a:off x="987552" y="3026664"/>
            <a:ext cx="1051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846320" y="2679192"/>
            <a:ext cx="38862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Grammatical regularity also characterizes non-native English speakers. They may be falsely flagged as AI. No study has empirically tested this — a major ethical gap.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20040" y="3419856"/>
            <a:ext cx="8503920" cy="713232"/>
          </a:xfrm>
          <a:prstGeom prst="rect">
            <a:avLst/>
          </a:prstGeom>
          <a:solidFill>
            <a:srgbClr val="ECF0F1"/>
          </a:solidFill>
          <a:ln/>
          <a:effectLst>
            <a:outerShdw sx="100000" sy="100000" kx="0" ky="0" algn="bl" rotWithShape="0" blurRad="127000" dist="38100" dir="8100000">
              <a:srgbClr val="000000">
                <a:alpha val="1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0040" y="3419856"/>
            <a:ext cx="566928" cy="713232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28" name="Text 26"/>
          <p:cNvSpPr/>
          <p:nvPr/>
        </p:nvSpPr>
        <p:spPr>
          <a:xfrm>
            <a:off x="320040" y="3419856"/>
            <a:ext cx="56692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987552" y="3465576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Cross-Domain Generalization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987552" y="3831336"/>
            <a:ext cx="1051560" cy="237744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31" name="Text 29"/>
          <p:cNvSpPr/>
          <p:nvPr/>
        </p:nvSpPr>
        <p:spPr>
          <a:xfrm>
            <a:off x="987552" y="3831336"/>
            <a:ext cx="1051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846320" y="3483864"/>
            <a:ext cx="38862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entire legal domain is unstudied. Systems trained on web text fail on medical/legal writing where humans also write formally. Failure mechanism not understood.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20040" y="4224528"/>
            <a:ext cx="850392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20040" y="4224528"/>
            <a:ext cx="566928" cy="713232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35" name="Text 33"/>
          <p:cNvSpPr/>
          <p:nvPr/>
        </p:nvSpPr>
        <p:spPr>
          <a:xfrm>
            <a:off x="320040" y="4224528"/>
            <a:ext cx="56692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987552" y="427024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Detection</a:t>
            </a:r>
            <a:endParaRPr lang="en-US" sz="1350" dirty="0"/>
          </a:p>
        </p:txBody>
      </p:sp>
      <p:sp>
        <p:nvSpPr>
          <p:cNvPr id="37" name="Shape 35"/>
          <p:cNvSpPr/>
          <p:nvPr/>
        </p:nvSpPr>
        <p:spPr>
          <a:xfrm>
            <a:off x="987552" y="4636008"/>
            <a:ext cx="1051560" cy="237744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38" name="Text 36"/>
          <p:cNvSpPr/>
          <p:nvPr/>
        </p:nvSpPr>
        <p:spPr>
          <a:xfrm>
            <a:off x="987552" y="4636008"/>
            <a:ext cx="1051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4846320" y="4288536"/>
            <a:ext cx="38862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12 studies are English only. No LIME or SHAP applied to Arabic, Urdu, Chinese, or other languages. International applicability is entirely unknown.</a:t>
            </a:r>
            <a:endParaRPr lang="en-US" sz="1100" dirty="0"/>
          </a:p>
        </p:txBody>
      </p:sp>
    </p:spTree>
  </p:cSld>
  <p:clrMapOvr>
    <a:masterClrMapping/>
  </p:clrMapOvr>
  <p:transition spd="med">
    <p:wipe dir="l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5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743200" y="0"/>
            <a:ext cx="6035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Review Found and What It Means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8503920" cy="1234440"/>
          </a:xfrm>
          <a:prstGeom prst="rect">
            <a:avLst/>
          </a:prstGeom>
          <a:solidFill>
            <a:srgbClr val="E9F7EF"/>
          </a:solidFill>
          <a:ln/>
          <a:effectLst>
            <a:outerShdw sx="100000" sy="100000" kx="0" ky="0" algn="bl" rotWithShape="0" blurRad="1270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05840"/>
            <a:ext cx="109728" cy="123444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7" name="Text 5"/>
          <p:cNvSpPr/>
          <p:nvPr/>
        </p:nvSpPr>
        <p:spPr>
          <a:xfrm>
            <a:off x="530352" y="1069848"/>
            <a:ext cx="8138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Main Positive Finding — Convergent Validity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30352" y="1435608"/>
            <a:ext cx="8138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LIME and SHAP consistently identify the same 4 markers across all architectures: grammatical standardization, formulaic transitions, low lexical entropy, and suppressed epistemic hedging. This convergence across completely different methods proves these are genuine, stable properties of LLM-generated prose.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20040" y="2350008"/>
            <a:ext cx="8503920" cy="1115568"/>
          </a:xfrm>
          <a:prstGeom prst="rect">
            <a:avLst/>
          </a:prstGeom>
          <a:solidFill>
            <a:srgbClr val="FDEDEC"/>
          </a:solidFill>
          <a:ln/>
          <a:effectLst>
            <a:outerShdw sx="100000" sy="100000" kx="0" ky="0" algn="bl" rotWithShape="0" blurRad="127000" dist="38100" dir="810000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2350008"/>
            <a:ext cx="109728" cy="1115568"/>
          </a:xfrm>
          <a:prstGeom prst="rect">
            <a:avLst/>
          </a:prstGeom>
          <a:solidFill>
            <a:srgbClr val="E8533A"/>
          </a:solidFill>
          <a:ln/>
        </p:spPr>
      </p:sp>
      <p:sp>
        <p:nvSpPr>
          <p:cNvPr id="11" name="Text 9"/>
          <p:cNvSpPr/>
          <p:nvPr/>
        </p:nvSpPr>
        <p:spPr>
          <a:xfrm>
            <a:off x="530352" y="2414016"/>
            <a:ext cx="8138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5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Main Critical Finding — Transparency ≠ Robustness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30352" y="2779776"/>
            <a:ext cx="81381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adversarial paradox is unresolved. Most domain-by-LLM combinations are unstudied. Fairness for non-native writers is unaddressed empirically. No current system is simultaneously interpretable and adversarially robust.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11480" y="3566160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implications: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20040" y="3950208"/>
            <a:ext cx="4224528" cy="475488"/>
          </a:xfrm>
          <a:prstGeom prst="rect">
            <a:avLst/>
          </a:prstGeom>
          <a:solidFill>
            <a:srgbClr val="ECF0F1"/>
          </a:solidFill>
          <a:ln/>
          <a:effectLst>
            <a:outerShdw sx="100000" sy="100000" kx="0" ky="0" algn="bl" rotWithShape="0" blurRad="127000" dist="38100" dir="8100000">
              <a:srgbClr val="000000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3950208"/>
            <a:ext cx="82296" cy="475488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16" name="Text 14"/>
          <p:cNvSpPr/>
          <p:nvPr/>
        </p:nvSpPr>
        <p:spPr>
          <a:xfrm>
            <a:off x="484632" y="3950208"/>
            <a:ext cx="3977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alone is not enough — always explain the decision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727448" y="3950208"/>
            <a:ext cx="4224528" cy="47548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27448" y="3950208"/>
            <a:ext cx="82296" cy="475488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19" name="Text 17"/>
          <p:cNvSpPr/>
          <p:nvPr/>
        </p:nvSpPr>
        <p:spPr>
          <a:xfrm>
            <a:off x="4892040" y="3950208"/>
            <a:ext cx="3977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explanation quality with standardized benchmarks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20040" y="4498848"/>
            <a:ext cx="4224528" cy="475488"/>
          </a:xfrm>
          <a:prstGeom prst="rect">
            <a:avLst/>
          </a:prstGeom>
          <a:solidFill>
            <a:srgbClr val="ECF0F1"/>
          </a:solidFill>
          <a:ln/>
          <a:effectLst>
            <a:outerShdw sx="100000" sy="100000" kx="0" ky="0" algn="bl" rotWithShape="0" blurRad="127000" dist="38100" dir="8100000">
              <a:srgbClr val="000000">
                <a:alpha val="1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" y="4498848"/>
            <a:ext cx="82296" cy="475488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22" name="Text 20"/>
          <p:cNvSpPr/>
          <p:nvPr/>
        </p:nvSpPr>
        <p:spPr>
          <a:xfrm>
            <a:off x="484632" y="4498848"/>
            <a:ext cx="3977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systems on non-native writers, not just native English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727448" y="4498848"/>
            <a:ext cx="4224528" cy="47548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27448" y="4498848"/>
            <a:ext cx="82296" cy="475488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25" name="Text 23"/>
          <p:cNvSpPr/>
          <p:nvPr/>
        </p:nvSpPr>
        <p:spPr>
          <a:xfrm>
            <a:off x="4892040" y="4498848"/>
            <a:ext cx="3977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Pursue adversarial robustness together with interpretability</a:t>
            </a:r>
            <a:endParaRPr lang="en-US" sz="1150" dirty="0"/>
          </a:p>
        </p:txBody>
      </p:sp>
    </p:spTree>
  </p:cSld>
  <p:clrMapOvr>
    <a:masterClrMapping/>
  </p:clrMapOvr>
  <p:transition spd="med">
    <p:push dir="r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E853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965192"/>
            <a:ext cx="9144000" cy="178308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59436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6600" dirty="0"/>
          </a:p>
        </p:txBody>
      </p:sp>
      <p:sp>
        <p:nvSpPr>
          <p:cNvPr id="5" name="Shape 3"/>
          <p:cNvSpPr/>
          <p:nvPr/>
        </p:nvSpPr>
        <p:spPr>
          <a:xfrm>
            <a:off x="1371600" y="1901952"/>
            <a:ext cx="6400800" cy="64008"/>
          </a:xfrm>
          <a:prstGeom prst="rect">
            <a:avLst/>
          </a:prstGeom>
          <a:solidFill>
            <a:srgbClr val="E8533A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20574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2697480"/>
            <a:ext cx="8229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Jawwad Ahmad  ·  F25NDOCS3W04013  ·  MSCS 2nd Semester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Islamia University of Bahawalpur  ·  Supervisor: Dr. Ahmad Niaz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777240" y="3611880"/>
            <a:ext cx="1645920" cy="1097280"/>
          </a:xfrm>
          <a:prstGeom prst="rect">
            <a:avLst/>
          </a:prstGeom>
          <a:solidFill>
            <a:srgbClr val="161F2B"/>
          </a:solidFill>
          <a:ln/>
          <a:effectLst>
            <a:outerShdw sx="100000" sy="100000" kx="0" ky="0" algn="bl" rotWithShape="0" blurRad="127000" dist="38100" dir="810000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77240" y="3611880"/>
            <a:ext cx="1645920" cy="73152"/>
          </a:xfrm>
          <a:prstGeom prst="rect">
            <a:avLst/>
          </a:prstGeom>
          <a:solidFill>
            <a:srgbClr val="E8533A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3685032"/>
            <a:ext cx="1645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777240" y="4306824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Studies Reviewed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0" y="3611880"/>
            <a:ext cx="1645920" cy="1097280"/>
          </a:xfrm>
          <a:prstGeom prst="rect">
            <a:avLst/>
          </a:prstGeom>
          <a:solidFill>
            <a:srgbClr val="161F2B"/>
          </a:solidFill>
          <a:ln/>
          <a:effectLst>
            <a:outerShdw sx="100000" sy="100000" kx="0" ky="0" algn="bl" rotWithShape="0" blurRad="127000" dist="38100" dir="8100000">
              <a:srgbClr val="000000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0" y="3611880"/>
            <a:ext cx="1645920" cy="73152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14" name="Text 12"/>
          <p:cNvSpPr/>
          <p:nvPr/>
        </p:nvSpPr>
        <p:spPr>
          <a:xfrm>
            <a:off x="2743200" y="3685032"/>
            <a:ext cx="1645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2743200" y="4306824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09160" y="3611880"/>
            <a:ext cx="1645920" cy="1097280"/>
          </a:xfrm>
          <a:prstGeom prst="rect">
            <a:avLst/>
          </a:prstGeom>
          <a:solidFill>
            <a:srgbClr val="161F2B"/>
          </a:solidFill>
          <a:ln/>
          <a:effectLst>
            <a:outerShdw sx="100000" sy="100000" kx="0" ky="0" algn="bl" rotWithShape="0" blurRad="127000" dist="38100" dir="8100000">
              <a:srgbClr val="000000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9160" y="3611880"/>
            <a:ext cx="1645920" cy="73152"/>
          </a:xfrm>
          <a:prstGeom prst="rect">
            <a:avLst/>
          </a:prstGeom>
          <a:solidFill>
            <a:srgbClr val="E8533A"/>
          </a:solidFill>
          <a:ln/>
        </p:spPr>
      </p:sp>
      <p:sp>
        <p:nvSpPr>
          <p:cNvPr id="18" name="Text 16"/>
          <p:cNvSpPr/>
          <p:nvPr/>
        </p:nvSpPr>
        <p:spPr>
          <a:xfrm>
            <a:off x="4709160" y="3685032"/>
            <a:ext cx="1645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800" dirty="0"/>
          </a:p>
        </p:txBody>
      </p:sp>
      <p:sp>
        <p:nvSpPr>
          <p:cNvPr id="19" name="Text 17"/>
          <p:cNvSpPr/>
          <p:nvPr/>
        </p:nvSpPr>
        <p:spPr>
          <a:xfrm>
            <a:off x="4709160" y="4306824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Gaps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675120" y="3611880"/>
            <a:ext cx="1645920" cy="1097280"/>
          </a:xfrm>
          <a:prstGeom prst="rect">
            <a:avLst/>
          </a:prstGeom>
          <a:solidFill>
            <a:srgbClr val="161F2B"/>
          </a:solidFill>
          <a:ln/>
          <a:effectLst>
            <a:outerShdw sx="100000" sy="100000" kx="0" ky="0" algn="bl" rotWithShape="0" blurRad="127000" dist="38100" dir="8100000">
              <a:srgbClr val="000000">
                <a:alpha val="1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675120" y="3611880"/>
            <a:ext cx="1645920" cy="73152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22" name="Text 20"/>
          <p:cNvSpPr/>
          <p:nvPr/>
        </p:nvSpPr>
        <p:spPr>
          <a:xfrm>
            <a:off x="6675120" y="3685032"/>
            <a:ext cx="1645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800" dirty="0"/>
          </a:p>
        </p:txBody>
      </p:sp>
      <p:sp>
        <p:nvSpPr>
          <p:cNvPr id="23" name="Text 21"/>
          <p:cNvSpPr/>
          <p:nvPr/>
        </p:nvSpPr>
        <p:spPr>
          <a:xfrm>
            <a:off x="6675120" y="4306824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XAI Methods</a:t>
            </a:r>
            <a:endParaRPr lang="en-US" sz="1000" dirty="0"/>
          </a:p>
        </p:txBody>
      </p:sp>
    </p:spTree>
  </p:cSld>
  <p:clrMapOvr>
    <a:masterClrMapping/>
  </p:clrMapOvr>
  <p:transition spd="slow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Human vs LLM Text Detection</dc:title>
  <dc:subject>PptxGenJS Presentation</dc:subject>
  <dc:creator>PptxGenJS</dc:creator>
  <cp:lastModifiedBy>PptxGenJS</cp:lastModifiedBy>
  <cp:revision>1</cp:revision>
  <dcterms:created xsi:type="dcterms:W3CDTF">2026-04-23T07:36:39Z</dcterms:created>
  <dcterms:modified xsi:type="dcterms:W3CDTF">2026-04-23T07:36:39Z</dcterms:modified>
</cp:coreProperties>
</file>